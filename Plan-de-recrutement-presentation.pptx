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séance : que vous compreniez pourquoi ce recrutement est difficile, ce que le dispositif prévoit, et ce que chacun de vous a à faire. Trois décisions sont à prendre aujourd'hui, elles sont en dernière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le dispositif découle de là. C'est aussi notre meilleur argument sur le marché : « devenez associé » est une promesse banale, « reprenez un cabinet » ne l'est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Hervé, c'est ce tableau qui doit guider votre arbitrage de sélection. Un candidat sans pratique de la matière n'est pas disqualifié, mais il décale la reprise de deux à trois ans. Autant le décider en connaissance de cause plutôt que de le découvrir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la plus importante. Si le vivier est aussi étroit, publier une annonce et attendre ne produira rien. Deux leviers : élargir le statut proposé, et aller chercher les gens un par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Répartition de l'effort, pas du budget. L'approche directe coûte du temps, pas d'argent.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Hervé : c'est la demande la plus importante que je vous ferai. Une heure, une liste de noms.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annonce qui promet une association sans en dire les termes attire des candidats qui partiront au troisième entretien, quand ils poseront les vraies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décision retient la diffusion. Les quatre autres peuvent se traiter pendant que le sourcing tourne.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partir d'ici, c'est votre partie à tous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candidat consacre environ quatre heures au processus. C'est défendable pour une association, à condition de tenir les délais de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septième a été ajoutée parce qu'une succession n'est pas une association. Le risque propre à une succession n'est pas que le successeur soit mauvais juriste. C'est que l'équipe parte dans les dix-huit mois qui suivent le départ du fondateur.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Milène, ce n'est pas un jugement sur vous. C'est une règle de méthode : on n'évalue pas une compétence qu'on ne possède pas soi-même.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de votre temps hors entretiens : environ quatre heures sur dix semaines. La liste des confrères que vous avez affrontés est de loin la plus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Milène, vous n'avez pas à juger le droit. Vous notez ce que le candidat a fait, comment il s'y est pris, et ce qu'il en a tiré. Sur Être orienté client et sur Développer les talents, vous êtes la mieux placée du cabinet.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deux règles coûtent une heure chacun, plus deux heures par finaliste. C'est le prix d'une grille qui veut dire quelque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nous décidons aujourd'hui, la prise de poste se situe autour de février ou mars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tunnel se lit de haut en bas. Si une étape s'écarte de la cible, on corrige à cet endroit précis plutôt que de tout relancer.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la fourchette, rien ne part. Les deux autres se calent dans la foulée.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E"/>
        </a:solidFill>
      </p:bgPr>
    </p:bg>
    <p:spTree>
      <p:nvGrpSpPr>
        <p:cNvPr id="1" name=""/>
        <p:cNvGrpSpPr/>
        <p:nvPr/>
      </p:nvGrpSpPr>
      <p:grpSpPr>
        <a:xfrm>
          <a:off x="0" y="0"/>
          <a:ext cx="0" cy="0"/>
          <a:chOff x="0" y="0"/>
          <a:chExt cx="0" cy="0"/>
        </a:xfrm>
      </p:grpSpPr>
      <p:sp>
        <p:nvSpPr>
          <p:cNvPr id="2" name="Shape 0"/>
          <p:cNvSpPr/>
          <p:nvPr/>
        </p:nvSpPr>
        <p:spPr>
          <a:xfrm>
            <a:off x="0" y="0"/>
            <a:ext cx="91" cy="91"/>
          </a:xfrm>
          <a:prstGeom prst="rect">
            <a:avLst/>
          </a:prstGeom>
          <a:solidFill>
            <a:srgbClr val="12212E"/>
          </a:solidFill>
          <a:ln/>
        </p:spPr>
      </p:sp>
      <p:sp>
        <p:nvSpPr>
          <p:cNvPr id="3" name="Text 1"/>
          <p:cNvSpPr txBox="1"/>
          <p:nvPr/>
        </p:nvSpPr>
        <p:spPr>
          <a:xfrm>
            <a:off x="594360" y="1417320"/>
            <a:ext cx="11002975" cy="274320"/>
          </a:xfrm>
          <a:prstGeom prst="rect">
            <a:avLst/>
          </a:prstGeom>
          <a:noFill/>
          <a:ln/>
        </p:spPr>
        <p:txBody>
          <a:bodyPr wrap="square" lIns="0" tIns="0" rIns="0" bIns="0" rtlCol="0" anchor="ctr"/>
          <a:lstStyle/>
          <a:p>
            <a:pPr indent="0" marL="0">
              <a:buNone/>
            </a:pPr>
            <a:r>
              <a:rPr lang="en-US" sz="1200" b="1" spc="300" kern="0" dirty="0">
                <a:solidFill>
                  <a:srgbClr val="E0956B"/>
                </a:solidFill>
                <a:latin typeface="Calibri" pitchFamily="34" charset="0"/>
                <a:ea typeface="Calibri" pitchFamily="34" charset="-122"/>
                <a:cs typeface="Calibri" pitchFamily="34" charset="-120"/>
              </a:rPr>
              <a:t>VICTIMES &amp; PRÉJUDICES AVOCATS</a:t>
            </a:r>
            <a:endParaRPr lang="en-US" sz="1200" dirty="0"/>
          </a:p>
        </p:txBody>
      </p:sp>
      <p:sp>
        <p:nvSpPr>
          <p:cNvPr id="4" name="Text 2"/>
          <p:cNvSpPr txBox="1"/>
          <p:nvPr/>
        </p:nvSpPr>
        <p:spPr>
          <a:xfrm>
            <a:off x="594360" y="1828800"/>
            <a:ext cx="10241280" cy="137160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Recruter un futur associé</a:t>
            </a:r>
            <a:endParaRPr lang="en-US" sz="5200" dirty="0"/>
          </a:p>
        </p:txBody>
      </p:sp>
      <p:sp>
        <p:nvSpPr>
          <p:cNvPr id="5" name="Text 3"/>
          <p:cNvSpPr txBox="1"/>
          <p:nvPr/>
        </p:nvSpPr>
        <p:spPr>
          <a:xfrm>
            <a:off x="594360" y="3200400"/>
            <a:ext cx="10241280" cy="411480"/>
          </a:xfrm>
          <a:prstGeom prst="rect">
            <a:avLst/>
          </a:prstGeom>
          <a:noFill/>
          <a:ln/>
        </p:spPr>
        <p:txBody>
          <a:bodyPr wrap="square" lIns="0" tIns="0" rIns="0" bIns="0" rtlCol="0" anchor="ctr"/>
          <a:lstStyle/>
          <a:p>
            <a:pPr indent="0" marL="0">
              <a:buNone/>
            </a:pPr>
            <a:r>
              <a:rPr lang="en-US" sz="1700" dirty="0">
                <a:solidFill>
                  <a:srgbClr val="D6DEE7"/>
                </a:solidFill>
                <a:latin typeface="Calibri" pitchFamily="34" charset="0"/>
                <a:ea typeface="Calibri" pitchFamily="34" charset="-122"/>
                <a:cs typeface="Calibri" pitchFamily="34" charset="-120"/>
              </a:rPr>
              <a:t>Plan de recrutement · La succession d'Hervé Gerbi · Grenoble</a:t>
            </a:r>
            <a:endParaRPr lang="en-US" sz="1700" dirty="0"/>
          </a:p>
        </p:txBody>
      </p:sp>
      <p:sp>
        <p:nvSpPr>
          <p:cNvPr id="6" name="Shape 4"/>
          <p:cNvSpPr/>
          <p:nvPr/>
        </p:nvSpPr>
        <p:spPr>
          <a:xfrm>
            <a:off x="594360" y="3931920"/>
            <a:ext cx="2194560" cy="0"/>
          </a:xfrm>
          <a:prstGeom prst="line">
            <a:avLst/>
          </a:prstGeom>
          <a:noFill/>
          <a:ln w="25400">
            <a:solidFill>
              <a:srgbClr val="E0956B"/>
            </a:solidFill>
            <a:prstDash val="solid"/>
          </a:ln>
        </p:spPr>
      </p:sp>
      <p:sp>
        <p:nvSpPr>
          <p:cNvPr id="7" name="Text 5"/>
          <p:cNvSpPr txBox="1"/>
          <p:nvPr/>
        </p:nvSpPr>
        <p:spPr>
          <a:xfrm>
            <a:off x="594360" y="4206240"/>
            <a:ext cx="5486400" cy="822960"/>
          </a:xfrm>
          <a:prstGeom prst="rect">
            <a:avLst/>
          </a:prstGeom>
          <a:noFill/>
          <a:ln/>
        </p:spPr>
        <p:txBody>
          <a:bodyPr wrap="square" lIns="0" tIns="0" rIns="0" bIns="0" rtlCol="0" anchor="ctr"/>
          <a:lstStyle/>
          <a:p>
            <a:pPr indent="0" marL="0">
              <a:lnSpc>
                <a:spcPts val="2200"/>
              </a:lnSpc>
              <a:buNone/>
            </a:pPr>
            <a:r>
              <a:rPr lang="en-US" sz="1400" b="1" dirty="0">
                <a:solidFill>
                  <a:srgbClr val="FFFFFF"/>
                </a:solidFill>
                <a:latin typeface="Calibri" pitchFamily="34" charset="0"/>
                <a:ea typeface="Calibri" pitchFamily="34" charset="-122"/>
                <a:cs typeface="Calibri" pitchFamily="34" charset="-120"/>
              </a:rPr>
              <a:t>Pour Hervé Gerbi et Milène Baud</a:t>
            </a:r>
            <a:endParaRPr lang="en-US" sz="1400" dirty="0"/>
          </a:p>
          <a:p>
            <a:pPr indent="0" marL="0">
              <a:lnSpc>
                <a:spcPts val="2200"/>
              </a:lnSpc>
              <a:buNone/>
            </a:pPr>
            <a:r>
              <a:rPr lang="en-US" sz="1400" dirty="0">
                <a:solidFill>
                  <a:srgbClr val="D6DEE7"/>
                </a:solidFill>
                <a:latin typeface="Calibri" pitchFamily="34" charset="0"/>
                <a:ea typeface="Calibri" pitchFamily="34" charset="-122"/>
                <a:cs typeface="Calibri" pitchFamily="34" charset="-120"/>
              </a:rPr>
              <a:t>Présenté par Gregory Levy · Septembre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LE POSTE</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Nous ne recrutons pas un associé</a:t>
            </a:r>
            <a:endParaRPr lang="en-US" sz="3300" dirty="0"/>
          </a:p>
        </p:txBody>
      </p:sp>
      <p:sp>
        <p:nvSpPr>
          <p:cNvPr id="4" name="Shape 2"/>
          <p:cNvSpPr/>
          <p:nvPr/>
        </p:nvSpPr>
        <p:spPr>
          <a:xfrm>
            <a:off x="594360" y="1627632"/>
            <a:ext cx="11002975" cy="1051560"/>
          </a:xfrm>
          <a:prstGeom prst="roundRect">
            <a:avLst>
              <a:gd name="adj" fmla="val 5217"/>
            </a:avLst>
          </a:prstGeom>
          <a:solidFill>
            <a:srgbClr val="12212E"/>
          </a:solidFill>
          <a:ln/>
        </p:spPr>
      </p:sp>
      <p:sp>
        <p:nvSpPr>
          <p:cNvPr id="5" name="Text 3"/>
          <p:cNvSpPr txBox="1"/>
          <p:nvPr/>
        </p:nvSpPr>
        <p:spPr>
          <a:xfrm>
            <a:off x="1005840" y="1810512"/>
            <a:ext cx="10180015" cy="786384"/>
          </a:xfrm>
          <a:prstGeom prst="rect">
            <a:avLst/>
          </a:prstGeom>
          <a:noFill/>
          <a:ln/>
        </p:spPr>
        <p:txBody>
          <a:bodyPr wrap="square" lIns="0" tIns="0" rIns="0" bIns="0" rtlCol="0" anchor="t"/>
          <a:lstStyle/>
          <a:p>
            <a:pPr indent="0" marL="0">
              <a:lnSpc>
                <a:spcPts val="2900"/>
              </a:lnSpc>
              <a:buNone/>
            </a:pPr>
            <a:r>
              <a:rPr lang="en-US" sz="2300" b="1" dirty="0">
                <a:solidFill>
                  <a:srgbClr val="FFFFFF"/>
                </a:solidFill>
                <a:latin typeface="Cambria" pitchFamily="34" charset="0"/>
                <a:ea typeface="Cambria" pitchFamily="34" charset="-122"/>
                <a:cs typeface="Cambria" pitchFamily="34" charset="-120"/>
              </a:rPr>
              <a:t>Nous recrutons la personne qui remplacera Hervé Gerbi et reprendra le cabinet.</a:t>
            </a:r>
            <a:endParaRPr lang="en-US" sz="2300" dirty="0"/>
          </a:p>
        </p:txBody>
      </p:sp>
      <p:sp>
        <p:nvSpPr>
          <p:cNvPr id="6" name="Shape 4"/>
          <p:cNvSpPr/>
          <p:nvPr/>
        </p:nvSpPr>
        <p:spPr>
          <a:xfrm>
            <a:off x="594360" y="2834640"/>
            <a:ext cx="11002975" cy="786384"/>
          </a:xfrm>
          <a:prstGeom prst="roundRect">
            <a:avLst>
              <a:gd name="adj" fmla="val 6977"/>
            </a:avLst>
          </a:prstGeom>
          <a:solidFill>
            <a:srgbClr val="F2F5F8"/>
          </a:solidFill>
          <a:ln/>
        </p:spPr>
      </p:sp>
      <p:sp>
        <p:nvSpPr>
          <p:cNvPr id="7" name="Shape 5"/>
          <p:cNvSpPr/>
          <p:nvPr/>
        </p:nvSpPr>
        <p:spPr>
          <a:xfrm>
            <a:off x="850392" y="3008376"/>
            <a:ext cx="438912" cy="438912"/>
          </a:xfrm>
          <a:prstGeom prst="ellipse">
            <a:avLst/>
          </a:prstGeom>
          <a:solidFill>
            <a:srgbClr val="1F4B7A"/>
          </a:solidFill>
          <a:ln/>
        </p:spPr>
      </p:sp>
      <p:sp>
        <p:nvSpPr>
          <p:cNvPr id="8" name="Text 6"/>
          <p:cNvSpPr txBox="1"/>
          <p:nvPr/>
        </p:nvSpPr>
        <p:spPr>
          <a:xfrm>
            <a:off x="850392" y="3008376"/>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463040" y="2926080"/>
            <a:ext cx="3840480" cy="292608"/>
          </a:xfrm>
          <a:prstGeom prst="rect">
            <a:avLst/>
          </a:prstGeom>
          <a:noFill/>
          <a:ln/>
        </p:spPr>
        <p:txBody>
          <a:bodyPr wrap="square" lIns="0" tIns="0" rIns="0" bIns="0" rtlCol="0" anchor="t"/>
          <a:lstStyle/>
          <a:p>
            <a:pPr indent="0" marL="0">
              <a:buNone/>
            </a:pPr>
            <a:r>
              <a:rPr lang="en-US" sz="1450" b="1" dirty="0">
                <a:solidFill>
                  <a:srgbClr val="1F4B7A"/>
                </a:solidFill>
                <a:latin typeface="Calibri" pitchFamily="34" charset="0"/>
                <a:ea typeface="Calibri" pitchFamily="34" charset="-122"/>
                <a:cs typeface="Calibri" pitchFamily="34" charset="-120"/>
              </a:rPr>
              <a:t>Une succession, pas une association</a:t>
            </a:r>
            <a:endParaRPr lang="en-US" sz="1450" dirty="0"/>
          </a:p>
        </p:txBody>
      </p:sp>
      <p:sp>
        <p:nvSpPr>
          <p:cNvPr id="10" name="Text 8"/>
          <p:cNvSpPr txBox="1"/>
          <p:nvPr/>
        </p:nvSpPr>
        <p:spPr>
          <a:xfrm>
            <a:off x="5440680" y="2926080"/>
            <a:ext cx="5882335" cy="603504"/>
          </a:xfrm>
          <a:prstGeom prst="rect">
            <a:avLst/>
          </a:prstGeom>
          <a:noFill/>
          <a:ln/>
        </p:spPr>
        <p:txBody>
          <a:bodyPr wrap="square" lIns="0" tIns="0" rIns="0" bIns="0" rtlCol="0" anchor="t"/>
          <a:lstStyle/>
          <a:p>
            <a:pPr indent="0" marL="0">
              <a:lnSpc>
                <a:spcPts val="1600"/>
              </a:lnSpc>
              <a:buNone/>
            </a:pPr>
            <a:r>
              <a:rPr lang="en-US" sz="1200" dirty="0">
                <a:solidFill>
                  <a:srgbClr val="5A6673"/>
                </a:solidFill>
                <a:latin typeface="Calibri" pitchFamily="34" charset="0"/>
                <a:ea typeface="Calibri" pitchFamily="34" charset="-122"/>
                <a:cs typeface="Calibri" pitchFamily="34" charset="-120"/>
              </a:rPr>
              <a:t>Statut salarié à l'entrée, puis association, puis reprise. C'est l'objet du recrutement, pas une option.</a:t>
            </a:r>
            <a:endParaRPr lang="en-US" sz="1200" dirty="0"/>
          </a:p>
        </p:txBody>
      </p:sp>
      <p:sp>
        <p:nvSpPr>
          <p:cNvPr id="11" name="Shape 9"/>
          <p:cNvSpPr/>
          <p:nvPr/>
        </p:nvSpPr>
        <p:spPr>
          <a:xfrm>
            <a:off x="594360" y="3730752"/>
            <a:ext cx="11002975" cy="786384"/>
          </a:xfrm>
          <a:prstGeom prst="roundRect">
            <a:avLst>
              <a:gd name="adj" fmla="val 6977"/>
            </a:avLst>
          </a:prstGeom>
          <a:solidFill>
            <a:srgbClr val="F2F5F8"/>
          </a:solidFill>
          <a:ln/>
        </p:spPr>
      </p:sp>
      <p:sp>
        <p:nvSpPr>
          <p:cNvPr id="12" name="Shape 10"/>
          <p:cNvSpPr/>
          <p:nvPr/>
        </p:nvSpPr>
        <p:spPr>
          <a:xfrm>
            <a:off x="850392" y="3904488"/>
            <a:ext cx="438912" cy="438912"/>
          </a:xfrm>
          <a:prstGeom prst="ellipse">
            <a:avLst/>
          </a:prstGeom>
          <a:solidFill>
            <a:srgbClr val="1F4B7A"/>
          </a:solidFill>
          <a:ln/>
        </p:spPr>
      </p:sp>
      <p:sp>
        <p:nvSpPr>
          <p:cNvPr id="13" name="Text 11"/>
          <p:cNvSpPr txBox="1"/>
          <p:nvPr/>
        </p:nvSpPr>
        <p:spPr>
          <a:xfrm>
            <a:off x="850392" y="3904488"/>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463040" y="3822192"/>
            <a:ext cx="3840480" cy="292608"/>
          </a:xfrm>
          <a:prstGeom prst="rect">
            <a:avLst/>
          </a:prstGeom>
          <a:noFill/>
          <a:ln/>
        </p:spPr>
        <p:txBody>
          <a:bodyPr wrap="square" lIns="0" tIns="0" rIns="0" bIns="0" rtlCol="0" anchor="t"/>
          <a:lstStyle/>
          <a:p>
            <a:pPr indent="0" marL="0">
              <a:buNone/>
            </a:pPr>
            <a:r>
              <a:rPr lang="en-US" sz="1450" b="1" dirty="0">
                <a:solidFill>
                  <a:srgbClr val="1F4B7A"/>
                </a:solidFill>
                <a:latin typeface="Calibri" pitchFamily="34" charset="0"/>
                <a:ea typeface="Calibri" pitchFamily="34" charset="-122"/>
                <a:cs typeface="Calibri" pitchFamily="34" charset="-120"/>
              </a:rPr>
              <a:t>6 à 15 ans d'exercice</a:t>
            </a:r>
            <a:endParaRPr lang="en-US" sz="1450" dirty="0"/>
          </a:p>
        </p:txBody>
      </p:sp>
      <p:sp>
        <p:nvSpPr>
          <p:cNvPr id="15" name="Text 13"/>
          <p:cNvSpPr txBox="1"/>
          <p:nvPr/>
        </p:nvSpPr>
        <p:spPr>
          <a:xfrm>
            <a:off x="5440680" y="3822192"/>
            <a:ext cx="5882335" cy="603504"/>
          </a:xfrm>
          <a:prstGeom prst="rect">
            <a:avLst/>
          </a:prstGeom>
          <a:noFill/>
          <a:ln/>
        </p:spPr>
        <p:txBody>
          <a:bodyPr wrap="square" lIns="0" tIns="0" rIns="0" bIns="0" rtlCol="0" anchor="t"/>
          <a:lstStyle/>
          <a:p>
            <a:pPr indent="0" marL="0">
              <a:lnSpc>
                <a:spcPts val="1600"/>
              </a:lnSpc>
              <a:buNone/>
            </a:pPr>
            <a:r>
              <a:rPr lang="en-US" sz="1200" dirty="0">
                <a:solidFill>
                  <a:srgbClr val="5A6673"/>
                </a:solidFill>
                <a:latin typeface="Calibri" pitchFamily="34" charset="0"/>
                <a:ea typeface="Calibri" pitchFamily="34" charset="-122"/>
                <a:cs typeface="Calibri" pitchFamily="34" charset="-120"/>
              </a:rPr>
              <a:t>Un avocat de quarante ans qui veut enfin diriger sa structure est un candidat parfaitement cohérent.</a:t>
            </a:r>
            <a:endParaRPr lang="en-US" sz="1200" dirty="0"/>
          </a:p>
        </p:txBody>
      </p:sp>
      <p:sp>
        <p:nvSpPr>
          <p:cNvPr id="16" name="Shape 14"/>
          <p:cNvSpPr/>
          <p:nvPr/>
        </p:nvSpPr>
        <p:spPr>
          <a:xfrm>
            <a:off x="594360" y="4626864"/>
            <a:ext cx="11002975" cy="786384"/>
          </a:xfrm>
          <a:prstGeom prst="roundRect">
            <a:avLst>
              <a:gd name="adj" fmla="val 6977"/>
            </a:avLst>
          </a:prstGeom>
          <a:solidFill>
            <a:srgbClr val="F2F5F8"/>
          </a:solidFill>
          <a:ln/>
        </p:spPr>
      </p:sp>
      <p:sp>
        <p:nvSpPr>
          <p:cNvPr id="17" name="Shape 15"/>
          <p:cNvSpPr/>
          <p:nvPr/>
        </p:nvSpPr>
        <p:spPr>
          <a:xfrm>
            <a:off x="850392" y="4800600"/>
            <a:ext cx="438912" cy="438912"/>
          </a:xfrm>
          <a:prstGeom prst="ellipse">
            <a:avLst/>
          </a:prstGeom>
          <a:solidFill>
            <a:srgbClr val="1F4B7A"/>
          </a:solidFill>
          <a:ln/>
        </p:spPr>
      </p:sp>
      <p:sp>
        <p:nvSpPr>
          <p:cNvPr id="18" name="Text 16"/>
          <p:cNvSpPr txBox="1"/>
          <p:nvPr/>
        </p:nvSpPr>
        <p:spPr>
          <a:xfrm>
            <a:off x="850392" y="4800600"/>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463040" y="4718304"/>
            <a:ext cx="3840480" cy="292608"/>
          </a:xfrm>
          <a:prstGeom prst="rect">
            <a:avLst/>
          </a:prstGeom>
          <a:noFill/>
          <a:ln/>
        </p:spPr>
        <p:txBody>
          <a:bodyPr wrap="square" lIns="0" tIns="0" rIns="0" bIns="0" rtlCol="0" anchor="t"/>
          <a:lstStyle/>
          <a:p>
            <a:pPr indent="0" marL="0">
              <a:buNone/>
            </a:pPr>
            <a:r>
              <a:rPr lang="en-US" sz="1450" b="1" dirty="0">
                <a:solidFill>
                  <a:srgbClr val="1F4B7A"/>
                </a:solidFill>
                <a:latin typeface="Calibri" pitchFamily="34" charset="0"/>
                <a:ea typeface="Calibri" pitchFamily="34" charset="-122"/>
                <a:cs typeface="Calibri" pitchFamily="34" charset="-120"/>
              </a:rPr>
              <a:t>Dommage corporel, ou matière proche</a:t>
            </a:r>
            <a:endParaRPr lang="en-US" sz="1450" dirty="0"/>
          </a:p>
        </p:txBody>
      </p:sp>
      <p:sp>
        <p:nvSpPr>
          <p:cNvPr id="20" name="Text 18"/>
          <p:cNvSpPr txBox="1"/>
          <p:nvPr/>
        </p:nvSpPr>
        <p:spPr>
          <a:xfrm>
            <a:off x="5440680" y="4718304"/>
            <a:ext cx="5882335" cy="603504"/>
          </a:xfrm>
          <a:prstGeom prst="rect">
            <a:avLst/>
          </a:prstGeom>
          <a:noFill/>
          <a:ln/>
        </p:spPr>
        <p:txBody>
          <a:bodyPr wrap="square" lIns="0" tIns="0" rIns="0" bIns="0" rtlCol="0" anchor="t"/>
          <a:lstStyle/>
          <a:p>
            <a:pPr indent="0" marL="0">
              <a:lnSpc>
                <a:spcPts val="1600"/>
              </a:lnSpc>
              <a:buNone/>
            </a:pPr>
            <a:r>
              <a:rPr lang="en-US" sz="1200" dirty="0">
                <a:solidFill>
                  <a:srgbClr val="5A6673"/>
                </a:solidFill>
                <a:latin typeface="Calibri" pitchFamily="34" charset="0"/>
                <a:ea typeface="Calibri" pitchFamily="34" charset="-122"/>
                <a:cs typeface="Calibri" pitchFamily="34" charset="-120"/>
              </a:rPr>
              <a:t>La pratique de la matière ne change pas seulement le niveau. Elle change la date de reprise possible.</a:t>
            </a:r>
            <a:endParaRPr lang="en-US" sz="1200" dirty="0"/>
          </a:p>
        </p:txBody>
      </p:sp>
      <p:sp>
        <p:nvSpPr>
          <p:cNvPr id="21" name="Shape 19"/>
          <p:cNvSpPr/>
          <p:nvPr/>
        </p:nvSpPr>
        <p:spPr>
          <a:xfrm>
            <a:off x="594360" y="5522976"/>
            <a:ext cx="11002975" cy="786384"/>
          </a:xfrm>
          <a:prstGeom prst="roundRect">
            <a:avLst>
              <a:gd name="adj" fmla="val 6977"/>
            </a:avLst>
          </a:prstGeom>
          <a:solidFill>
            <a:srgbClr val="F2F5F8"/>
          </a:solidFill>
          <a:ln/>
        </p:spPr>
      </p:sp>
      <p:sp>
        <p:nvSpPr>
          <p:cNvPr id="22" name="Shape 20"/>
          <p:cNvSpPr/>
          <p:nvPr/>
        </p:nvSpPr>
        <p:spPr>
          <a:xfrm>
            <a:off x="850392" y="5696712"/>
            <a:ext cx="438912" cy="438912"/>
          </a:xfrm>
          <a:prstGeom prst="ellipse">
            <a:avLst/>
          </a:prstGeom>
          <a:solidFill>
            <a:srgbClr val="1F4B7A"/>
          </a:solidFill>
          <a:ln/>
        </p:spPr>
      </p:sp>
      <p:sp>
        <p:nvSpPr>
          <p:cNvPr id="23" name="Text 21"/>
          <p:cNvSpPr txBox="1"/>
          <p:nvPr/>
        </p:nvSpPr>
        <p:spPr>
          <a:xfrm>
            <a:off x="850392" y="569671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463040" y="5614416"/>
            <a:ext cx="3840480" cy="292608"/>
          </a:xfrm>
          <a:prstGeom prst="rect">
            <a:avLst/>
          </a:prstGeom>
          <a:noFill/>
          <a:ln/>
        </p:spPr>
        <p:txBody>
          <a:bodyPr wrap="square" lIns="0" tIns="0" rIns="0" bIns="0" rtlCol="0" anchor="t"/>
          <a:lstStyle/>
          <a:p>
            <a:pPr indent="0" marL="0">
              <a:buNone/>
            </a:pPr>
            <a:r>
              <a:rPr lang="en-US" sz="1450" b="1" dirty="0">
                <a:solidFill>
                  <a:srgbClr val="1F4B7A"/>
                </a:solidFill>
                <a:latin typeface="Calibri" pitchFamily="34" charset="0"/>
                <a:ea typeface="Calibri" pitchFamily="34" charset="-122"/>
                <a:cs typeface="Calibri" pitchFamily="34" charset="-120"/>
              </a:rPr>
              <a:t>Capable d'apporter et de diriger</a:t>
            </a:r>
            <a:endParaRPr lang="en-US" sz="1450" dirty="0"/>
          </a:p>
        </p:txBody>
      </p:sp>
      <p:sp>
        <p:nvSpPr>
          <p:cNvPr id="25" name="Text 23"/>
          <p:cNvSpPr txBox="1"/>
          <p:nvPr/>
        </p:nvSpPr>
        <p:spPr>
          <a:xfrm>
            <a:off x="5440680" y="5614416"/>
            <a:ext cx="5882335" cy="603504"/>
          </a:xfrm>
          <a:prstGeom prst="rect">
            <a:avLst/>
          </a:prstGeom>
          <a:noFill/>
          <a:ln/>
        </p:spPr>
        <p:txBody>
          <a:bodyPr wrap="square" lIns="0" tIns="0" rIns="0" bIns="0" rtlCol="0" anchor="t"/>
          <a:lstStyle/>
          <a:p>
            <a:pPr indent="0" marL="0">
              <a:lnSpc>
                <a:spcPts val="1600"/>
              </a:lnSpc>
              <a:buNone/>
            </a:pPr>
            <a:r>
              <a:rPr lang="en-US" sz="1200" dirty="0">
                <a:solidFill>
                  <a:srgbClr val="5A6673"/>
                </a:solidFill>
                <a:latin typeface="Calibri" pitchFamily="34" charset="0"/>
                <a:ea typeface="Calibri" pitchFamily="34" charset="-122"/>
                <a:cs typeface="Calibri" pitchFamily="34" charset="-120"/>
              </a:rPr>
              <a:t>Un successeur reprend une clientèle et une équipe, pas seulement un portefeuille de dossiers.</a:t>
            </a:r>
            <a:endParaRPr lang="en-US" sz="1200" dirty="0"/>
          </a:p>
        </p:txBody>
      </p:sp>
      <p:sp>
        <p:nvSpPr>
          <p:cNvPr id="26" name="Text 24"/>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Détail : document 02, offre d'emploi.</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UNE CONTRAINTE DE CALENDRIER</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Le certificat fixe la date de reprise</a:t>
            </a:r>
            <a:endParaRPr lang="en-US" sz="3300" dirty="0"/>
          </a:p>
        </p:txBody>
      </p:sp>
      <p:sp>
        <p:nvSpPr>
          <p:cNvPr id="4" name="Text 2"/>
          <p:cNvSpPr txBox="1"/>
          <p:nvPr/>
        </p:nvSpPr>
        <p:spPr>
          <a:xfrm>
            <a:off x="594360" y="1645920"/>
            <a:ext cx="11002975" cy="566928"/>
          </a:xfrm>
          <a:prstGeom prst="rect">
            <a:avLst/>
          </a:prstGeom>
          <a:noFill/>
          <a:ln/>
        </p:spPr>
        <p:txBody>
          <a:bodyPr wrap="square" lIns="0" tIns="0" rIns="0" bIns="0" rtlCol="0" anchor="t"/>
          <a:lstStyle/>
          <a:p>
            <a:pPr indent="0" marL="0">
              <a:lnSpc>
                <a:spcPts val="2100"/>
              </a:lnSpc>
              <a:buNone/>
            </a:pPr>
            <a:r>
              <a:rPr lang="en-US" sz="1450" dirty="0">
                <a:solidFill>
                  <a:srgbClr val="5A6673"/>
                </a:solidFill>
                <a:latin typeface="Calibri" pitchFamily="34" charset="0"/>
                <a:ea typeface="Calibri" pitchFamily="34" charset="-122"/>
                <a:cs typeface="Calibri" pitchFamily="34" charset="-120"/>
              </a:rPr>
              <a:t>Le positionnement du cabinet repose en partie sur les certificats de spécialisation d'Hervé Gerbi. Le jour où il cesse d'exercer, le cabinet perd le droit d'utiliser ce titre si personne d'autre ne le détient.</a:t>
            </a:r>
            <a:endParaRPr lang="en-US" sz="1450" dirty="0"/>
          </a:p>
        </p:txBody>
      </p:sp>
      <p:sp>
        <p:nvSpPr>
          <p:cNvPr id="5" name="Shape 3"/>
          <p:cNvSpPr/>
          <p:nvPr/>
        </p:nvSpPr>
        <p:spPr>
          <a:xfrm>
            <a:off x="594360" y="2331720"/>
            <a:ext cx="5318608" cy="1554480"/>
          </a:xfrm>
          <a:prstGeom prst="roundRect">
            <a:avLst>
              <a:gd name="adj" fmla="val 3529"/>
            </a:avLst>
          </a:prstGeom>
          <a:solidFill>
            <a:srgbClr val="F2F5F8"/>
          </a:solidFill>
          <a:ln/>
        </p:spPr>
      </p:sp>
      <p:sp>
        <p:nvSpPr>
          <p:cNvPr id="6" name="Text 4"/>
          <p:cNvSpPr txBox="1"/>
          <p:nvPr/>
        </p:nvSpPr>
        <p:spPr>
          <a:xfrm>
            <a:off x="868680" y="2487168"/>
            <a:ext cx="4769968" cy="274320"/>
          </a:xfrm>
          <a:prstGeom prst="rect">
            <a:avLst/>
          </a:prstGeom>
          <a:noFill/>
          <a:ln/>
        </p:spPr>
        <p:txBody>
          <a:bodyPr wrap="square" lIns="0" tIns="0" rIns="0" bIns="0" rtlCol="0" anchor="ctr"/>
          <a:lstStyle/>
          <a:p>
            <a:pPr indent="0" marL="0">
              <a:buNone/>
            </a:pPr>
            <a:r>
              <a:rPr lang="en-US" sz="1350" b="1" dirty="0">
                <a:solidFill>
                  <a:srgbClr val="1F4B7A"/>
                </a:solidFill>
                <a:latin typeface="Calibri" pitchFamily="34" charset="0"/>
                <a:ea typeface="Calibri" pitchFamily="34" charset="-122"/>
                <a:cs typeface="Calibri" pitchFamily="34" charset="-120"/>
              </a:rPr>
              <a:t>Ce qu'il faut pour l'obtenir</a:t>
            </a:r>
            <a:endParaRPr lang="en-US" sz="1350" dirty="0"/>
          </a:p>
        </p:txBody>
      </p:sp>
      <p:sp>
        <p:nvSpPr>
          <p:cNvPr id="7" name="Text 5"/>
          <p:cNvSpPr txBox="1"/>
          <p:nvPr/>
        </p:nvSpPr>
        <p:spPr>
          <a:xfrm>
            <a:off x="868680" y="2816352"/>
            <a:ext cx="4769968" cy="960120"/>
          </a:xfrm>
          <a:prstGeom prst="rect">
            <a:avLst/>
          </a:prstGeom>
          <a:noFill/>
          <a:ln/>
        </p:spPr>
        <p:txBody>
          <a:bodyPr wrap="square" lIns="0" tIns="0" rIns="0" bIns="0" rtlCol="0" anchor="t"/>
          <a:lstStyle/>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Quatre années de pratique professionnelle dans le domaine de spécialisation.</a:t>
            </a:r>
            <a:endParaRPr lang="en-US" sz="1250" dirty="0"/>
          </a:p>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Puis un entretien de validation devant un jury, quarante minutes, en séance publique, avec mise en situation.</a:t>
            </a:r>
            <a:endParaRPr lang="en-US" sz="1250" dirty="0"/>
          </a:p>
        </p:txBody>
      </p:sp>
      <p:sp>
        <p:nvSpPr>
          <p:cNvPr id="8" name="Shape 6"/>
          <p:cNvSpPr/>
          <p:nvPr/>
        </p:nvSpPr>
        <p:spPr>
          <a:xfrm>
            <a:off x="6278728" y="2331720"/>
            <a:ext cx="5318608" cy="1554480"/>
          </a:xfrm>
          <a:prstGeom prst="roundRect">
            <a:avLst>
              <a:gd name="adj" fmla="val 3529"/>
            </a:avLst>
          </a:prstGeom>
          <a:solidFill>
            <a:srgbClr val="EAF1E9"/>
          </a:solidFill>
          <a:ln/>
        </p:spPr>
      </p:sp>
      <p:sp>
        <p:nvSpPr>
          <p:cNvPr id="9" name="Text 7"/>
          <p:cNvSpPr txBox="1"/>
          <p:nvPr/>
        </p:nvSpPr>
        <p:spPr>
          <a:xfrm>
            <a:off x="6553048" y="2487168"/>
            <a:ext cx="4769968" cy="274320"/>
          </a:xfrm>
          <a:prstGeom prst="rect">
            <a:avLst/>
          </a:prstGeom>
          <a:noFill/>
          <a:ln/>
        </p:spPr>
        <p:txBody>
          <a:bodyPr wrap="square" lIns="0" tIns="0" rIns="0" bIns="0"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La bonne nouvelle</a:t>
            </a:r>
            <a:endParaRPr lang="en-US" sz="1350" dirty="0"/>
          </a:p>
        </p:txBody>
      </p:sp>
      <p:sp>
        <p:nvSpPr>
          <p:cNvPr id="10" name="Text 8"/>
          <p:cNvSpPr txBox="1"/>
          <p:nvPr/>
        </p:nvSpPr>
        <p:spPr>
          <a:xfrm>
            <a:off x="6553048" y="2816352"/>
            <a:ext cx="4769968" cy="960120"/>
          </a:xfrm>
          <a:prstGeom prst="rect">
            <a:avLst/>
          </a:prstGeom>
          <a:noFill/>
          <a:ln/>
        </p:spPr>
        <p:txBody>
          <a:bodyPr wrap="square" lIns="0" tIns="0" rIns="0" bIns="0" rtlCol="0" anchor="t"/>
          <a:lstStyle/>
          <a:p>
            <a:pPr indent="0" marL="0">
              <a:lnSpc>
                <a:spcPts val="1800"/>
              </a:lnSpc>
              <a:buNone/>
            </a:pPr>
            <a:r>
              <a:rPr lang="en-US" sz="1250" dirty="0">
                <a:solidFill>
                  <a:srgbClr val="12212E"/>
                </a:solidFill>
                <a:latin typeface="Calibri" pitchFamily="34" charset="0"/>
                <a:ea typeface="Calibri" pitchFamily="34" charset="-122"/>
                <a:cs typeface="Calibri" pitchFamily="34" charset="-120"/>
              </a:rPr>
              <a:t>Les années passées chez nous comme avocat salarié comptent dans les quatre ans. Le compteur tourne dès la prise de poste. Le salariat ne retarde rien.</a:t>
            </a:r>
            <a:endParaRPr lang="en-US" sz="1250" dirty="0"/>
          </a:p>
        </p:txBody>
      </p:sp>
      <p:sp>
        <p:nvSpPr>
          <p:cNvPr id="11" name="Text 9"/>
          <p:cNvSpPr txBox="1"/>
          <p:nvPr/>
        </p:nvSpPr>
        <p:spPr>
          <a:xfrm>
            <a:off x="594360" y="4041648"/>
            <a:ext cx="11002975" cy="256032"/>
          </a:xfrm>
          <a:prstGeom prst="rect">
            <a:avLst/>
          </a:prstGeom>
          <a:noFill/>
          <a:ln/>
        </p:spPr>
        <p:txBody>
          <a:bodyPr wrap="square" lIns="0" tIns="0" rIns="0" bIns="0" rtlCol="0" anchor="t"/>
          <a:lstStyle/>
          <a:p>
            <a:pPr indent="0" marL="0">
              <a:buNone/>
            </a:pPr>
            <a:r>
              <a:rPr lang="en-US" sz="1300" b="1" dirty="0">
                <a:solidFill>
                  <a:srgbClr val="1F4B7A"/>
                </a:solidFill>
                <a:latin typeface="Calibri" pitchFamily="34" charset="0"/>
                <a:ea typeface="Calibri" pitchFamily="34" charset="-122"/>
                <a:cs typeface="Calibri" pitchFamily="34" charset="-120"/>
              </a:rPr>
              <a:t>Ce que cela donne selon le profil recruté</a:t>
            </a:r>
            <a:endParaRPr lang="en-US" sz="1300" dirty="0"/>
          </a:p>
        </p:txBody>
      </p:sp>
      <p:sp>
        <p:nvSpPr>
          <p:cNvPr id="12" name="Text 10"/>
          <p:cNvSpPr txBox="1"/>
          <p:nvPr/>
        </p:nvSpPr>
        <p:spPr>
          <a:xfrm>
            <a:off x="777240" y="4334256"/>
            <a:ext cx="3840480" cy="219456"/>
          </a:xfrm>
          <a:prstGeom prst="rect">
            <a:avLst/>
          </a:prstGeom>
          <a:noFill/>
          <a:ln/>
        </p:spPr>
        <p:txBody>
          <a:bodyPr wrap="square" lIns="0" tIns="0" rIns="0" bIns="0" rtlCol="0" anchor="ctr"/>
          <a:lstStyle/>
          <a:p>
            <a:pPr indent="0" marL="0">
              <a:buNone/>
            </a:pPr>
            <a:r>
              <a:rPr lang="en-US" sz="950" b="1" spc="120" kern="0" dirty="0">
                <a:solidFill>
                  <a:srgbClr val="5A6673"/>
                </a:solidFill>
                <a:latin typeface="Calibri" pitchFamily="34" charset="0"/>
                <a:ea typeface="Calibri" pitchFamily="34" charset="-122"/>
                <a:cs typeface="Calibri" pitchFamily="34" charset="-120"/>
              </a:rPr>
              <a:t>PROFIL À L'ENTRÉE</a:t>
            </a:r>
            <a:endParaRPr lang="en-US" sz="950" dirty="0"/>
          </a:p>
        </p:txBody>
      </p:sp>
      <p:sp>
        <p:nvSpPr>
          <p:cNvPr id="13" name="Text 11"/>
          <p:cNvSpPr txBox="1"/>
          <p:nvPr/>
        </p:nvSpPr>
        <p:spPr>
          <a:xfrm>
            <a:off x="4892040" y="4334256"/>
            <a:ext cx="2926080" cy="219456"/>
          </a:xfrm>
          <a:prstGeom prst="rect">
            <a:avLst/>
          </a:prstGeom>
          <a:noFill/>
          <a:ln/>
        </p:spPr>
        <p:txBody>
          <a:bodyPr wrap="square" lIns="0" tIns="0" rIns="0" bIns="0" rtlCol="0" anchor="ctr"/>
          <a:lstStyle/>
          <a:p>
            <a:pPr indent="0" marL="0">
              <a:buNone/>
            </a:pPr>
            <a:r>
              <a:rPr lang="en-US" sz="950" b="1" spc="120" kern="0" dirty="0">
                <a:solidFill>
                  <a:srgbClr val="5A6673"/>
                </a:solidFill>
                <a:latin typeface="Calibri" pitchFamily="34" charset="0"/>
                <a:ea typeface="Calibri" pitchFamily="34" charset="-122"/>
                <a:cs typeface="Calibri" pitchFamily="34" charset="-120"/>
              </a:rPr>
              <a:t>CERTIFICAT PRÉSENTABLE</a:t>
            </a:r>
            <a:endParaRPr lang="en-US" sz="950" dirty="0"/>
          </a:p>
        </p:txBody>
      </p:sp>
      <p:sp>
        <p:nvSpPr>
          <p:cNvPr id="14" name="Text 12"/>
          <p:cNvSpPr txBox="1"/>
          <p:nvPr/>
        </p:nvSpPr>
        <p:spPr>
          <a:xfrm>
            <a:off x="8092440" y="4334256"/>
            <a:ext cx="3200400" cy="219456"/>
          </a:xfrm>
          <a:prstGeom prst="rect">
            <a:avLst/>
          </a:prstGeom>
          <a:noFill/>
          <a:ln/>
        </p:spPr>
        <p:txBody>
          <a:bodyPr wrap="square" lIns="0" tIns="0" rIns="0" bIns="0" rtlCol="0" anchor="ctr"/>
          <a:lstStyle/>
          <a:p>
            <a:pPr indent="0" marL="0">
              <a:buNone/>
            </a:pPr>
            <a:r>
              <a:rPr lang="en-US" sz="950" b="1" spc="120" kern="0" dirty="0">
                <a:solidFill>
                  <a:srgbClr val="5A6673"/>
                </a:solidFill>
                <a:latin typeface="Calibri" pitchFamily="34" charset="0"/>
                <a:ea typeface="Calibri" pitchFamily="34" charset="-122"/>
                <a:cs typeface="Calibri" pitchFamily="34" charset="-120"/>
              </a:rPr>
              <a:t>REPRISE ENVISAGEABLE</a:t>
            </a:r>
            <a:endParaRPr lang="en-US" sz="950" dirty="0"/>
          </a:p>
        </p:txBody>
      </p:sp>
      <p:sp>
        <p:nvSpPr>
          <p:cNvPr id="15" name="Shape 13"/>
          <p:cNvSpPr/>
          <p:nvPr/>
        </p:nvSpPr>
        <p:spPr>
          <a:xfrm>
            <a:off x="594360" y="4590288"/>
            <a:ext cx="11002975" cy="365760"/>
          </a:xfrm>
          <a:prstGeom prst="roundRect">
            <a:avLst>
              <a:gd name="adj" fmla="val 15000"/>
            </a:avLst>
          </a:prstGeom>
          <a:solidFill>
            <a:srgbClr val="F2F5F8"/>
          </a:solidFill>
          <a:ln/>
        </p:spPr>
      </p:sp>
      <p:sp>
        <p:nvSpPr>
          <p:cNvPr id="16" name="Text 14"/>
          <p:cNvSpPr txBox="1"/>
          <p:nvPr/>
        </p:nvSpPr>
        <p:spPr>
          <a:xfrm>
            <a:off x="777240" y="4590288"/>
            <a:ext cx="4023360" cy="365760"/>
          </a:xfrm>
          <a:prstGeom prst="rect">
            <a:avLst/>
          </a:prstGeom>
          <a:noFill/>
          <a:ln/>
        </p:spPr>
        <p:txBody>
          <a:bodyPr wrap="square" lIns="0" tIns="0" rIns="0" bIns="0" rtlCol="0" anchor="ctr"/>
          <a:lstStyle/>
          <a:p>
            <a:pPr indent="0" marL="0">
              <a:buNone/>
            </a:pPr>
            <a:r>
              <a:rPr lang="en-US" sz="1200" dirty="0">
                <a:solidFill>
                  <a:srgbClr val="12212E"/>
                </a:solidFill>
                <a:latin typeface="Calibri" pitchFamily="34" charset="0"/>
                <a:ea typeface="Calibri" pitchFamily="34" charset="-122"/>
                <a:cs typeface="Calibri" pitchFamily="34" charset="-120"/>
              </a:rPr>
              <a:t>Déjà titulaire du certificat</a:t>
            </a:r>
            <a:endParaRPr lang="en-US" sz="1200" dirty="0"/>
          </a:p>
        </p:txBody>
      </p:sp>
      <p:sp>
        <p:nvSpPr>
          <p:cNvPr id="17" name="Text 15"/>
          <p:cNvSpPr txBox="1"/>
          <p:nvPr/>
        </p:nvSpPr>
        <p:spPr>
          <a:xfrm>
            <a:off x="4892040" y="4590288"/>
            <a:ext cx="3108960" cy="365760"/>
          </a:xfrm>
          <a:prstGeom prst="rect">
            <a:avLst/>
          </a:prstGeom>
          <a:noFill/>
          <a:ln/>
        </p:spPr>
        <p:txBody>
          <a:bodyPr wrap="square" lIns="0" tIns="0" rIns="0" bIns="0" rtlCol="0" anchor="ctr"/>
          <a:lstStyle/>
          <a:p>
            <a:pPr indent="0" marL="0">
              <a:buNone/>
            </a:pPr>
            <a:r>
              <a:rPr lang="en-US" sz="1200" dirty="0">
                <a:solidFill>
                  <a:srgbClr val="5A6673"/>
                </a:solidFill>
                <a:latin typeface="Calibri" pitchFamily="34" charset="0"/>
                <a:ea typeface="Calibri" pitchFamily="34" charset="-122"/>
                <a:cs typeface="Calibri" pitchFamily="34" charset="-120"/>
              </a:rPr>
              <a:t>Immédiat</a:t>
            </a:r>
            <a:endParaRPr lang="en-US" sz="1200" dirty="0"/>
          </a:p>
        </p:txBody>
      </p:sp>
      <p:sp>
        <p:nvSpPr>
          <p:cNvPr id="18" name="Text 16"/>
          <p:cNvSpPr txBox="1"/>
          <p:nvPr/>
        </p:nvSpPr>
        <p:spPr>
          <a:xfrm>
            <a:off x="8092440" y="4590288"/>
            <a:ext cx="3291840" cy="365760"/>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Sans contrainte</a:t>
            </a:r>
            <a:endParaRPr lang="en-US" sz="1200" dirty="0"/>
          </a:p>
        </p:txBody>
      </p:sp>
      <p:sp>
        <p:nvSpPr>
          <p:cNvPr id="19" name="Shape 17"/>
          <p:cNvSpPr/>
          <p:nvPr/>
        </p:nvSpPr>
        <p:spPr>
          <a:xfrm>
            <a:off x="594360" y="5010912"/>
            <a:ext cx="11002975" cy="365760"/>
          </a:xfrm>
          <a:prstGeom prst="roundRect">
            <a:avLst>
              <a:gd name="adj" fmla="val 15000"/>
            </a:avLst>
          </a:prstGeom>
          <a:solidFill>
            <a:srgbClr val="F2F5F8"/>
          </a:solidFill>
          <a:ln/>
        </p:spPr>
      </p:sp>
      <p:sp>
        <p:nvSpPr>
          <p:cNvPr id="20" name="Text 18"/>
          <p:cNvSpPr txBox="1"/>
          <p:nvPr/>
        </p:nvSpPr>
        <p:spPr>
          <a:xfrm>
            <a:off x="777240" y="5010912"/>
            <a:ext cx="4023360" cy="365760"/>
          </a:xfrm>
          <a:prstGeom prst="rect">
            <a:avLst/>
          </a:prstGeom>
          <a:noFill/>
          <a:ln/>
        </p:spPr>
        <p:txBody>
          <a:bodyPr wrap="square" lIns="0" tIns="0" rIns="0" bIns="0" rtlCol="0" anchor="ctr"/>
          <a:lstStyle/>
          <a:p>
            <a:pPr indent="0" marL="0">
              <a:buNone/>
            </a:pPr>
            <a:r>
              <a:rPr lang="en-US" sz="1200" dirty="0">
                <a:solidFill>
                  <a:srgbClr val="12212E"/>
                </a:solidFill>
                <a:latin typeface="Calibri" pitchFamily="34" charset="0"/>
                <a:ea typeface="Calibri" pitchFamily="34" charset="-122"/>
                <a:cs typeface="Calibri" pitchFamily="34" charset="-120"/>
              </a:rPr>
              <a:t>4 ans ou plus de dommage corporel</a:t>
            </a:r>
            <a:endParaRPr lang="en-US" sz="1200" dirty="0"/>
          </a:p>
        </p:txBody>
      </p:sp>
      <p:sp>
        <p:nvSpPr>
          <p:cNvPr id="21" name="Text 19"/>
          <p:cNvSpPr txBox="1"/>
          <p:nvPr/>
        </p:nvSpPr>
        <p:spPr>
          <a:xfrm>
            <a:off x="4892040" y="5010912"/>
            <a:ext cx="3108960" cy="365760"/>
          </a:xfrm>
          <a:prstGeom prst="rect">
            <a:avLst/>
          </a:prstGeom>
          <a:noFill/>
          <a:ln/>
        </p:spPr>
        <p:txBody>
          <a:bodyPr wrap="square" lIns="0" tIns="0" rIns="0" bIns="0" rtlCol="0" anchor="ctr"/>
          <a:lstStyle/>
          <a:p>
            <a:pPr indent="0" marL="0">
              <a:buNone/>
            </a:pPr>
            <a:r>
              <a:rPr lang="en-US" sz="1200" dirty="0">
                <a:solidFill>
                  <a:srgbClr val="5A6673"/>
                </a:solidFill>
                <a:latin typeface="Calibri" pitchFamily="34" charset="0"/>
                <a:ea typeface="Calibri" pitchFamily="34" charset="-122"/>
                <a:cs typeface="Calibri" pitchFamily="34" charset="-120"/>
              </a:rPr>
              <a:t>Dès la 1re année</a:t>
            </a:r>
            <a:endParaRPr lang="en-US" sz="1200" dirty="0"/>
          </a:p>
        </p:txBody>
      </p:sp>
      <p:sp>
        <p:nvSpPr>
          <p:cNvPr id="22" name="Text 20"/>
          <p:cNvSpPr txBox="1"/>
          <p:nvPr/>
        </p:nvSpPr>
        <p:spPr>
          <a:xfrm>
            <a:off x="8092440" y="5010912"/>
            <a:ext cx="3291840" cy="365760"/>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24 à 36 mois</a:t>
            </a:r>
            <a:endParaRPr lang="en-US" sz="1200" dirty="0"/>
          </a:p>
        </p:txBody>
      </p:sp>
      <p:sp>
        <p:nvSpPr>
          <p:cNvPr id="23" name="Shape 21"/>
          <p:cNvSpPr/>
          <p:nvPr/>
        </p:nvSpPr>
        <p:spPr>
          <a:xfrm>
            <a:off x="594360" y="5431536"/>
            <a:ext cx="11002975" cy="365760"/>
          </a:xfrm>
          <a:prstGeom prst="roundRect">
            <a:avLst>
              <a:gd name="adj" fmla="val 15000"/>
            </a:avLst>
          </a:prstGeom>
          <a:solidFill>
            <a:srgbClr val="F2F5F8"/>
          </a:solidFill>
          <a:ln/>
        </p:spPr>
      </p:sp>
      <p:sp>
        <p:nvSpPr>
          <p:cNvPr id="24" name="Text 22"/>
          <p:cNvSpPr txBox="1"/>
          <p:nvPr/>
        </p:nvSpPr>
        <p:spPr>
          <a:xfrm>
            <a:off x="777240" y="5431536"/>
            <a:ext cx="4023360" cy="365760"/>
          </a:xfrm>
          <a:prstGeom prst="rect">
            <a:avLst/>
          </a:prstGeom>
          <a:noFill/>
          <a:ln/>
        </p:spPr>
        <p:txBody>
          <a:bodyPr wrap="square" lIns="0" tIns="0" rIns="0" bIns="0" rtlCol="0" anchor="ctr"/>
          <a:lstStyle/>
          <a:p>
            <a:pPr indent="0" marL="0">
              <a:buNone/>
            </a:pPr>
            <a:r>
              <a:rPr lang="en-US" sz="1200" dirty="0">
                <a:solidFill>
                  <a:srgbClr val="12212E"/>
                </a:solidFill>
                <a:latin typeface="Calibri" pitchFamily="34" charset="0"/>
                <a:ea typeface="Calibri" pitchFamily="34" charset="-122"/>
                <a:cs typeface="Calibri" pitchFamily="34" charset="-120"/>
              </a:rPr>
              <a:t>2 ans de dommage corporel</a:t>
            </a:r>
            <a:endParaRPr lang="en-US" sz="1200" dirty="0"/>
          </a:p>
        </p:txBody>
      </p:sp>
      <p:sp>
        <p:nvSpPr>
          <p:cNvPr id="25" name="Text 23"/>
          <p:cNvSpPr txBox="1"/>
          <p:nvPr/>
        </p:nvSpPr>
        <p:spPr>
          <a:xfrm>
            <a:off x="4892040" y="5431536"/>
            <a:ext cx="3108960" cy="365760"/>
          </a:xfrm>
          <a:prstGeom prst="rect">
            <a:avLst/>
          </a:prstGeom>
          <a:noFill/>
          <a:ln/>
        </p:spPr>
        <p:txBody>
          <a:bodyPr wrap="square" lIns="0" tIns="0" rIns="0" bIns="0" rtlCol="0" anchor="ctr"/>
          <a:lstStyle/>
          <a:p>
            <a:pPr indent="0" marL="0">
              <a:buNone/>
            </a:pPr>
            <a:r>
              <a:rPr lang="en-US" sz="1200" dirty="0">
                <a:solidFill>
                  <a:srgbClr val="5A6673"/>
                </a:solidFill>
                <a:latin typeface="Calibri" pitchFamily="34" charset="0"/>
                <a:ea typeface="Calibri" pitchFamily="34" charset="-122"/>
                <a:cs typeface="Calibri" pitchFamily="34" charset="-120"/>
              </a:rPr>
              <a:t>Après 2 ans chez nous</a:t>
            </a:r>
            <a:endParaRPr lang="en-US" sz="1200" dirty="0"/>
          </a:p>
        </p:txBody>
      </p:sp>
      <p:sp>
        <p:nvSpPr>
          <p:cNvPr id="26" name="Text 24"/>
          <p:cNvSpPr txBox="1"/>
          <p:nvPr/>
        </p:nvSpPr>
        <p:spPr>
          <a:xfrm>
            <a:off x="8092440" y="5431536"/>
            <a:ext cx="3291840" cy="365760"/>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36 à 48 mois</a:t>
            </a:r>
            <a:endParaRPr lang="en-US" sz="1200" dirty="0"/>
          </a:p>
        </p:txBody>
      </p:sp>
      <p:sp>
        <p:nvSpPr>
          <p:cNvPr id="27" name="Shape 25"/>
          <p:cNvSpPr/>
          <p:nvPr/>
        </p:nvSpPr>
        <p:spPr>
          <a:xfrm>
            <a:off x="594360" y="5852160"/>
            <a:ext cx="11002975" cy="365760"/>
          </a:xfrm>
          <a:prstGeom prst="roundRect">
            <a:avLst>
              <a:gd name="adj" fmla="val 15000"/>
            </a:avLst>
          </a:prstGeom>
          <a:solidFill>
            <a:srgbClr val="FBF1EC"/>
          </a:solidFill>
          <a:ln/>
        </p:spPr>
      </p:sp>
      <p:sp>
        <p:nvSpPr>
          <p:cNvPr id="28" name="Text 26"/>
          <p:cNvSpPr txBox="1"/>
          <p:nvPr/>
        </p:nvSpPr>
        <p:spPr>
          <a:xfrm>
            <a:off x="777240" y="5852160"/>
            <a:ext cx="4023360" cy="365760"/>
          </a:xfrm>
          <a:prstGeom prst="rect">
            <a:avLst/>
          </a:prstGeom>
          <a:noFill/>
          <a:ln/>
        </p:spPr>
        <p:txBody>
          <a:bodyPr wrap="square" lIns="0" tIns="0" rIns="0" bIns="0" rtlCol="0" anchor="ctr"/>
          <a:lstStyle/>
          <a:p>
            <a:pPr indent="0" marL="0">
              <a:buNone/>
            </a:pPr>
            <a:r>
              <a:rPr lang="en-US" sz="1200" dirty="0">
                <a:solidFill>
                  <a:srgbClr val="12212E"/>
                </a:solidFill>
                <a:latin typeface="Calibri" pitchFamily="34" charset="0"/>
                <a:ea typeface="Calibri" pitchFamily="34" charset="-122"/>
                <a:cs typeface="Calibri" pitchFamily="34" charset="-120"/>
              </a:rPr>
              <a:t>Aucune pratique de la matière</a:t>
            </a:r>
            <a:endParaRPr lang="en-US" sz="1200" dirty="0"/>
          </a:p>
        </p:txBody>
      </p:sp>
      <p:sp>
        <p:nvSpPr>
          <p:cNvPr id="29" name="Text 27"/>
          <p:cNvSpPr txBox="1"/>
          <p:nvPr/>
        </p:nvSpPr>
        <p:spPr>
          <a:xfrm>
            <a:off x="4892040" y="5852160"/>
            <a:ext cx="3108960" cy="365760"/>
          </a:xfrm>
          <a:prstGeom prst="rect">
            <a:avLst/>
          </a:prstGeom>
          <a:noFill/>
          <a:ln/>
        </p:spPr>
        <p:txBody>
          <a:bodyPr wrap="square" lIns="0" tIns="0" rIns="0" bIns="0" rtlCol="0" anchor="ctr"/>
          <a:lstStyle/>
          <a:p>
            <a:pPr indent="0" marL="0">
              <a:buNone/>
            </a:pPr>
            <a:r>
              <a:rPr lang="en-US" sz="1200" dirty="0">
                <a:solidFill>
                  <a:srgbClr val="5A6673"/>
                </a:solidFill>
                <a:latin typeface="Calibri" pitchFamily="34" charset="0"/>
                <a:ea typeface="Calibri" pitchFamily="34" charset="-122"/>
                <a:cs typeface="Calibri" pitchFamily="34" charset="-120"/>
              </a:rPr>
              <a:t>Après 4 ans chez nous</a:t>
            </a:r>
            <a:endParaRPr lang="en-US" sz="1200" dirty="0"/>
          </a:p>
        </p:txBody>
      </p:sp>
      <p:sp>
        <p:nvSpPr>
          <p:cNvPr id="30" name="Text 28"/>
          <p:cNvSpPr txBox="1"/>
          <p:nvPr/>
        </p:nvSpPr>
        <p:spPr>
          <a:xfrm>
            <a:off x="8092440" y="5852160"/>
            <a:ext cx="3291840" cy="365760"/>
          </a:xfrm>
          <a:prstGeom prst="rect">
            <a:avLst/>
          </a:prstGeom>
          <a:noFill/>
          <a:ln/>
        </p:spPr>
        <p:txBody>
          <a:bodyPr wrap="square" lIns="0" tIns="0" rIns="0" bIns="0" rtlCol="0" anchor="ctr"/>
          <a:lstStyle/>
          <a:p>
            <a:pPr indent="0" marL="0">
              <a:buNone/>
            </a:pPr>
            <a:r>
              <a:rPr lang="en-US" sz="1200" b="1" dirty="0">
                <a:solidFill>
                  <a:srgbClr val="B05F3A"/>
                </a:solidFill>
                <a:latin typeface="Calibri" pitchFamily="34" charset="0"/>
                <a:ea typeface="Calibri" pitchFamily="34" charset="-122"/>
                <a:cs typeface="Calibri" pitchFamily="34" charset="-120"/>
              </a:rPr>
              <a:t>60 mois et plus</a:t>
            </a:r>
            <a:endParaRPr lang="en-US" sz="1200" dirty="0"/>
          </a:p>
        </p:txBody>
      </p:sp>
      <p:sp>
        <p:nvSpPr>
          <p:cNvPr id="31" name="Text 29"/>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Décret du 27 novembre 1991 et arrêté du 15 décembre 2023. Détail : document 01, point 0.1.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LE MARCHÉ, EN QUATRE CHIFFRES</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Pourquoi ce recrutement est difficile</a:t>
            </a:r>
            <a:endParaRPr lang="en-US" sz="3300" dirty="0"/>
          </a:p>
        </p:txBody>
      </p:sp>
      <p:sp>
        <p:nvSpPr>
          <p:cNvPr id="4" name="Shape 2"/>
          <p:cNvSpPr/>
          <p:nvPr/>
        </p:nvSpPr>
        <p:spPr>
          <a:xfrm>
            <a:off x="594360" y="1737360"/>
            <a:ext cx="2545004" cy="2331720"/>
          </a:xfrm>
          <a:prstGeom prst="roundRect">
            <a:avLst>
              <a:gd name="adj" fmla="val 2353"/>
            </a:avLst>
          </a:prstGeom>
          <a:solidFill>
            <a:srgbClr val="F2F5F8"/>
          </a:solidFill>
          <a:ln/>
        </p:spPr>
      </p:sp>
      <p:sp>
        <p:nvSpPr>
          <p:cNvPr id="5" name="Text 3"/>
          <p:cNvSpPr txBox="1"/>
          <p:nvPr/>
        </p:nvSpPr>
        <p:spPr>
          <a:xfrm>
            <a:off x="822960" y="1874520"/>
            <a:ext cx="2087804" cy="868680"/>
          </a:xfrm>
          <a:prstGeom prst="rect">
            <a:avLst/>
          </a:prstGeom>
          <a:noFill/>
          <a:ln/>
        </p:spPr>
        <p:txBody>
          <a:bodyPr wrap="square" lIns="0" tIns="0" rIns="0" bIns="0" rtlCol="0" anchor="ctr"/>
          <a:lstStyle/>
          <a:p>
            <a:pPr indent="0" marL="0">
              <a:buNone/>
            </a:pPr>
            <a:r>
              <a:rPr lang="en-US" sz="4400" b="1" dirty="0">
                <a:solidFill>
                  <a:srgbClr val="1F4B7A"/>
                </a:solidFill>
                <a:latin typeface="Cambria" pitchFamily="34" charset="0"/>
                <a:ea typeface="Cambria" pitchFamily="34" charset="-122"/>
                <a:cs typeface="Cambria" pitchFamily="34" charset="-120"/>
              </a:rPr>
              <a:t>77 600</a:t>
            </a:r>
            <a:endParaRPr lang="en-US" sz="4400" dirty="0"/>
          </a:p>
        </p:txBody>
      </p:sp>
      <p:sp>
        <p:nvSpPr>
          <p:cNvPr id="6" name="Text 4"/>
          <p:cNvSpPr txBox="1"/>
          <p:nvPr/>
        </p:nvSpPr>
        <p:spPr>
          <a:xfrm>
            <a:off x="822960" y="2761488"/>
            <a:ext cx="2087804" cy="731520"/>
          </a:xfrm>
          <a:prstGeom prst="rect">
            <a:avLst/>
          </a:prstGeom>
          <a:noFill/>
          <a:ln/>
        </p:spPr>
        <p:txBody>
          <a:bodyPr wrap="square" lIns="0" tIns="0" rIns="0" bIns="0" rtlCol="0" anchor="t"/>
          <a:lstStyle/>
          <a:p>
            <a:pPr indent="0" marL="0">
              <a:buNone/>
            </a:pPr>
            <a:r>
              <a:rPr lang="en-US" sz="1300" b="1" dirty="0">
                <a:solidFill>
                  <a:srgbClr val="12212E"/>
                </a:solidFill>
                <a:latin typeface="Calibri" pitchFamily="34" charset="0"/>
                <a:ea typeface="Calibri" pitchFamily="34" charset="-122"/>
                <a:cs typeface="Calibri" pitchFamily="34" charset="-120"/>
              </a:rPr>
              <a:t>avocats en France</a:t>
            </a:r>
            <a:endParaRPr lang="en-US" sz="1300" dirty="0"/>
          </a:p>
        </p:txBody>
      </p:sp>
      <p:sp>
        <p:nvSpPr>
          <p:cNvPr id="7" name="Text 5"/>
          <p:cNvSpPr txBox="1"/>
          <p:nvPr/>
        </p:nvSpPr>
        <p:spPr>
          <a:xfrm>
            <a:off x="822960" y="3493008"/>
            <a:ext cx="2087804" cy="457200"/>
          </a:xfrm>
          <a:prstGeom prst="rect">
            <a:avLst/>
          </a:prstGeom>
          <a:noFill/>
          <a:ln/>
        </p:spPr>
        <p:txBody>
          <a:bodyPr wrap="square" lIns="0" tIns="0" rIns="0" bIns="0" rtlCol="0" anchor="t"/>
          <a:lstStyle/>
          <a:p>
            <a:pPr indent="0" marL="0">
              <a:buNone/>
            </a:pPr>
            <a:r>
              <a:rPr lang="en-US" sz="1050" dirty="0">
                <a:solidFill>
                  <a:srgbClr val="5A6673"/>
                </a:solidFill>
                <a:latin typeface="Calibri" pitchFamily="34" charset="0"/>
                <a:ea typeface="Calibri" pitchFamily="34" charset="-122"/>
                <a:cs typeface="Calibri" pitchFamily="34" charset="-120"/>
              </a:rPr>
              <a:t>Chiffres du ministère de la Justice</a:t>
            </a:r>
            <a:endParaRPr lang="en-US" sz="1050" dirty="0"/>
          </a:p>
        </p:txBody>
      </p:sp>
      <p:sp>
        <p:nvSpPr>
          <p:cNvPr id="8" name="Shape 6"/>
          <p:cNvSpPr/>
          <p:nvPr/>
        </p:nvSpPr>
        <p:spPr>
          <a:xfrm>
            <a:off x="3413684" y="1737360"/>
            <a:ext cx="2545004" cy="2331720"/>
          </a:xfrm>
          <a:prstGeom prst="roundRect">
            <a:avLst>
              <a:gd name="adj" fmla="val 2353"/>
            </a:avLst>
          </a:prstGeom>
          <a:solidFill>
            <a:srgbClr val="FBF1EC"/>
          </a:solidFill>
          <a:ln/>
        </p:spPr>
      </p:sp>
      <p:sp>
        <p:nvSpPr>
          <p:cNvPr id="9" name="Text 7"/>
          <p:cNvSpPr txBox="1"/>
          <p:nvPr/>
        </p:nvSpPr>
        <p:spPr>
          <a:xfrm>
            <a:off x="3642284" y="1874520"/>
            <a:ext cx="2087804" cy="868680"/>
          </a:xfrm>
          <a:prstGeom prst="rect">
            <a:avLst/>
          </a:prstGeom>
          <a:noFill/>
          <a:ln/>
        </p:spPr>
        <p:txBody>
          <a:bodyPr wrap="square" lIns="0" tIns="0" rIns="0" bIns="0" rtlCol="0" anchor="ctr"/>
          <a:lstStyle/>
          <a:p>
            <a:pPr indent="0" marL="0">
              <a:buNone/>
            </a:pPr>
            <a:r>
              <a:rPr lang="en-US" sz="4400" b="1" dirty="0">
                <a:solidFill>
                  <a:srgbClr val="B05F3A"/>
                </a:solidFill>
                <a:latin typeface="Cambria" pitchFamily="34" charset="0"/>
                <a:ea typeface="Cambria" pitchFamily="34" charset="-122"/>
                <a:cs typeface="Cambria" pitchFamily="34" charset="-120"/>
              </a:rPr>
              <a:t>2,5 %</a:t>
            </a:r>
            <a:endParaRPr lang="en-US" sz="4400" dirty="0"/>
          </a:p>
        </p:txBody>
      </p:sp>
      <p:sp>
        <p:nvSpPr>
          <p:cNvPr id="10" name="Text 8"/>
          <p:cNvSpPr txBox="1"/>
          <p:nvPr/>
        </p:nvSpPr>
        <p:spPr>
          <a:xfrm>
            <a:off x="3642284" y="2761488"/>
            <a:ext cx="2087804" cy="731520"/>
          </a:xfrm>
          <a:prstGeom prst="rect">
            <a:avLst/>
          </a:prstGeom>
          <a:noFill/>
          <a:ln/>
        </p:spPr>
        <p:txBody>
          <a:bodyPr wrap="square" lIns="0" tIns="0" rIns="0" bIns="0" rtlCol="0" anchor="t"/>
          <a:lstStyle/>
          <a:p>
            <a:pPr indent="0" marL="0">
              <a:buNone/>
            </a:pPr>
            <a:r>
              <a:rPr lang="en-US" sz="1300" b="1" dirty="0">
                <a:solidFill>
                  <a:srgbClr val="12212E"/>
                </a:solidFill>
                <a:latin typeface="Calibri" pitchFamily="34" charset="0"/>
                <a:ea typeface="Calibri" pitchFamily="34" charset="-122"/>
                <a:cs typeface="Calibri" pitchFamily="34" charset="-120"/>
              </a:rPr>
              <a:t>exercent sous statut salarié</a:t>
            </a:r>
            <a:endParaRPr lang="en-US" sz="1300" dirty="0"/>
          </a:p>
        </p:txBody>
      </p:sp>
      <p:sp>
        <p:nvSpPr>
          <p:cNvPr id="11" name="Text 9"/>
          <p:cNvSpPr txBox="1"/>
          <p:nvPr/>
        </p:nvSpPr>
        <p:spPr>
          <a:xfrm>
            <a:off x="3642284" y="3493008"/>
            <a:ext cx="2087804" cy="457200"/>
          </a:xfrm>
          <a:prstGeom prst="rect">
            <a:avLst/>
          </a:prstGeom>
          <a:noFill/>
          <a:ln/>
        </p:spPr>
        <p:txBody>
          <a:bodyPr wrap="square" lIns="0" tIns="0" rIns="0" bIns="0" rtlCol="0" anchor="t"/>
          <a:lstStyle/>
          <a:p>
            <a:pPr indent="0" marL="0">
              <a:buNone/>
            </a:pPr>
            <a:r>
              <a:rPr lang="en-US" sz="1050" dirty="0">
                <a:solidFill>
                  <a:srgbClr val="5A6673"/>
                </a:solidFill>
                <a:latin typeface="Calibri" pitchFamily="34" charset="0"/>
                <a:ea typeface="Calibri" pitchFamily="34" charset="-122"/>
                <a:cs typeface="Calibri" pitchFamily="34" charset="-120"/>
              </a:rPr>
              <a:t>Le statut que nous proposons aujourd'hui</a:t>
            </a:r>
            <a:endParaRPr lang="en-US" sz="1050" dirty="0"/>
          </a:p>
        </p:txBody>
      </p:sp>
      <p:sp>
        <p:nvSpPr>
          <p:cNvPr id="12" name="Shape 10"/>
          <p:cNvSpPr/>
          <p:nvPr/>
        </p:nvSpPr>
        <p:spPr>
          <a:xfrm>
            <a:off x="6233008" y="1737360"/>
            <a:ext cx="2545004" cy="2331720"/>
          </a:xfrm>
          <a:prstGeom prst="roundRect">
            <a:avLst>
              <a:gd name="adj" fmla="val 2353"/>
            </a:avLst>
          </a:prstGeom>
          <a:solidFill>
            <a:srgbClr val="FBF1EC"/>
          </a:solidFill>
          <a:ln/>
        </p:spPr>
      </p:sp>
      <p:sp>
        <p:nvSpPr>
          <p:cNvPr id="13" name="Text 11"/>
          <p:cNvSpPr txBox="1"/>
          <p:nvPr/>
        </p:nvSpPr>
        <p:spPr>
          <a:xfrm>
            <a:off x="6461608" y="1874520"/>
            <a:ext cx="2087804" cy="868680"/>
          </a:xfrm>
          <a:prstGeom prst="rect">
            <a:avLst/>
          </a:prstGeom>
          <a:noFill/>
          <a:ln/>
        </p:spPr>
        <p:txBody>
          <a:bodyPr wrap="square" lIns="0" tIns="0" rIns="0" bIns="0" rtlCol="0" anchor="ctr"/>
          <a:lstStyle/>
          <a:p>
            <a:pPr indent="0" marL="0">
              <a:buNone/>
            </a:pPr>
            <a:r>
              <a:rPr lang="en-US" sz="4400" b="1" dirty="0">
                <a:solidFill>
                  <a:srgbClr val="B05F3A"/>
                </a:solidFill>
                <a:latin typeface="Cambria" pitchFamily="34" charset="0"/>
                <a:ea typeface="Cambria" pitchFamily="34" charset="-122"/>
                <a:cs typeface="Cambria" pitchFamily="34" charset="-120"/>
              </a:rPr>
              <a:t>79</a:t>
            </a:r>
            <a:endParaRPr lang="en-US" sz="4400" dirty="0"/>
          </a:p>
        </p:txBody>
      </p:sp>
      <p:sp>
        <p:nvSpPr>
          <p:cNvPr id="14" name="Text 12"/>
          <p:cNvSpPr txBox="1"/>
          <p:nvPr/>
        </p:nvSpPr>
        <p:spPr>
          <a:xfrm>
            <a:off x="6461608" y="2761488"/>
            <a:ext cx="2087804" cy="731520"/>
          </a:xfrm>
          <a:prstGeom prst="rect">
            <a:avLst/>
          </a:prstGeom>
          <a:noFill/>
          <a:ln/>
        </p:spPr>
        <p:txBody>
          <a:bodyPr wrap="square" lIns="0" tIns="0" rIns="0" bIns="0" rtlCol="0" anchor="t"/>
          <a:lstStyle/>
          <a:p>
            <a:pPr indent="0" marL="0">
              <a:buNone/>
            </a:pPr>
            <a:r>
              <a:rPr lang="en-US" sz="1300" b="1" dirty="0">
                <a:solidFill>
                  <a:srgbClr val="12212E"/>
                </a:solidFill>
                <a:latin typeface="Calibri" pitchFamily="34" charset="0"/>
                <a:ea typeface="Calibri" pitchFamily="34" charset="-122"/>
                <a:cs typeface="Calibri" pitchFamily="34" charset="-120"/>
              </a:rPr>
              <a:t>spécialistes du dommage corporel au barreau de Paris</a:t>
            </a:r>
            <a:endParaRPr lang="en-US" sz="1300" dirty="0"/>
          </a:p>
        </p:txBody>
      </p:sp>
      <p:sp>
        <p:nvSpPr>
          <p:cNvPr id="15" name="Text 13"/>
          <p:cNvSpPr txBox="1"/>
          <p:nvPr/>
        </p:nvSpPr>
        <p:spPr>
          <a:xfrm>
            <a:off x="6461608" y="3493008"/>
            <a:ext cx="2087804" cy="457200"/>
          </a:xfrm>
          <a:prstGeom prst="rect">
            <a:avLst/>
          </a:prstGeom>
          <a:noFill/>
          <a:ln/>
        </p:spPr>
        <p:txBody>
          <a:bodyPr wrap="square" lIns="0" tIns="0" rIns="0" bIns="0" rtlCol="0" anchor="t"/>
          <a:lstStyle/>
          <a:p>
            <a:pPr indent="0" marL="0">
              <a:buNone/>
            </a:pPr>
            <a:r>
              <a:rPr lang="en-US" sz="1050" dirty="0">
                <a:solidFill>
                  <a:srgbClr val="5A6673"/>
                </a:solidFill>
                <a:latin typeface="Calibri" pitchFamily="34" charset="0"/>
                <a:ea typeface="Calibri" pitchFamily="34" charset="-122"/>
                <a:cs typeface="Calibri" pitchFamily="34" charset="-120"/>
              </a:rPr>
              <a:t>Sur plus de 33 000 avocats inscrits</a:t>
            </a:r>
            <a:endParaRPr lang="en-US" sz="1050" dirty="0"/>
          </a:p>
        </p:txBody>
      </p:sp>
      <p:sp>
        <p:nvSpPr>
          <p:cNvPr id="16" name="Shape 14"/>
          <p:cNvSpPr/>
          <p:nvPr/>
        </p:nvSpPr>
        <p:spPr>
          <a:xfrm>
            <a:off x="9052331" y="1737360"/>
            <a:ext cx="2545004" cy="2331720"/>
          </a:xfrm>
          <a:prstGeom prst="roundRect">
            <a:avLst>
              <a:gd name="adj" fmla="val 2353"/>
            </a:avLst>
          </a:prstGeom>
          <a:solidFill>
            <a:srgbClr val="F2F5F8"/>
          </a:solidFill>
          <a:ln/>
        </p:spPr>
      </p:sp>
      <p:sp>
        <p:nvSpPr>
          <p:cNvPr id="17" name="Text 15"/>
          <p:cNvSpPr txBox="1"/>
          <p:nvPr/>
        </p:nvSpPr>
        <p:spPr>
          <a:xfrm>
            <a:off x="9280931" y="1874520"/>
            <a:ext cx="2087804" cy="868680"/>
          </a:xfrm>
          <a:prstGeom prst="rect">
            <a:avLst/>
          </a:prstGeom>
          <a:noFill/>
          <a:ln/>
        </p:spPr>
        <p:txBody>
          <a:bodyPr wrap="square" lIns="0" tIns="0" rIns="0" bIns="0" rtlCol="0" anchor="ctr"/>
          <a:lstStyle/>
          <a:p>
            <a:pPr indent="0" marL="0">
              <a:buNone/>
            </a:pPr>
            <a:r>
              <a:rPr lang="en-US" sz="4400" b="1" dirty="0">
                <a:solidFill>
                  <a:srgbClr val="1F4B7A"/>
                </a:solidFill>
                <a:latin typeface="Cambria" pitchFamily="34" charset="0"/>
                <a:ea typeface="Cambria" pitchFamily="34" charset="-122"/>
                <a:cs typeface="Cambria" pitchFamily="34" charset="-120"/>
              </a:rPr>
              <a:t>~600</a:t>
            </a:r>
            <a:endParaRPr lang="en-US" sz="4400" dirty="0"/>
          </a:p>
        </p:txBody>
      </p:sp>
      <p:sp>
        <p:nvSpPr>
          <p:cNvPr id="18" name="Text 16"/>
          <p:cNvSpPr txBox="1"/>
          <p:nvPr/>
        </p:nvSpPr>
        <p:spPr>
          <a:xfrm>
            <a:off x="9280931" y="2761488"/>
            <a:ext cx="2087804" cy="731520"/>
          </a:xfrm>
          <a:prstGeom prst="rect">
            <a:avLst/>
          </a:prstGeom>
          <a:noFill/>
          <a:ln/>
        </p:spPr>
        <p:txBody>
          <a:bodyPr wrap="square" lIns="0" tIns="0" rIns="0" bIns="0" rtlCol="0" anchor="t"/>
          <a:lstStyle/>
          <a:p>
            <a:pPr indent="0" marL="0">
              <a:buNone/>
            </a:pPr>
            <a:r>
              <a:rPr lang="en-US" sz="1300" b="1" dirty="0">
                <a:solidFill>
                  <a:srgbClr val="12212E"/>
                </a:solidFill>
                <a:latin typeface="Calibri" pitchFamily="34" charset="0"/>
                <a:ea typeface="Calibri" pitchFamily="34" charset="-122"/>
                <a:cs typeface="Calibri" pitchFamily="34" charset="-120"/>
              </a:rPr>
              <a:t>avocats au barreau de Grenoble</a:t>
            </a:r>
            <a:endParaRPr lang="en-US" sz="1300" dirty="0"/>
          </a:p>
        </p:txBody>
      </p:sp>
      <p:sp>
        <p:nvSpPr>
          <p:cNvPr id="19" name="Text 17"/>
          <p:cNvSpPr txBox="1"/>
          <p:nvPr/>
        </p:nvSpPr>
        <p:spPr>
          <a:xfrm>
            <a:off x="9280931" y="3493008"/>
            <a:ext cx="2087804" cy="457200"/>
          </a:xfrm>
          <a:prstGeom prst="rect">
            <a:avLst/>
          </a:prstGeom>
          <a:noFill/>
          <a:ln/>
        </p:spPr>
        <p:txBody>
          <a:bodyPr wrap="square" lIns="0" tIns="0" rIns="0" bIns="0" rtlCol="0" anchor="t"/>
          <a:lstStyle/>
          <a:p>
            <a:pPr indent="0" marL="0">
              <a:buNone/>
            </a:pPr>
            <a:r>
              <a:rPr lang="en-US" sz="1050" dirty="0">
                <a:solidFill>
                  <a:srgbClr val="5A6673"/>
                </a:solidFill>
                <a:latin typeface="Calibri" pitchFamily="34" charset="0"/>
                <a:ea typeface="Calibri" pitchFamily="34" charset="-122"/>
                <a:cs typeface="Calibri" pitchFamily="34" charset="-120"/>
              </a:rPr>
              <a:t>Toutes matières confondues</a:t>
            </a:r>
            <a:endParaRPr lang="en-US" sz="1050" dirty="0"/>
          </a:p>
        </p:txBody>
      </p:sp>
      <p:sp>
        <p:nvSpPr>
          <p:cNvPr id="20" name="Shape 18"/>
          <p:cNvSpPr/>
          <p:nvPr/>
        </p:nvSpPr>
        <p:spPr>
          <a:xfrm>
            <a:off x="594360" y="4343400"/>
            <a:ext cx="11002975" cy="1417320"/>
          </a:xfrm>
          <a:prstGeom prst="roundRect">
            <a:avLst>
              <a:gd name="adj" fmla="val 3871"/>
            </a:avLst>
          </a:prstGeom>
          <a:solidFill>
            <a:srgbClr val="12212E"/>
          </a:solidFill>
          <a:ln/>
        </p:spPr>
      </p:sp>
      <p:sp>
        <p:nvSpPr>
          <p:cNvPr id="21" name="Text 19"/>
          <p:cNvSpPr txBox="1"/>
          <p:nvPr/>
        </p:nvSpPr>
        <p:spPr>
          <a:xfrm>
            <a:off x="960120" y="4553712"/>
            <a:ext cx="10271455" cy="347472"/>
          </a:xfrm>
          <a:prstGeom prst="rect">
            <a:avLst/>
          </a:prstGeom>
          <a:noFill/>
          <a:ln/>
        </p:spPr>
        <p:txBody>
          <a:bodyPr wrap="square" lIns="0" tIns="0" rIns="0" bIns="0" rtlCol="0" anchor="ctr"/>
          <a:lstStyle/>
          <a:p>
            <a:pPr indent="0" marL="0">
              <a:buNone/>
            </a:pPr>
            <a:r>
              <a:rPr lang="en-US" sz="1500" b="1" dirty="0">
                <a:solidFill>
                  <a:srgbClr val="E0956B"/>
                </a:solidFill>
                <a:latin typeface="Calibri" pitchFamily="34" charset="0"/>
                <a:ea typeface="Calibri" pitchFamily="34" charset="-122"/>
                <a:cs typeface="Calibri" pitchFamily="34" charset="-120"/>
              </a:rPr>
              <a:t>Croisez les deux chiffres en orange.</a:t>
            </a:r>
            <a:endParaRPr lang="en-US" sz="1500" dirty="0"/>
          </a:p>
        </p:txBody>
      </p:sp>
      <p:sp>
        <p:nvSpPr>
          <p:cNvPr id="22" name="Text 20"/>
          <p:cNvSpPr txBox="1"/>
          <p:nvPr/>
        </p:nvSpPr>
        <p:spPr>
          <a:xfrm>
            <a:off x="960120" y="4937760"/>
            <a:ext cx="10271455" cy="685800"/>
          </a:xfrm>
          <a:prstGeom prst="rect">
            <a:avLst/>
          </a:prstGeom>
          <a:noFill/>
          <a:ln/>
        </p:spPr>
        <p:txBody>
          <a:bodyPr wrap="square" lIns="0" tIns="0" rIns="0" bIns="0" rtlCol="0" anchor="ctr"/>
          <a:lstStyle/>
          <a:p>
            <a:pPr indent="0" marL="0">
              <a:lnSpc>
                <a:spcPts val="2000"/>
              </a:lnSpc>
              <a:buNone/>
            </a:pPr>
            <a:r>
              <a:rPr lang="en-US" sz="1400" dirty="0">
                <a:solidFill>
                  <a:srgbClr val="D6DEE7"/>
                </a:solidFill>
                <a:latin typeface="Calibri" pitchFamily="34" charset="0"/>
                <a:ea typeface="Calibri" pitchFamily="34" charset="-122"/>
                <a:cs typeface="Calibri" pitchFamily="34" charset="-120"/>
              </a:rPr>
              <a:t>Le nombre de spécialistes du dommage corporel, disponibles, prêts au salariat et intéressés par Grenoble tient sur une main. Ce vivier ne lit pas les annonces, parce qu'il n'est pas en recherche.</a:t>
            </a:r>
            <a:endParaRPr lang="en-US" sz="1400" dirty="0"/>
          </a:p>
        </p:txBody>
      </p:sp>
      <p:sp>
        <p:nvSpPr>
          <p:cNvPr id="23" name="Text 21"/>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Sources détaillées : fichier SOURCES.md du dossier de recrutement.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LA STRATÉGIE</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Ce que ces chiffres imposent</a:t>
            </a:r>
            <a:endParaRPr lang="en-US" sz="3300" dirty="0"/>
          </a:p>
        </p:txBody>
      </p:sp>
      <p:sp>
        <p:nvSpPr>
          <p:cNvPr id="4" name="Text 2"/>
          <p:cNvSpPr txBox="1"/>
          <p:nvPr/>
        </p:nvSpPr>
        <p:spPr>
          <a:xfrm>
            <a:off x="594360" y="1645920"/>
            <a:ext cx="11002975" cy="640080"/>
          </a:xfrm>
          <a:prstGeom prst="rect">
            <a:avLst/>
          </a:prstGeom>
          <a:noFill/>
          <a:ln/>
        </p:spPr>
        <p:txBody>
          <a:bodyPr wrap="square" lIns="0" tIns="0" rIns="0" bIns="0" rtlCol="0" anchor="t"/>
          <a:lstStyle/>
          <a:p>
            <a:pPr indent="0" marL="0">
              <a:lnSpc>
                <a:spcPts val="2200"/>
              </a:lnSpc>
              <a:buNone/>
            </a:pPr>
            <a:r>
              <a:rPr lang="en-US" sz="1500" dirty="0">
                <a:solidFill>
                  <a:srgbClr val="5A6673"/>
                </a:solidFill>
                <a:latin typeface="Calibri" pitchFamily="34" charset="0"/>
                <a:ea typeface="Calibri" pitchFamily="34" charset="-122"/>
                <a:cs typeface="Calibri" pitchFamily="34" charset="-120"/>
              </a:rPr>
              <a:t>L'annonce sert à ne pas passer à côté d'un candidat déjà en mouvement, et à donner un point d'atterrissage à notre approche directe. Elle ne produira pas notre futur associé.</a:t>
            </a:r>
            <a:endParaRPr lang="en-US" sz="1500" dirty="0"/>
          </a:p>
        </p:txBody>
      </p:sp>
      <p:sp>
        <p:nvSpPr>
          <p:cNvPr id="5" name="Shape 3"/>
          <p:cNvSpPr/>
          <p:nvPr/>
        </p:nvSpPr>
        <p:spPr>
          <a:xfrm>
            <a:off x="594360" y="2514600"/>
            <a:ext cx="7647219" cy="914400"/>
          </a:xfrm>
          <a:prstGeom prst="rect">
            <a:avLst/>
          </a:prstGeom>
          <a:solidFill>
            <a:srgbClr val="123E6B"/>
          </a:solidFill>
          <a:ln/>
        </p:spPr>
      </p:sp>
      <p:sp>
        <p:nvSpPr>
          <p:cNvPr id="6" name="Text 4"/>
          <p:cNvSpPr txBox="1"/>
          <p:nvPr/>
        </p:nvSpPr>
        <p:spPr>
          <a:xfrm>
            <a:off x="740664" y="2651760"/>
            <a:ext cx="7446051"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70 %</a:t>
            </a:r>
            <a:endParaRPr lang="en-US" sz="3000" dirty="0"/>
          </a:p>
        </p:txBody>
      </p:sp>
      <p:sp>
        <p:nvSpPr>
          <p:cNvPr id="7" name="Text 5"/>
          <p:cNvSpPr txBox="1"/>
          <p:nvPr/>
        </p:nvSpPr>
        <p:spPr>
          <a:xfrm>
            <a:off x="594360" y="3529584"/>
            <a:ext cx="7610643" cy="475488"/>
          </a:xfrm>
          <a:prstGeom prst="rect">
            <a:avLst/>
          </a:prstGeom>
          <a:noFill/>
          <a:ln/>
        </p:spPr>
        <p:txBody>
          <a:bodyPr wrap="square" lIns="0" tIns="0" rIns="0" bIns="0" rtlCol="0" anchor="t"/>
          <a:lstStyle/>
          <a:p>
            <a:pPr indent="0" marL="0">
              <a:lnSpc>
                <a:spcPts val="1800"/>
              </a:lnSpc>
              <a:buNone/>
            </a:pPr>
            <a:r>
              <a:rPr lang="en-US" sz="1400" b="1" dirty="0">
                <a:solidFill>
                  <a:srgbClr val="12212E"/>
                </a:solidFill>
                <a:latin typeface="Calibri" pitchFamily="34" charset="0"/>
                <a:ea typeface="Calibri" pitchFamily="34" charset="-122"/>
                <a:cs typeface="Calibri" pitchFamily="34" charset="-120"/>
              </a:rPr>
              <a:t>Approche directe</a:t>
            </a:r>
            <a:endParaRPr lang="en-US" sz="1400" dirty="0"/>
          </a:p>
        </p:txBody>
      </p:sp>
      <p:sp>
        <p:nvSpPr>
          <p:cNvPr id="8" name="Text 6"/>
          <p:cNvSpPr txBox="1"/>
          <p:nvPr/>
        </p:nvSpPr>
        <p:spPr>
          <a:xfrm>
            <a:off x="594360" y="4041648"/>
            <a:ext cx="7519203" cy="77724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Nous écrivons nous-mêmes, nominativement, à des avocats identifiés</a:t>
            </a:r>
            <a:endParaRPr lang="en-US" sz="1150" dirty="0"/>
          </a:p>
        </p:txBody>
      </p:sp>
      <p:sp>
        <p:nvSpPr>
          <p:cNvPr id="9" name="Shape 7"/>
          <p:cNvSpPr/>
          <p:nvPr/>
        </p:nvSpPr>
        <p:spPr>
          <a:xfrm>
            <a:off x="8296443" y="2514600"/>
            <a:ext cx="2145731" cy="914400"/>
          </a:xfrm>
          <a:prstGeom prst="rect">
            <a:avLst/>
          </a:prstGeom>
          <a:solidFill>
            <a:srgbClr val="2E6DA8"/>
          </a:solidFill>
          <a:ln/>
        </p:spPr>
      </p:sp>
      <p:sp>
        <p:nvSpPr>
          <p:cNvPr id="10" name="Text 8"/>
          <p:cNvSpPr txBox="1"/>
          <p:nvPr/>
        </p:nvSpPr>
        <p:spPr>
          <a:xfrm>
            <a:off x="8442747" y="2651760"/>
            <a:ext cx="1944563"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20 %</a:t>
            </a:r>
            <a:endParaRPr lang="en-US" sz="3000" dirty="0"/>
          </a:p>
        </p:txBody>
      </p:sp>
      <p:sp>
        <p:nvSpPr>
          <p:cNvPr id="11" name="Text 9"/>
          <p:cNvSpPr txBox="1"/>
          <p:nvPr/>
        </p:nvSpPr>
        <p:spPr>
          <a:xfrm>
            <a:off x="8296443" y="3529584"/>
            <a:ext cx="2109155" cy="475488"/>
          </a:xfrm>
          <a:prstGeom prst="rect">
            <a:avLst/>
          </a:prstGeom>
          <a:noFill/>
          <a:ln/>
        </p:spPr>
        <p:txBody>
          <a:bodyPr wrap="square" lIns="0" tIns="0" rIns="0" bIns="0" rtlCol="0" anchor="t"/>
          <a:lstStyle/>
          <a:p>
            <a:pPr indent="0" marL="0">
              <a:lnSpc>
                <a:spcPts val="1800"/>
              </a:lnSpc>
              <a:buNone/>
            </a:pPr>
            <a:r>
              <a:rPr lang="en-US" sz="1400" b="1" dirty="0">
                <a:solidFill>
                  <a:srgbClr val="12212E"/>
                </a:solidFill>
                <a:latin typeface="Calibri" pitchFamily="34" charset="0"/>
                <a:ea typeface="Calibri" pitchFamily="34" charset="-122"/>
                <a:cs typeface="Calibri" pitchFamily="34" charset="-120"/>
              </a:rPr>
              <a:t>Réseau et prescription</a:t>
            </a:r>
            <a:endParaRPr lang="en-US" sz="1400" dirty="0"/>
          </a:p>
        </p:txBody>
      </p:sp>
      <p:sp>
        <p:nvSpPr>
          <p:cNvPr id="12" name="Text 10"/>
          <p:cNvSpPr txBox="1"/>
          <p:nvPr/>
        </p:nvSpPr>
        <p:spPr>
          <a:xfrm>
            <a:off x="8296443" y="4041648"/>
            <a:ext cx="2017715" cy="77724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Barreaux, confrères, médecins de recours, associations</a:t>
            </a:r>
            <a:endParaRPr lang="en-US" sz="1150" dirty="0"/>
          </a:p>
        </p:txBody>
      </p:sp>
      <p:sp>
        <p:nvSpPr>
          <p:cNvPr id="13" name="Shape 11"/>
          <p:cNvSpPr/>
          <p:nvPr/>
        </p:nvSpPr>
        <p:spPr>
          <a:xfrm>
            <a:off x="10497038" y="2514600"/>
            <a:ext cx="1045434" cy="914400"/>
          </a:xfrm>
          <a:prstGeom prst="rect">
            <a:avLst/>
          </a:prstGeom>
          <a:solidFill>
            <a:srgbClr val="7FA9D0"/>
          </a:solidFill>
          <a:ln/>
        </p:spPr>
      </p:sp>
      <p:sp>
        <p:nvSpPr>
          <p:cNvPr id="14" name="Text 12"/>
          <p:cNvSpPr txBox="1"/>
          <p:nvPr/>
        </p:nvSpPr>
        <p:spPr>
          <a:xfrm>
            <a:off x="10643342" y="2651760"/>
            <a:ext cx="844266" cy="6400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10 %</a:t>
            </a:r>
            <a:endParaRPr lang="en-US" sz="2200" dirty="0"/>
          </a:p>
        </p:txBody>
      </p:sp>
      <p:sp>
        <p:nvSpPr>
          <p:cNvPr id="15" name="Text 13"/>
          <p:cNvSpPr txBox="1"/>
          <p:nvPr/>
        </p:nvSpPr>
        <p:spPr>
          <a:xfrm>
            <a:off x="10497038" y="3529584"/>
            <a:ext cx="1008858" cy="475488"/>
          </a:xfrm>
          <a:prstGeom prst="rect">
            <a:avLst/>
          </a:prstGeom>
          <a:noFill/>
          <a:ln/>
        </p:spPr>
        <p:txBody>
          <a:bodyPr wrap="square" lIns="0" tIns="0" rIns="0" bIns="0" rtlCol="0" anchor="t"/>
          <a:lstStyle/>
          <a:p>
            <a:pPr indent="0" marL="0">
              <a:lnSpc>
                <a:spcPts val="1800"/>
              </a:lnSpc>
              <a:buNone/>
            </a:pPr>
            <a:r>
              <a:rPr lang="en-US" sz="1400" b="1" dirty="0">
                <a:solidFill>
                  <a:srgbClr val="12212E"/>
                </a:solidFill>
                <a:latin typeface="Calibri" pitchFamily="34" charset="0"/>
                <a:ea typeface="Calibri" pitchFamily="34" charset="-122"/>
                <a:cs typeface="Calibri" pitchFamily="34" charset="-120"/>
              </a:rPr>
              <a:t>Diffusion d'annonce</a:t>
            </a:r>
            <a:endParaRPr lang="en-US" sz="1400" dirty="0"/>
          </a:p>
        </p:txBody>
      </p:sp>
      <p:sp>
        <p:nvSpPr>
          <p:cNvPr id="16" name="Text 14"/>
          <p:cNvSpPr txBox="1"/>
          <p:nvPr/>
        </p:nvSpPr>
        <p:spPr>
          <a:xfrm>
            <a:off x="10497038" y="4041648"/>
            <a:ext cx="917418" cy="77724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Job boards spécialisés et généralistes</a:t>
            </a:r>
            <a:endParaRPr lang="en-US" sz="1150" dirty="0"/>
          </a:p>
        </p:txBody>
      </p:sp>
      <p:sp>
        <p:nvSpPr>
          <p:cNvPr id="17" name="Shape 15"/>
          <p:cNvSpPr/>
          <p:nvPr/>
        </p:nvSpPr>
        <p:spPr>
          <a:xfrm>
            <a:off x="594360" y="4956048"/>
            <a:ext cx="11002975" cy="1097280"/>
          </a:xfrm>
          <a:prstGeom prst="roundRect">
            <a:avLst>
              <a:gd name="adj" fmla="val 5000"/>
            </a:avLst>
          </a:prstGeom>
          <a:solidFill>
            <a:srgbClr val="FBF1EC"/>
          </a:solidFill>
          <a:ln/>
        </p:spPr>
      </p:sp>
      <p:sp>
        <p:nvSpPr>
          <p:cNvPr id="18" name="Text 16"/>
          <p:cNvSpPr txBox="1"/>
          <p:nvPr/>
        </p:nvSpPr>
        <p:spPr>
          <a:xfrm>
            <a:off x="914400" y="5102352"/>
            <a:ext cx="5486400" cy="274320"/>
          </a:xfrm>
          <a:prstGeom prst="rect">
            <a:avLst/>
          </a:prstGeom>
          <a:noFill/>
          <a:ln/>
        </p:spPr>
        <p:txBody>
          <a:bodyPr wrap="square" lIns="0" tIns="0" rIns="0" bIns="0" rtlCol="0" anchor="ctr"/>
          <a:lstStyle/>
          <a:p>
            <a:pPr indent="0" marL="0">
              <a:buNone/>
            </a:pPr>
            <a:r>
              <a:rPr lang="en-US" sz="1300" b="1" dirty="0">
                <a:solidFill>
                  <a:srgbClr val="B05F3A"/>
                </a:solidFill>
                <a:latin typeface="Calibri" pitchFamily="34" charset="0"/>
                <a:ea typeface="Calibri" pitchFamily="34" charset="-122"/>
                <a:cs typeface="Calibri" pitchFamily="34" charset="-120"/>
              </a:rPr>
              <a:t>Ce qui compense le statut salarié</a:t>
            </a:r>
            <a:endParaRPr lang="en-US" sz="1300" dirty="0"/>
          </a:p>
        </p:txBody>
      </p:sp>
      <p:sp>
        <p:nvSpPr>
          <p:cNvPr id="19" name="Text 17"/>
          <p:cNvSpPr txBox="1"/>
          <p:nvPr/>
        </p:nvSpPr>
        <p:spPr>
          <a:xfrm>
            <a:off x="914400" y="5394960"/>
            <a:ext cx="10362895" cy="548640"/>
          </a:xfrm>
          <a:prstGeom prst="rect">
            <a:avLst/>
          </a:prstGeom>
          <a:noFill/>
          <a:ln/>
        </p:spPr>
        <p:txBody>
          <a:bodyPr wrap="square" lIns="0" tIns="0" rIns="0" bIns="0" rtlCol="0" anchor="t"/>
          <a:lstStyle/>
          <a:p>
            <a:pPr indent="0" marL="0">
              <a:lnSpc>
                <a:spcPts val="1800"/>
              </a:lnSpc>
              <a:buNone/>
            </a:pPr>
            <a:r>
              <a:rPr lang="en-US" sz="1300" dirty="0">
                <a:solidFill>
                  <a:srgbClr val="12212E"/>
                </a:solidFill>
                <a:latin typeface="Calibri" pitchFamily="34" charset="0"/>
                <a:ea typeface="Calibri" pitchFamily="34" charset="-122"/>
                <a:cs typeface="Calibri" pitchFamily="34" charset="-120"/>
              </a:rPr>
              <a:t>Le salariat représente 2,5 % de la profession : nous demandons au candidat d'accepter un statut minoritaire. La perspective de reprise est ce qui le compense, à condition d'être dite clairement dès l'annonce.</a:t>
            </a:r>
            <a:endParaRPr lang="en-US" sz="1300" dirty="0"/>
          </a:p>
        </p:txBody>
      </p:sp>
      <p:sp>
        <p:nvSpPr>
          <p:cNvPr id="20" name="Text 18"/>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Détail : document 05, plan de diffusion.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APPROCHE DIRECTE</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Notre meilleur fichier est déjà ici</a:t>
            </a:r>
            <a:endParaRPr lang="en-US" sz="3300" dirty="0"/>
          </a:p>
        </p:txBody>
      </p:sp>
      <p:sp>
        <p:nvSpPr>
          <p:cNvPr id="4" name="Shape 2"/>
          <p:cNvSpPr/>
          <p:nvPr/>
        </p:nvSpPr>
        <p:spPr>
          <a:xfrm>
            <a:off x="594360" y="1645920"/>
            <a:ext cx="11002975" cy="1600200"/>
          </a:xfrm>
          <a:prstGeom prst="roundRect">
            <a:avLst>
              <a:gd name="adj" fmla="val 3429"/>
            </a:avLst>
          </a:prstGeom>
          <a:solidFill>
            <a:srgbClr val="12212E"/>
          </a:solidFill>
          <a:ln/>
        </p:spPr>
      </p:sp>
      <p:sp>
        <p:nvSpPr>
          <p:cNvPr id="5" name="Text 3"/>
          <p:cNvSpPr txBox="1"/>
          <p:nvPr/>
        </p:nvSpPr>
        <p:spPr>
          <a:xfrm>
            <a:off x="1005840" y="1810512"/>
            <a:ext cx="10180015" cy="713232"/>
          </a:xfrm>
          <a:prstGeom prst="rect">
            <a:avLst/>
          </a:prstGeom>
          <a:noFill/>
          <a:ln/>
        </p:spPr>
        <p:txBody>
          <a:bodyPr wrap="square" lIns="0" tIns="0" rIns="0" bIns="0" rtlCol="0" anchor="t"/>
          <a:lstStyle/>
          <a:p>
            <a:pPr indent="0" marL="0">
              <a:lnSpc>
                <a:spcPts val="2700"/>
              </a:lnSpc>
              <a:buNone/>
            </a:pPr>
            <a:r>
              <a:rPr lang="en-US" sz="2100" b="1" dirty="0">
                <a:solidFill>
                  <a:srgbClr val="FFFFFF"/>
                </a:solidFill>
                <a:latin typeface="Cambria" pitchFamily="34" charset="0"/>
                <a:ea typeface="Cambria" pitchFamily="34" charset="-122"/>
                <a:cs typeface="Cambria" pitchFamily="34" charset="-120"/>
              </a:rPr>
              <a:t>Les avocats qu'Hervé Gerbi a affrontés en expertise et à l'audience depuis dix ans.</a:t>
            </a:r>
            <a:endParaRPr lang="en-US" sz="2100" dirty="0"/>
          </a:p>
        </p:txBody>
      </p:sp>
      <p:sp>
        <p:nvSpPr>
          <p:cNvPr id="6" name="Text 4"/>
          <p:cNvSpPr txBox="1"/>
          <p:nvPr/>
        </p:nvSpPr>
        <p:spPr>
          <a:xfrm>
            <a:off x="1005840" y="2505456"/>
            <a:ext cx="10180015" cy="621792"/>
          </a:xfrm>
          <a:prstGeom prst="rect">
            <a:avLst/>
          </a:prstGeom>
          <a:noFill/>
          <a:ln/>
        </p:spPr>
        <p:txBody>
          <a:bodyPr wrap="square" lIns="0" tIns="0" rIns="0" bIns="0" rtlCol="0" anchor="t"/>
          <a:lstStyle/>
          <a:p>
            <a:pPr indent="0" marL="0">
              <a:lnSpc>
                <a:spcPts val="1900"/>
              </a:lnSpc>
              <a:buNone/>
            </a:pPr>
            <a:r>
              <a:rPr lang="en-US" sz="1350" dirty="0">
                <a:solidFill>
                  <a:srgbClr val="D6DEE7"/>
                </a:solidFill>
                <a:latin typeface="Calibri" pitchFamily="34" charset="0"/>
                <a:ea typeface="Calibri" pitchFamily="34" charset="-122"/>
                <a:cs typeface="Calibri" pitchFamily="34" charset="-120"/>
              </a:rPr>
              <a:t>Il sait déjà lesquels sont bons, lesquels tiennent un dossier, lesquels parlent correctement aux victimes d'en face. Une heure de son temps pour dresser cette liste vaut plus que tout le budget de diffusion.</a:t>
            </a:r>
            <a:endParaRPr lang="en-US" sz="1350" dirty="0"/>
          </a:p>
        </p:txBody>
      </p:sp>
      <p:sp>
        <p:nvSpPr>
          <p:cNvPr id="7" name="Text 5"/>
          <p:cNvSpPr txBox="1"/>
          <p:nvPr/>
        </p:nvSpPr>
        <p:spPr>
          <a:xfrm>
            <a:off x="594360" y="3429000"/>
            <a:ext cx="11002975" cy="274320"/>
          </a:xfrm>
          <a:prstGeom prst="rect">
            <a:avLst/>
          </a:prstGeom>
          <a:noFill/>
          <a:ln/>
        </p:spPr>
        <p:txBody>
          <a:bodyPr wrap="square" lIns="0" tIns="0" rIns="0" bIns="0" rtlCol="0" anchor="t"/>
          <a:lstStyle/>
          <a:p>
            <a:pPr indent="0" marL="0">
              <a:buNone/>
            </a:pPr>
            <a:r>
              <a:rPr lang="en-US" sz="1300" b="1" dirty="0">
                <a:solidFill>
                  <a:srgbClr val="1F4B7A"/>
                </a:solidFill>
                <a:latin typeface="Calibri" pitchFamily="34" charset="0"/>
                <a:ea typeface="Calibri" pitchFamily="34" charset="-122"/>
                <a:cs typeface="Calibri" pitchFamily="34" charset="-120"/>
              </a:rPr>
              <a:t>Les autres sources, toutes publiques et gratuites</a:t>
            </a:r>
            <a:endParaRPr lang="en-US" sz="1300" dirty="0"/>
          </a:p>
        </p:txBody>
      </p:sp>
      <p:sp>
        <p:nvSpPr>
          <p:cNvPr id="8" name="Shape 6"/>
          <p:cNvSpPr/>
          <p:nvPr/>
        </p:nvSpPr>
        <p:spPr>
          <a:xfrm>
            <a:off x="594360" y="3794760"/>
            <a:ext cx="5364328" cy="987552"/>
          </a:xfrm>
          <a:prstGeom prst="roundRect">
            <a:avLst>
              <a:gd name="adj" fmla="val 5556"/>
            </a:avLst>
          </a:prstGeom>
          <a:solidFill>
            <a:srgbClr val="F2F5F8"/>
          </a:solidFill>
          <a:ln/>
        </p:spPr>
      </p:sp>
      <p:sp>
        <p:nvSpPr>
          <p:cNvPr id="9" name="Text 7"/>
          <p:cNvSpPr txBox="1"/>
          <p:nvPr/>
        </p:nvSpPr>
        <p:spPr>
          <a:xfrm>
            <a:off x="822960" y="3941064"/>
            <a:ext cx="4907128" cy="274320"/>
          </a:xfrm>
          <a:prstGeom prst="rect">
            <a:avLst/>
          </a:prstGeom>
          <a:noFill/>
          <a:ln/>
        </p:spPr>
        <p:txBody>
          <a:bodyPr wrap="square" lIns="0" tIns="0" rIns="0" bIns="0" rtlCol="0" anchor="ctr"/>
          <a:lstStyle/>
          <a:p>
            <a:pPr indent="0" marL="0">
              <a:buNone/>
            </a:pPr>
            <a:r>
              <a:rPr lang="en-US" sz="1350" b="1" dirty="0">
                <a:solidFill>
                  <a:srgbClr val="12212E"/>
                </a:solidFill>
                <a:latin typeface="Calibri" pitchFamily="34" charset="0"/>
                <a:ea typeface="Calibri" pitchFamily="34" charset="-122"/>
                <a:cs typeface="Calibri" pitchFamily="34" charset="-120"/>
              </a:rPr>
              <a:t>Plateforme de spécialisation du CNB</a:t>
            </a:r>
            <a:endParaRPr lang="en-US" sz="1350" dirty="0"/>
          </a:p>
        </p:txBody>
      </p:sp>
      <p:sp>
        <p:nvSpPr>
          <p:cNvPr id="10" name="Text 8"/>
          <p:cNvSpPr txBox="1"/>
          <p:nvPr/>
        </p:nvSpPr>
        <p:spPr>
          <a:xfrm>
            <a:off x="822960" y="4251960"/>
            <a:ext cx="4907128" cy="475488"/>
          </a:xfrm>
          <a:prstGeom prst="rect">
            <a:avLst/>
          </a:prstGeom>
          <a:noFill/>
          <a:ln/>
        </p:spPr>
        <p:txBody>
          <a:bodyPr wrap="square" lIns="0" tIns="0" rIns="0" bIns="0" rtlCol="0" anchor="ctr"/>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L'annuaire officiel des titulaires du certificat en dommage corporel, filtrable par région</a:t>
            </a:r>
            <a:endParaRPr lang="en-US" sz="1150" dirty="0"/>
          </a:p>
        </p:txBody>
      </p:sp>
      <p:sp>
        <p:nvSpPr>
          <p:cNvPr id="11" name="Shape 9"/>
          <p:cNvSpPr/>
          <p:nvPr/>
        </p:nvSpPr>
        <p:spPr>
          <a:xfrm>
            <a:off x="6233008" y="3794760"/>
            <a:ext cx="5364328" cy="987552"/>
          </a:xfrm>
          <a:prstGeom prst="roundRect">
            <a:avLst>
              <a:gd name="adj" fmla="val 5556"/>
            </a:avLst>
          </a:prstGeom>
          <a:solidFill>
            <a:srgbClr val="F2F5F8"/>
          </a:solidFill>
          <a:ln/>
        </p:spPr>
      </p:sp>
      <p:sp>
        <p:nvSpPr>
          <p:cNvPr id="12" name="Text 10"/>
          <p:cNvSpPr txBox="1"/>
          <p:nvPr/>
        </p:nvSpPr>
        <p:spPr>
          <a:xfrm>
            <a:off x="6461608" y="3941064"/>
            <a:ext cx="4907128" cy="274320"/>
          </a:xfrm>
          <a:prstGeom prst="rect">
            <a:avLst/>
          </a:prstGeom>
          <a:noFill/>
          <a:ln/>
        </p:spPr>
        <p:txBody>
          <a:bodyPr wrap="square" lIns="0" tIns="0" rIns="0" bIns="0" rtlCol="0" anchor="ctr"/>
          <a:lstStyle/>
          <a:p>
            <a:pPr indent="0" marL="0">
              <a:buNone/>
            </a:pPr>
            <a:r>
              <a:rPr lang="en-US" sz="1350" b="1" dirty="0">
                <a:solidFill>
                  <a:srgbClr val="12212E"/>
                </a:solidFill>
                <a:latin typeface="Calibri" pitchFamily="34" charset="0"/>
                <a:ea typeface="Calibri" pitchFamily="34" charset="-122"/>
                <a:cs typeface="Calibri" pitchFamily="34" charset="-120"/>
              </a:rPr>
              <a:t>ANADAVI</a:t>
            </a:r>
            <a:endParaRPr lang="en-US" sz="1350" dirty="0"/>
          </a:p>
        </p:txBody>
      </p:sp>
      <p:sp>
        <p:nvSpPr>
          <p:cNvPr id="13" name="Text 11"/>
          <p:cNvSpPr txBox="1"/>
          <p:nvPr/>
        </p:nvSpPr>
        <p:spPr>
          <a:xfrm>
            <a:off x="6461608" y="4251960"/>
            <a:ext cx="4907128" cy="475488"/>
          </a:xfrm>
          <a:prstGeom prst="rect">
            <a:avLst/>
          </a:prstGeom>
          <a:noFill/>
          <a:ln/>
        </p:spPr>
        <p:txBody>
          <a:bodyPr wrap="square" lIns="0" tIns="0" rIns="0" bIns="0" rtlCol="0" anchor="ctr"/>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L'association ne liste que les titulaires de la spécialité. Le vivier le plus dense du quart sud-est</a:t>
            </a:r>
            <a:endParaRPr lang="en-US" sz="1150" dirty="0"/>
          </a:p>
        </p:txBody>
      </p:sp>
      <p:sp>
        <p:nvSpPr>
          <p:cNvPr id="14" name="Shape 12"/>
          <p:cNvSpPr/>
          <p:nvPr/>
        </p:nvSpPr>
        <p:spPr>
          <a:xfrm>
            <a:off x="594360" y="4892040"/>
            <a:ext cx="5364328" cy="987552"/>
          </a:xfrm>
          <a:prstGeom prst="roundRect">
            <a:avLst>
              <a:gd name="adj" fmla="val 5556"/>
            </a:avLst>
          </a:prstGeom>
          <a:solidFill>
            <a:srgbClr val="F2F5F8"/>
          </a:solidFill>
          <a:ln/>
        </p:spPr>
      </p:sp>
      <p:sp>
        <p:nvSpPr>
          <p:cNvPr id="15" name="Text 13"/>
          <p:cNvSpPr txBox="1"/>
          <p:nvPr/>
        </p:nvSpPr>
        <p:spPr>
          <a:xfrm>
            <a:off x="822960" y="5038344"/>
            <a:ext cx="4907128" cy="274320"/>
          </a:xfrm>
          <a:prstGeom prst="rect">
            <a:avLst/>
          </a:prstGeom>
          <a:noFill/>
          <a:ln/>
        </p:spPr>
        <p:txBody>
          <a:bodyPr wrap="square" lIns="0" tIns="0" rIns="0" bIns="0" rtlCol="0" anchor="ctr"/>
          <a:lstStyle/>
          <a:p>
            <a:pPr indent="0" marL="0">
              <a:buNone/>
            </a:pPr>
            <a:r>
              <a:rPr lang="en-US" sz="1350" b="1" dirty="0">
                <a:solidFill>
                  <a:srgbClr val="12212E"/>
                </a:solidFill>
                <a:latin typeface="Calibri" pitchFamily="34" charset="0"/>
                <a:ea typeface="Calibri" pitchFamily="34" charset="-122"/>
                <a:cs typeface="Calibri" pitchFamily="34" charset="-120"/>
              </a:rPr>
              <a:t>Annuaires des barreaux</a:t>
            </a:r>
            <a:endParaRPr lang="en-US" sz="1350" dirty="0"/>
          </a:p>
        </p:txBody>
      </p:sp>
      <p:sp>
        <p:nvSpPr>
          <p:cNvPr id="16" name="Text 14"/>
          <p:cNvSpPr txBox="1"/>
          <p:nvPr/>
        </p:nvSpPr>
        <p:spPr>
          <a:xfrm>
            <a:off x="822960" y="5349240"/>
            <a:ext cx="4907128" cy="475488"/>
          </a:xfrm>
          <a:prstGeom prst="rect">
            <a:avLst/>
          </a:prstGeom>
          <a:noFill/>
          <a:ln/>
        </p:spPr>
        <p:txBody>
          <a:bodyPr wrap="square" lIns="0" tIns="0" rIns="0" bIns="0" rtlCol="0" anchor="ctr"/>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Lyon, Chambéry, Annecy, Valence, Saint-Étienne, Clermont-Ferrand</a:t>
            </a:r>
            <a:endParaRPr lang="en-US" sz="1150" dirty="0"/>
          </a:p>
        </p:txBody>
      </p:sp>
      <p:sp>
        <p:nvSpPr>
          <p:cNvPr id="17" name="Shape 15"/>
          <p:cNvSpPr/>
          <p:nvPr/>
        </p:nvSpPr>
        <p:spPr>
          <a:xfrm>
            <a:off x="6233008" y="4892040"/>
            <a:ext cx="5364328" cy="987552"/>
          </a:xfrm>
          <a:prstGeom prst="roundRect">
            <a:avLst>
              <a:gd name="adj" fmla="val 5556"/>
            </a:avLst>
          </a:prstGeom>
          <a:solidFill>
            <a:srgbClr val="F2F5F8"/>
          </a:solidFill>
          <a:ln/>
        </p:spPr>
      </p:sp>
      <p:sp>
        <p:nvSpPr>
          <p:cNvPr id="18" name="Text 16"/>
          <p:cNvSpPr txBox="1"/>
          <p:nvPr/>
        </p:nvSpPr>
        <p:spPr>
          <a:xfrm>
            <a:off x="6461608" y="5038344"/>
            <a:ext cx="4907128" cy="274320"/>
          </a:xfrm>
          <a:prstGeom prst="rect">
            <a:avLst/>
          </a:prstGeom>
          <a:noFill/>
          <a:ln/>
        </p:spPr>
        <p:txBody>
          <a:bodyPr wrap="square" lIns="0" tIns="0" rIns="0" bIns="0" rtlCol="0" anchor="ctr"/>
          <a:lstStyle/>
          <a:p>
            <a:pPr indent="0" marL="0">
              <a:buNone/>
            </a:pPr>
            <a:r>
              <a:rPr lang="en-US" sz="1350" b="1" dirty="0">
                <a:solidFill>
                  <a:srgbClr val="12212E"/>
                </a:solidFill>
                <a:latin typeface="Calibri" pitchFamily="34" charset="0"/>
                <a:ea typeface="Calibri" pitchFamily="34" charset="-122"/>
                <a:cs typeface="Calibri" pitchFamily="34" charset="-120"/>
              </a:rPr>
              <a:t>LinkedIn</a:t>
            </a:r>
            <a:endParaRPr lang="en-US" sz="1350" dirty="0"/>
          </a:p>
        </p:txBody>
      </p:sp>
      <p:sp>
        <p:nvSpPr>
          <p:cNvPr id="19" name="Text 17"/>
          <p:cNvSpPr txBox="1"/>
          <p:nvPr/>
        </p:nvSpPr>
        <p:spPr>
          <a:xfrm>
            <a:off x="6461608" y="5349240"/>
            <a:ext cx="4907128" cy="475488"/>
          </a:xfrm>
          <a:prstGeom prst="rect">
            <a:avLst/>
          </a:prstGeom>
          <a:noFill/>
          <a:ln/>
        </p:spPr>
        <p:txBody>
          <a:bodyPr wrap="square" lIns="0" tIns="0" rIns="0" bIns="0" rtlCol="0" anchor="ctr"/>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Le seul canal qui montre l'ancienneté au poste, donc le moment favorable</a:t>
            </a:r>
            <a:endParaRPr lang="en-US" sz="1150" dirty="0"/>
          </a:p>
        </p:txBody>
      </p:sp>
      <p:sp>
        <p:nvSpPr>
          <p:cNvPr id="20" name="Text 18"/>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Objectif : 60 à 80 noms qualifiés. Deux à trois jours de travail.</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12E"/>
        </a:solidFill>
      </p:bgPr>
    </p:bg>
    <p:spTree>
      <p:nvGrpSpPr>
        <p:cNvPr id="1" name=""/>
        <p:cNvGrpSpPr/>
        <p:nvPr/>
      </p:nvGrpSpPr>
      <p:grpSpPr>
        <a:xfrm>
          <a:off x="0" y="0"/>
          <a:ext cx="0" cy="0"/>
          <a:chOff x="0" y="0"/>
          <a:chExt cx="0" cy="0"/>
        </a:xfrm>
      </p:grpSpPr>
      <p:sp>
        <p:nvSpPr>
          <p:cNvPr id="2" name="Text 0"/>
          <p:cNvSpPr txBox="1"/>
          <p:nvPr/>
        </p:nvSpPr>
        <p:spPr>
          <a:xfrm>
            <a:off x="594360" y="2103120"/>
            <a:ext cx="1828800" cy="1005840"/>
          </a:xfrm>
          <a:prstGeom prst="rect">
            <a:avLst/>
          </a:prstGeom>
          <a:noFill/>
          <a:ln/>
        </p:spPr>
        <p:txBody>
          <a:bodyPr wrap="square" lIns="0" tIns="0" rIns="0" bIns="0" rtlCol="0" anchor="ctr"/>
          <a:lstStyle/>
          <a:p>
            <a:pPr indent="0" marL="0">
              <a:buNone/>
            </a:pPr>
            <a:r>
              <a:rPr lang="en-US" sz="6400" b="1" dirty="0">
                <a:solidFill>
                  <a:srgbClr val="E0956B"/>
                </a:solidFill>
                <a:latin typeface="Cambria" pitchFamily="34" charset="0"/>
                <a:ea typeface="Cambria" pitchFamily="34" charset="-122"/>
                <a:cs typeface="Cambria" pitchFamily="34" charset="-120"/>
              </a:rPr>
              <a:t>01</a:t>
            </a:r>
            <a:endParaRPr lang="en-US" sz="6400" dirty="0"/>
          </a:p>
        </p:txBody>
      </p:sp>
      <p:sp>
        <p:nvSpPr>
          <p:cNvPr id="3" name="Text 1"/>
          <p:cNvSpPr txBox="1"/>
          <p:nvPr/>
        </p:nvSpPr>
        <p:spPr>
          <a:xfrm>
            <a:off x="594360" y="315468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Ce qui bloque aujourd'hui</a:t>
            </a:r>
            <a:endParaRPr lang="en-US" sz="4000" dirty="0"/>
          </a:p>
        </p:txBody>
      </p:sp>
      <p:sp>
        <p:nvSpPr>
          <p:cNvPr id="4" name="Text 2"/>
          <p:cNvSpPr txBox="1"/>
          <p:nvPr/>
        </p:nvSpPr>
        <p:spPr>
          <a:xfrm>
            <a:off x="594360" y="4023360"/>
            <a:ext cx="8686800" cy="457200"/>
          </a:xfrm>
          <a:prstGeom prst="rect">
            <a:avLst/>
          </a:prstGeom>
          <a:noFill/>
          <a:ln/>
        </p:spPr>
        <p:txBody>
          <a:bodyPr wrap="square" lIns="0" tIns="0" rIns="0" bIns="0" rtlCol="0" anchor="ctr"/>
          <a:lstStyle/>
          <a:p>
            <a:pPr indent="0" marL="0">
              <a:buNone/>
            </a:pPr>
            <a:r>
              <a:rPr lang="en-US" sz="1600" dirty="0">
                <a:solidFill>
                  <a:srgbClr val="D6DEE7"/>
                </a:solidFill>
                <a:latin typeface="Calibri" pitchFamily="34" charset="0"/>
                <a:ea typeface="Calibri" pitchFamily="34" charset="-122"/>
                <a:cs typeface="Calibri" pitchFamily="34" charset="-120"/>
              </a:rPr>
              <a:t>Rien ne part en diffusion tant que ces points ne sont pas tranchés.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ARBITRAGES</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Ce qui est tranché, ce qui reste</a:t>
            </a:r>
            <a:endParaRPr lang="en-US" sz="3300" dirty="0"/>
          </a:p>
        </p:txBody>
      </p:sp>
      <p:sp>
        <p:nvSpPr>
          <p:cNvPr id="4" name="Shape 2"/>
          <p:cNvSpPr/>
          <p:nvPr/>
        </p:nvSpPr>
        <p:spPr>
          <a:xfrm>
            <a:off x="594360" y="1691640"/>
            <a:ext cx="11002975" cy="1234440"/>
          </a:xfrm>
          <a:prstGeom prst="roundRect">
            <a:avLst>
              <a:gd name="adj" fmla="val 4444"/>
            </a:avLst>
          </a:prstGeom>
          <a:solidFill>
            <a:srgbClr val="FBF1EC"/>
          </a:solidFill>
          <a:ln/>
        </p:spPr>
      </p:sp>
      <p:sp>
        <p:nvSpPr>
          <p:cNvPr id="5" name="Shape 3"/>
          <p:cNvSpPr/>
          <p:nvPr/>
        </p:nvSpPr>
        <p:spPr>
          <a:xfrm>
            <a:off x="914400" y="1810512"/>
            <a:ext cx="502920" cy="502920"/>
          </a:xfrm>
          <a:prstGeom prst="ellipse">
            <a:avLst/>
          </a:prstGeom>
          <a:solidFill>
            <a:srgbClr val="B05F3A"/>
          </a:solidFill>
          <a:ln/>
        </p:spPr>
      </p:sp>
      <p:sp>
        <p:nvSpPr>
          <p:cNvPr id="6" name="Text 4"/>
          <p:cNvSpPr txBox="1"/>
          <p:nvPr/>
        </p:nvSpPr>
        <p:spPr>
          <a:xfrm>
            <a:off x="914400" y="181051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600200" y="1847088"/>
            <a:ext cx="6858000" cy="329184"/>
          </a:xfrm>
          <a:prstGeom prst="rect">
            <a:avLst/>
          </a:prstGeom>
          <a:noFill/>
          <a:ln/>
        </p:spPr>
        <p:txBody>
          <a:bodyPr wrap="square" lIns="0" tIns="0" rIns="0" bIns="0" rtlCol="0" anchor="ctr"/>
          <a:lstStyle/>
          <a:p>
            <a:pPr indent="0" marL="0">
              <a:buNone/>
            </a:pPr>
            <a:r>
              <a:rPr lang="en-US" sz="2100" b="1" dirty="0">
                <a:solidFill>
                  <a:srgbClr val="12212E"/>
                </a:solidFill>
                <a:latin typeface="Cambria" pitchFamily="34" charset="0"/>
                <a:ea typeface="Cambria" pitchFamily="34" charset="-122"/>
                <a:cs typeface="Cambria" pitchFamily="34" charset="-120"/>
              </a:rPr>
              <a:t>Une seule décision bloque la diffusion</a:t>
            </a:r>
            <a:endParaRPr lang="en-US" sz="2100" dirty="0"/>
          </a:p>
        </p:txBody>
      </p:sp>
      <p:sp>
        <p:nvSpPr>
          <p:cNvPr id="8" name="Text 6"/>
          <p:cNvSpPr txBox="1"/>
          <p:nvPr/>
        </p:nvSpPr>
        <p:spPr>
          <a:xfrm>
            <a:off x="1600200" y="2240280"/>
            <a:ext cx="9631375" cy="594360"/>
          </a:xfrm>
          <a:prstGeom prst="rect">
            <a:avLst/>
          </a:prstGeom>
          <a:noFill/>
          <a:ln/>
        </p:spPr>
        <p:txBody>
          <a:bodyPr wrap="square" lIns="0" tIns="0" rIns="0" bIns="0" rtlCol="0" anchor="t"/>
          <a:lstStyle/>
          <a:p>
            <a:pPr indent="0" marL="0">
              <a:lnSpc>
                <a:spcPts val="1800"/>
              </a:lnSpc>
              <a:buNone/>
            </a:pPr>
            <a:r>
              <a:rPr lang="en-US" sz="1300" dirty="0">
                <a:solidFill>
                  <a:srgbClr val="5A6673"/>
                </a:solidFill>
                <a:latin typeface="Calibri" pitchFamily="34" charset="0"/>
                <a:ea typeface="Calibri" pitchFamily="34" charset="-122"/>
                <a:cs typeface="Calibri" pitchFamily="34" charset="-120"/>
              </a:rPr>
              <a:t>La fourchette de rémunération à afficher dans l'annonce. Sur un marché de candidats passifs, son absence est une friction gratuite : elle fait perdre les candidats qui n'osent pas demander, et fait perdre du temps sur ceux qui sont hors budget.</a:t>
            </a:r>
            <a:endParaRPr lang="en-US" sz="1300" dirty="0"/>
          </a:p>
        </p:txBody>
      </p:sp>
      <p:sp>
        <p:nvSpPr>
          <p:cNvPr id="9" name="Shape 7"/>
          <p:cNvSpPr/>
          <p:nvPr/>
        </p:nvSpPr>
        <p:spPr>
          <a:xfrm>
            <a:off x="594360" y="3154680"/>
            <a:ext cx="5318608" cy="2423160"/>
          </a:xfrm>
          <a:prstGeom prst="roundRect">
            <a:avLst>
              <a:gd name="adj" fmla="val 2264"/>
            </a:avLst>
          </a:prstGeom>
          <a:solidFill>
            <a:srgbClr val="F2F5F8"/>
          </a:solidFill>
          <a:ln/>
        </p:spPr>
      </p:sp>
      <p:sp>
        <p:nvSpPr>
          <p:cNvPr id="10" name="Text 8"/>
          <p:cNvSpPr txBox="1"/>
          <p:nvPr/>
        </p:nvSpPr>
        <p:spPr>
          <a:xfrm>
            <a:off x="868680" y="3337560"/>
            <a:ext cx="4769968" cy="292608"/>
          </a:xfrm>
          <a:prstGeom prst="rect">
            <a:avLst/>
          </a:prstGeom>
          <a:noFill/>
          <a:ln/>
        </p:spPr>
        <p:txBody>
          <a:bodyPr wrap="square" lIns="0" tIns="0" rIns="0" bIns="0" rtlCol="0" anchor="ctr"/>
          <a:lstStyle/>
          <a:p>
            <a:pPr indent="0" marL="0">
              <a:buNone/>
            </a:pPr>
            <a:r>
              <a:rPr lang="en-US" sz="1400" b="1" dirty="0">
                <a:solidFill>
                  <a:srgbClr val="1F4B7A"/>
                </a:solidFill>
                <a:latin typeface="Calibri" pitchFamily="34" charset="0"/>
                <a:ea typeface="Calibri" pitchFamily="34" charset="-122"/>
                <a:cs typeface="Calibri" pitchFamily="34" charset="-120"/>
              </a:rPr>
              <a:t>Déjà tranché</a:t>
            </a:r>
            <a:endParaRPr lang="en-US" sz="1400" dirty="0"/>
          </a:p>
        </p:txBody>
      </p:sp>
      <p:sp>
        <p:nvSpPr>
          <p:cNvPr id="11" name="Text 9"/>
          <p:cNvSpPr txBox="1"/>
          <p:nvPr/>
        </p:nvSpPr>
        <p:spPr>
          <a:xfrm>
            <a:off x="868680" y="3703320"/>
            <a:ext cx="4769968" cy="1737360"/>
          </a:xfrm>
          <a:prstGeom prst="rect">
            <a:avLst/>
          </a:prstGeom>
          <a:noFill/>
          <a:ln/>
        </p:spPr>
        <p:txBody>
          <a:bodyPr wrap="square" lIns="0" tIns="0" rIns="0" bIns="0" rtlCol="0" anchor="t"/>
          <a:lstStyle/>
          <a:p>
            <a:pPr indent="0" marL="0">
              <a:lnSpc>
                <a:spcPts val="2400"/>
              </a:lnSpc>
              <a:buNone/>
            </a:pPr>
            <a:r>
              <a:rPr lang="en-US" sz="1250" dirty="0">
                <a:solidFill>
                  <a:srgbClr val="12212E"/>
                </a:solidFill>
                <a:latin typeface="Calibri" pitchFamily="34" charset="0"/>
                <a:ea typeface="Calibri" pitchFamily="34" charset="-122"/>
                <a:cs typeface="Calibri" pitchFamily="34" charset="-120"/>
              </a:rPr>
              <a:t>Le statut : avocat salarié à l'entrée.</a:t>
            </a:r>
            <a:endParaRPr lang="en-US" sz="1250" dirty="0"/>
          </a:p>
          <a:p>
            <a:pPr indent="0" marL="0">
              <a:lnSpc>
                <a:spcPts val="2400"/>
              </a:lnSpc>
              <a:buNone/>
            </a:pPr>
            <a:r>
              <a:rPr lang="en-US" sz="1250" dirty="0">
                <a:solidFill>
                  <a:srgbClr val="12212E"/>
                </a:solidFill>
                <a:latin typeface="Calibri" pitchFamily="34" charset="0"/>
                <a:ea typeface="Calibri" pitchFamily="34" charset="-122"/>
                <a:cs typeface="Calibri" pitchFamily="34" charset="-120"/>
              </a:rPr>
              <a:t>Le protocole d'association : rédigé plus tard par Hervé et Milène.</a:t>
            </a:r>
            <a:endParaRPr lang="en-US" sz="1250" dirty="0"/>
          </a:p>
          <a:p>
            <a:pPr indent="0" marL="0">
              <a:lnSpc>
                <a:spcPts val="2400"/>
              </a:lnSpc>
              <a:buNone/>
            </a:pPr>
            <a:r>
              <a:rPr lang="en-US" sz="1250" dirty="0">
                <a:solidFill>
                  <a:srgbClr val="12212E"/>
                </a:solidFill>
                <a:latin typeface="Calibri" pitchFamily="34" charset="0"/>
                <a:ea typeface="Calibri" pitchFamily="34" charset="-122"/>
                <a:cs typeface="Calibri" pitchFamily="34" charset="-120"/>
              </a:rPr>
              <a:t>Les intervieweurs et la répartition des étapes.</a:t>
            </a:r>
            <a:endParaRPr lang="en-US" sz="1250" dirty="0"/>
          </a:p>
          <a:p>
            <a:pPr indent="0" marL="0">
              <a:lnSpc>
                <a:spcPts val="2400"/>
              </a:lnSpc>
              <a:buNone/>
            </a:pPr>
            <a:r>
              <a:rPr lang="en-US" sz="1250" dirty="0">
                <a:solidFill>
                  <a:srgbClr val="12212E"/>
                </a:solidFill>
                <a:latin typeface="Calibri" pitchFamily="34" charset="0"/>
                <a:ea typeface="Calibri" pitchFamily="34" charset="-122"/>
                <a:cs typeface="Calibri" pitchFamily="34" charset="-120"/>
              </a:rPr>
              <a:t>Les deux règles de notation.</a:t>
            </a:r>
            <a:endParaRPr lang="en-US" sz="1250" dirty="0"/>
          </a:p>
        </p:txBody>
      </p:sp>
      <p:sp>
        <p:nvSpPr>
          <p:cNvPr id="12" name="Shape 10"/>
          <p:cNvSpPr/>
          <p:nvPr/>
        </p:nvSpPr>
        <p:spPr>
          <a:xfrm>
            <a:off x="6278728" y="3154680"/>
            <a:ext cx="5318608" cy="2423160"/>
          </a:xfrm>
          <a:prstGeom prst="roundRect">
            <a:avLst>
              <a:gd name="adj" fmla="val 2264"/>
            </a:avLst>
          </a:prstGeom>
          <a:solidFill>
            <a:srgbClr val="F2F5F8"/>
          </a:solidFill>
          <a:ln/>
        </p:spPr>
      </p:sp>
      <p:sp>
        <p:nvSpPr>
          <p:cNvPr id="13" name="Text 11"/>
          <p:cNvSpPr txBox="1"/>
          <p:nvPr/>
        </p:nvSpPr>
        <p:spPr>
          <a:xfrm>
            <a:off x="6553048" y="3337560"/>
            <a:ext cx="4769968" cy="292608"/>
          </a:xfrm>
          <a:prstGeom prst="rect">
            <a:avLst/>
          </a:prstGeom>
          <a:noFill/>
          <a:ln/>
        </p:spPr>
        <p:txBody>
          <a:bodyPr wrap="square" lIns="0" tIns="0" rIns="0" bIns="0" rtlCol="0" anchor="ctr"/>
          <a:lstStyle/>
          <a:p>
            <a:pPr indent="0" marL="0">
              <a:buNone/>
            </a:pPr>
            <a:r>
              <a:rPr lang="en-US" sz="1400" b="1" dirty="0">
                <a:solidFill>
                  <a:srgbClr val="5A6673"/>
                </a:solidFill>
                <a:latin typeface="Calibri" pitchFamily="34" charset="0"/>
                <a:ea typeface="Calibri" pitchFamily="34" charset="-122"/>
                <a:cs typeface="Calibri" pitchFamily="34" charset="-120"/>
              </a:rPr>
              <a:t>Ouvert, non bloquant</a:t>
            </a:r>
            <a:endParaRPr lang="en-US" sz="1400" dirty="0"/>
          </a:p>
        </p:txBody>
      </p:sp>
      <p:sp>
        <p:nvSpPr>
          <p:cNvPr id="14" name="Text 12"/>
          <p:cNvSpPr txBox="1"/>
          <p:nvPr/>
        </p:nvSpPr>
        <p:spPr>
          <a:xfrm>
            <a:off x="6553048" y="3703320"/>
            <a:ext cx="4769968" cy="1737360"/>
          </a:xfrm>
          <a:prstGeom prst="rect">
            <a:avLst/>
          </a:prstGeom>
          <a:noFill/>
          <a:ln/>
        </p:spPr>
        <p:txBody>
          <a:bodyPr wrap="square" lIns="0" tIns="0" rIns="0" bIns="0" rtlCol="0" anchor="t"/>
          <a:lstStyle/>
          <a:p>
            <a:pPr indent="0" marL="0">
              <a:lnSpc>
                <a:spcPts val="2400"/>
              </a:lnSpc>
              <a:buNone/>
            </a:pPr>
            <a:r>
              <a:rPr lang="en-US" sz="1250" dirty="0">
                <a:solidFill>
                  <a:srgbClr val="5A6673"/>
                </a:solidFill>
                <a:latin typeface="Calibri" pitchFamily="34" charset="0"/>
                <a:ea typeface="Calibri" pitchFamily="34" charset="-122"/>
                <a:cs typeface="Calibri" pitchFamily="34" charset="-120"/>
              </a:rPr>
              <a:t>L'avenir de l'enseigne, qui porte le nom du fondateur.</a:t>
            </a:r>
            <a:endParaRPr lang="en-US" sz="1250" dirty="0"/>
          </a:p>
          <a:p>
            <a:pPr indent="0" marL="0">
              <a:lnSpc>
                <a:spcPts val="2400"/>
              </a:lnSpc>
              <a:buNone/>
            </a:pPr>
            <a:r>
              <a:rPr lang="en-US" sz="1250" dirty="0">
                <a:solidFill>
                  <a:srgbClr val="5A6673"/>
                </a:solidFill>
                <a:latin typeface="Calibri" pitchFamily="34" charset="0"/>
                <a:ea typeface="Calibri" pitchFamily="34" charset="-122"/>
                <a:cs typeface="Calibri" pitchFamily="34" charset="-120"/>
              </a:rPr>
              <a:t>Le périmètre : Grenoble seul ou Grenoble et Annecy.</a:t>
            </a:r>
            <a:endParaRPr lang="en-US" sz="1250" dirty="0"/>
          </a:p>
          <a:p>
            <a:pPr indent="0" marL="0">
              <a:lnSpc>
                <a:spcPts val="2400"/>
              </a:lnSpc>
              <a:buNone/>
            </a:pPr>
            <a:r>
              <a:rPr lang="en-US" sz="1250" dirty="0">
                <a:solidFill>
                  <a:srgbClr val="5A6673"/>
                </a:solidFill>
                <a:latin typeface="Calibri" pitchFamily="34" charset="0"/>
                <a:ea typeface="Calibri" pitchFamily="34" charset="-122"/>
                <a:cs typeface="Calibri" pitchFamily="34" charset="-120"/>
              </a:rPr>
              <a:t>La place du droit du travail.</a:t>
            </a:r>
            <a:endParaRPr lang="en-US" sz="1250" dirty="0"/>
          </a:p>
          <a:p>
            <a:pPr indent="0" marL="0">
              <a:lnSpc>
                <a:spcPts val="2400"/>
              </a:lnSpc>
              <a:buNone/>
            </a:pPr>
            <a:r>
              <a:rPr lang="en-US" sz="1250" dirty="0">
                <a:solidFill>
                  <a:srgbClr val="5A6673"/>
                </a:solidFill>
                <a:latin typeface="Calibri" pitchFamily="34" charset="0"/>
                <a:ea typeface="Calibri" pitchFamily="34" charset="-122"/>
                <a:cs typeface="Calibri" pitchFamily="34" charset="-120"/>
              </a:rPr>
              <a:t>L'ordre des entretiens, la date de prise de poste, la vidéo.</a:t>
            </a:r>
            <a:endParaRPr lang="en-US" sz="1250" dirty="0"/>
          </a:p>
        </p:txBody>
      </p:sp>
      <p:sp>
        <p:nvSpPr>
          <p:cNvPr id="15" name="Text 13"/>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Détail : document 01, point 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12E"/>
        </a:solidFill>
      </p:bgPr>
    </p:bg>
    <p:spTree>
      <p:nvGrpSpPr>
        <p:cNvPr id="1" name=""/>
        <p:cNvGrpSpPr/>
        <p:nvPr/>
      </p:nvGrpSpPr>
      <p:grpSpPr>
        <a:xfrm>
          <a:off x="0" y="0"/>
          <a:ext cx="0" cy="0"/>
          <a:chOff x="0" y="0"/>
          <a:chExt cx="0" cy="0"/>
        </a:xfrm>
      </p:grpSpPr>
      <p:sp>
        <p:nvSpPr>
          <p:cNvPr id="2" name="Text 0"/>
          <p:cNvSpPr txBox="1"/>
          <p:nvPr/>
        </p:nvSpPr>
        <p:spPr>
          <a:xfrm>
            <a:off x="594360" y="2103120"/>
            <a:ext cx="1828800" cy="1005840"/>
          </a:xfrm>
          <a:prstGeom prst="rect">
            <a:avLst/>
          </a:prstGeom>
          <a:noFill/>
          <a:ln/>
        </p:spPr>
        <p:txBody>
          <a:bodyPr wrap="square" lIns="0" tIns="0" rIns="0" bIns="0" rtlCol="0" anchor="ctr"/>
          <a:lstStyle/>
          <a:p>
            <a:pPr indent="0" marL="0">
              <a:buNone/>
            </a:pPr>
            <a:r>
              <a:rPr lang="en-US" sz="6400" b="1" dirty="0">
                <a:solidFill>
                  <a:srgbClr val="E0956B"/>
                </a:solidFill>
                <a:latin typeface="Cambria" pitchFamily="34" charset="0"/>
                <a:ea typeface="Cambria" pitchFamily="34" charset="-122"/>
                <a:cs typeface="Cambria" pitchFamily="34" charset="-120"/>
              </a:rPr>
              <a:t>02</a:t>
            </a:r>
            <a:endParaRPr lang="en-US" sz="6400" dirty="0"/>
          </a:p>
        </p:txBody>
      </p:sp>
      <p:sp>
        <p:nvSpPr>
          <p:cNvPr id="3" name="Text 1"/>
          <p:cNvSpPr txBox="1"/>
          <p:nvPr/>
        </p:nvSpPr>
        <p:spPr>
          <a:xfrm>
            <a:off x="594360" y="3154680"/>
            <a:ext cx="9601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 dispositif d'évaluation</a:t>
            </a:r>
            <a:endParaRPr lang="en-US" sz="4000" dirty="0"/>
          </a:p>
        </p:txBody>
      </p:sp>
      <p:sp>
        <p:nvSpPr>
          <p:cNvPr id="4" name="Text 2"/>
          <p:cNvSpPr txBox="1"/>
          <p:nvPr/>
        </p:nvSpPr>
        <p:spPr>
          <a:xfrm>
            <a:off x="594360" y="4023360"/>
            <a:ext cx="8686800" cy="457200"/>
          </a:xfrm>
          <a:prstGeom prst="rect">
            <a:avLst/>
          </a:prstGeom>
          <a:noFill/>
          <a:ln/>
        </p:spPr>
        <p:txBody>
          <a:bodyPr wrap="square" lIns="0" tIns="0" rIns="0" bIns="0" rtlCol="0" anchor="ctr"/>
          <a:lstStyle/>
          <a:p>
            <a:pPr indent="0" marL="0">
              <a:buNone/>
            </a:pPr>
            <a:r>
              <a:rPr lang="en-US" sz="1600" dirty="0">
                <a:solidFill>
                  <a:srgbClr val="D6DEE7"/>
                </a:solidFill>
                <a:latin typeface="Calibri" pitchFamily="34" charset="0"/>
                <a:ea typeface="Calibri" pitchFamily="34" charset="-122"/>
                <a:cs typeface="Calibri" pitchFamily="34" charset="-120"/>
              </a:rPr>
              <a:t>Quatre étapes, six compétences, et le rôle de chacun.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LE PARCOURS CANDIDAT</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Quatre étapes, un intervieweur par étape</a:t>
            </a:r>
            <a:endParaRPr lang="en-US" sz="3300" dirty="0"/>
          </a:p>
        </p:txBody>
      </p:sp>
      <p:sp>
        <p:nvSpPr>
          <p:cNvPr id="4" name="Text 2"/>
          <p:cNvSpPr txBox="1"/>
          <p:nvPr/>
        </p:nvSpPr>
        <p:spPr>
          <a:xfrm>
            <a:off x="594360" y="1627632"/>
            <a:ext cx="11002975" cy="274320"/>
          </a:xfrm>
          <a:prstGeom prst="rect">
            <a:avLst/>
          </a:prstGeom>
          <a:noFill/>
          <a:ln/>
        </p:spPr>
        <p:txBody>
          <a:bodyPr wrap="square" lIns="0" tIns="0" rIns="0" bIns="0" rtlCol="0" anchor="t"/>
          <a:lstStyle/>
          <a:p>
            <a:pPr indent="0" marL="0">
              <a:buNone/>
            </a:pPr>
            <a:r>
              <a:rPr lang="en-US" sz="1300" dirty="0">
                <a:solidFill>
                  <a:srgbClr val="5A6673"/>
                </a:solidFill>
                <a:latin typeface="Calibri" pitchFamily="34" charset="0"/>
                <a:ea typeface="Calibri" pitchFamily="34" charset="-122"/>
                <a:cs typeface="Calibri" pitchFamily="34" charset="-120"/>
              </a:rPr>
              <a:t>Tri des CV sur 100 points, seuil à 70. Puis :</a:t>
            </a:r>
            <a:endParaRPr lang="en-US" sz="1300" dirty="0"/>
          </a:p>
        </p:txBody>
      </p:sp>
      <p:sp>
        <p:nvSpPr>
          <p:cNvPr id="5" name="Shape 3"/>
          <p:cNvSpPr/>
          <p:nvPr/>
        </p:nvSpPr>
        <p:spPr>
          <a:xfrm>
            <a:off x="594360" y="2011680"/>
            <a:ext cx="2579294" cy="3200400"/>
          </a:xfrm>
          <a:prstGeom prst="roundRect">
            <a:avLst>
              <a:gd name="adj" fmla="val 2127"/>
            </a:avLst>
          </a:prstGeom>
          <a:solidFill>
            <a:srgbClr val="F2F5F8"/>
          </a:solidFill>
          <a:ln/>
        </p:spPr>
      </p:sp>
      <p:sp>
        <p:nvSpPr>
          <p:cNvPr id="6" name="Shape 4"/>
          <p:cNvSpPr/>
          <p:nvPr/>
        </p:nvSpPr>
        <p:spPr>
          <a:xfrm>
            <a:off x="822960" y="2212848"/>
            <a:ext cx="457200" cy="457200"/>
          </a:xfrm>
          <a:prstGeom prst="ellipse">
            <a:avLst/>
          </a:prstGeom>
          <a:solidFill>
            <a:srgbClr val="1F4B7A"/>
          </a:solidFill>
          <a:ln/>
        </p:spPr>
      </p:sp>
      <p:sp>
        <p:nvSpPr>
          <p:cNvPr id="7" name="Text 5"/>
          <p:cNvSpPr txBox="1"/>
          <p:nvPr/>
        </p:nvSpPr>
        <p:spPr>
          <a:xfrm>
            <a:off x="822960"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22960" y="2834640"/>
            <a:ext cx="2122094" cy="566928"/>
          </a:xfrm>
          <a:prstGeom prst="rect">
            <a:avLst/>
          </a:prstGeom>
          <a:noFill/>
          <a:ln/>
        </p:spPr>
        <p:txBody>
          <a:bodyPr wrap="square" lIns="0" tIns="0" rIns="0" bIns="0" rtlCol="0" anchor="t"/>
          <a:lstStyle/>
          <a:p>
            <a:pPr indent="0" marL="0">
              <a:buNone/>
            </a:pPr>
            <a:r>
              <a:rPr lang="en-US" sz="1700" b="1" dirty="0">
                <a:solidFill>
                  <a:srgbClr val="12212E"/>
                </a:solidFill>
                <a:latin typeface="Cambria" pitchFamily="34" charset="0"/>
                <a:ea typeface="Cambria" pitchFamily="34" charset="-122"/>
                <a:cs typeface="Cambria" pitchFamily="34" charset="-120"/>
              </a:rPr>
              <a:t>Téléphone</a:t>
            </a:r>
            <a:endParaRPr lang="en-US" sz="1700" dirty="0"/>
          </a:p>
        </p:txBody>
      </p:sp>
      <p:sp>
        <p:nvSpPr>
          <p:cNvPr id="9" name="Text 7"/>
          <p:cNvSpPr txBox="1"/>
          <p:nvPr/>
        </p:nvSpPr>
        <p:spPr>
          <a:xfrm>
            <a:off x="822960" y="3456432"/>
            <a:ext cx="2122094" cy="256032"/>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Gregory Levy</a:t>
            </a:r>
            <a:endParaRPr lang="en-US" sz="1200" dirty="0"/>
          </a:p>
        </p:txBody>
      </p:sp>
      <p:sp>
        <p:nvSpPr>
          <p:cNvPr id="10" name="Text 8"/>
          <p:cNvSpPr txBox="1"/>
          <p:nvPr/>
        </p:nvSpPr>
        <p:spPr>
          <a:xfrm>
            <a:off x="822960" y="3712464"/>
            <a:ext cx="2122094" cy="237744"/>
          </a:xfrm>
          <a:prstGeom prst="rect">
            <a:avLst/>
          </a:prstGeom>
          <a:noFill/>
          <a:ln/>
        </p:spPr>
        <p:txBody>
          <a:bodyPr wrap="square" lIns="0" tIns="0" rIns="0" bIns="0" rtlCol="0" anchor="ctr"/>
          <a:lstStyle/>
          <a:p>
            <a:pPr indent="0" marL="0">
              <a:buNone/>
            </a:pPr>
            <a:r>
              <a:rPr lang="en-US" sz="1100" dirty="0">
                <a:solidFill>
                  <a:srgbClr val="5A6673"/>
                </a:solidFill>
                <a:latin typeface="Calibri" pitchFamily="34" charset="0"/>
                <a:ea typeface="Calibri" pitchFamily="34" charset="-122"/>
                <a:cs typeface="Calibri" pitchFamily="34" charset="-120"/>
              </a:rPr>
              <a:t>30 min</a:t>
            </a:r>
            <a:endParaRPr lang="en-US" sz="1100" dirty="0"/>
          </a:p>
        </p:txBody>
      </p:sp>
      <p:sp>
        <p:nvSpPr>
          <p:cNvPr id="11" name="Text 9"/>
          <p:cNvSpPr txBox="1"/>
          <p:nvPr/>
        </p:nvSpPr>
        <p:spPr>
          <a:xfrm>
            <a:off x="822960" y="4041648"/>
            <a:ext cx="2122094" cy="1051560"/>
          </a:xfrm>
          <a:prstGeom prst="rect">
            <a:avLst/>
          </a:prstGeom>
          <a:noFill/>
          <a:ln/>
        </p:spPr>
        <p:txBody>
          <a:bodyPr wrap="square" lIns="0" tIns="0" rIns="0" bIns="0" rtlCol="0" anchor="t"/>
          <a:lstStyle/>
          <a:p>
            <a:pPr indent="0" marL="0">
              <a:lnSpc>
                <a:spcPts val="1500"/>
              </a:lnSpc>
              <a:buNone/>
            </a:pPr>
            <a:r>
              <a:rPr lang="en-US" sz="1100" dirty="0">
                <a:solidFill>
                  <a:srgbClr val="5A6673"/>
                </a:solidFill>
                <a:latin typeface="Calibri" pitchFamily="34" charset="0"/>
                <a:ea typeface="Calibri" pitchFamily="34" charset="-122"/>
                <a:cs typeface="Calibri" pitchFamily="34" charset="-120"/>
              </a:rPr>
              <a:t>Pré-qualification. Trois questions techniques consignées mot à mot, relues par Hervé Gerbi.</a:t>
            </a:r>
            <a:endParaRPr lang="en-US" sz="1100" dirty="0"/>
          </a:p>
        </p:txBody>
      </p:sp>
      <p:sp>
        <p:nvSpPr>
          <p:cNvPr id="12" name="Shape 10"/>
          <p:cNvSpPr/>
          <p:nvPr/>
        </p:nvSpPr>
        <p:spPr>
          <a:xfrm>
            <a:off x="3402254" y="2011680"/>
            <a:ext cx="2579294" cy="3200400"/>
          </a:xfrm>
          <a:prstGeom prst="roundRect">
            <a:avLst>
              <a:gd name="adj" fmla="val 2127"/>
            </a:avLst>
          </a:prstGeom>
          <a:solidFill>
            <a:srgbClr val="F2F5F8"/>
          </a:solidFill>
          <a:ln/>
        </p:spPr>
      </p:sp>
      <p:sp>
        <p:nvSpPr>
          <p:cNvPr id="13" name="Shape 11"/>
          <p:cNvSpPr/>
          <p:nvPr/>
        </p:nvSpPr>
        <p:spPr>
          <a:xfrm>
            <a:off x="3630854" y="2212848"/>
            <a:ext cx="457200" cy="457200"/>
          </a:xfrm>
          <a:prstGeom prst="ellipse">
            <a:avLst/>
          </a:prstGeom>
          <a:solidFill>
            <a:srgbClr val="1F4B7A"/>
          </a:solidFill>
          <a:ln/>
        </p:spPr>
      </p:sp>
      <p:sp>
        <p:nvSpPr>
          <p:cNvPr id="14" name="Text 12"/>
          <p:cNvSpPr txBox="1"/>
          <p:nvPr/>
        </p:nvSpPr>
        <p:spPr>
          <a:xfrm>
            <a:off x="3630854"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30854" y="2834640"/>
            <a:ext cx="2122094" cy="566928"/>
          </a:xfrm>
          <a:prstGeom prst="rect">
            <a:avLst/>
          </a:prstGeom>
          <a:noFill/>
          <a:ln/>
        </p:spPr>
        <p:txBody>
          <a:bodyPr wrap="square" lIns="0" tIns="0" rIns="0" bIns="0" rtlCol="0" anchor="t"/>
          <a:lstStyle/>
          <a:p>
            <a:pPr indent="0" marL="0">
              <a:buNone/>
            </a:pPr>
            <a:r>
              <a:rPr lang="en-US" sz="1700" b="1" dirty="0">
                <a:solidFill>
                  <a:srgbClr val="12212E"/>
                </a:solidFill>
                <a:latin typeface="Cambria" pitchFamily="34" charset="0"/>
                <a:ea typeface="Cambria" pitchFamily="34" charset="-122"/>
                <a:cs typeface="Cambria" pitchFamily="34" charset="-120"/>
              </a:rPr>
              <a:t>Valeurs</a:t>
            </a:r>
            <a:endParaRPr lang="en-US" sz="1700" dirty="0"/>
          </a:p>
        </p:txBody>
      </p:sp>
      <p:sp>
        <p:nvSpPr>
          <p:cNvPr id="16" name="Text 14"/>
          <p:cNvSpPr txBox="1"/>
          <p:nvPr/>
        </p:nvSpPr>
        <p:spPr>
          <a:xfrm>
            <a:off x="3630854" y="3456432"/>
            <a:ext cx="2122094" cy="256032"/>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Gregory Levy</a:t>
            </a:r>
            <a:endParaRPr lang="en-US" sz="1200" dirty="0"/>
          </a:p>
        </p:txBody>
      </p:sp>
      <p:sp>
        <p:nvSpPr>
          <p:cNvPr id="17" name="Text 15"/>
          <p:cNvSpPr txBox="1"/>
          <p:nvPr/>
        </p:nvSpPr>
        <p:spPr>
          <a:xfrm>
            <a:off x="3630854" y="3712464"/>
            <a:ext cx="2122094" cy="237744"/>
          </a:xfrm>
          <a:prstGeom prst="rect">
            <a:avLst/>
          </a:prstGeom>
          <a:noFill/>
          <a:ln/>
        </p:spPr>
        <p:txBody>
          <a:bodyPr wrap="square" lIns="0" tIns="0" rIns="0" bIns="0" rtlCol="0" anchor="ctr"/>
          <a:lstStyle/>
          <a:p>
            <a:pPr indent="0" marL="0">
              <a:buNone/>
            </a:pPr>
            <a:r>
              <a:rPr lang="en-US" sz="1100" dirty="0">
                <a:solidFill>
                  <a:srgbClr val="5A6673"/>
                </a:solidFill>
                <a:latin typeface="Calibri" pitchFamily="34" charset="0"/>
                <a:ea typeface="Calibri" pitchFamily="34" charset="-122"/>
                <a:cs typeface="Calibri" pitchFamily="34" charset="-120"/>
              </a:rPr>
              <a:t>60 min</a:t>
            </a:r>
            <a:endParaRPr lang="en-US" sz="1100" dirty="0"/>
          </a:p>
        </p:txBody>
      </p:sp>
      <p:sp>
        <p:nvSpPr>
          <p:cNvPr id="18" name="Text 16"/>
          <p:cNvSpPr txBox="1"/>
          <p:nvPr/>
        </p:nvSpPr>
        <p:spPr>
          <a:xfrm>
            <a:off x="3630854" y="4041648"/>
            <a:ext cx="2122094" cy="1051560"/>
          </a:xfrm>
          <a:prstGeom prst="rect">
            <a:avLst/>
          </a:prstGeom>
          <a:noFill/>
          <a:ln/>
        </p:spPr>
        <p:txBody>
          <a:bodyPr wrap="square" lIns="0" tIns="0" rIns="0" bIns="0" rtlCol="0" anchor="t"/>
          <a:lstStyle/>
          <a:p>
            <a:pPr indent="0" marL="0">
              <a:lnSpc>
                <a:spcPts val="1500"/>
              </a:lnSpc>
              <a:buNone/>
            </a:pPr>
            <a:r>
              <a:rPr lang="en-US" sz="1100" dirty="0">
                <a:solidFill>
                  <a:srgbClr val="5A6673"/>
                </a:solidFill>
                <a:latin typeface="Calibri" pitchFamily="34" charset="0"/>
                <a:ea typeface="Calibri" pitchFamily="34" charset="-122"/>
                <a:cs typeface="Calibri" pitchFamily="34" charset="-120"/>
              </a:rPr>
              <a:t>Expertise, humanité, justice, réparation. Cinq mises en situation où deux valeurs s'opposent.</a:t>
            </a:r>
            <a:endParaRPr lang="en-US" sz="1100" dirty="0"/>
          </a:p>
        </p:txBody>
      </p:sp>
      <p:sp>
        <p:nvSpPr>
          <p:cNvPr id="19" name="Shape 17"/>
          <p:cNvSpPr/>
          <p:nvPr/>
        </p:nvSpPr>
        <p:spPr>
          <a:xfrm>
            <a:off x="6210148" y="2011680"/>
            <a:ext cx="2579294" cy="3200400"/>
          </a:xfrm>
          <a:prstGeom prst="roundRect">
            <a:avLst>
              <a:gd name="adj" fmla="val 2127"/>
            </a:avLst>
          </a:prstGeom>
          <a:solidFill>
            <a:srgbClr val="F2F5F8"/>
          </a:solidFill>
          <a:ln/>
        </p:spPr>
      </p:sp>
      <p:sp>
        <p:nvSpPr>
          <p:cNvPr id="20" name="Shape 18"/>
          <p:cNvSpPr/>
          <p:nvPr/>
        </p:nvSpPr>
        <p:spPr>
          <a:xfrm>
            <a:off x="6438748" y="2212848"/>
            <a:ext cx="457200" cy="457200"/>
          </a:xfrm>
          <a:prstGeom prst="ellipse">
            <a:avLst/>
          </a:prstGeom>
          <a:solidFill>
            <a:srgbClr val="1F4B7A"/>
          </a:solidFill>
          <a:ln/>
        </p:spPr>
      </p:sp>
      <p:sp>
        <p:nvSpPr>
          <p:cNvPr id="21" name="Text 19"/>
          <p:cNvSpPr txBox="1"/>
          <p:nvPr/>
        </p:nvSpPr>
        <p:spPr>
          <a:xfrm>
            <a:off x="6438748"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6438748" y="2834640"/>
            <a:ext cx="2122094" cy="566928"/>
          </a:xfrm>
          <a:prstGeom prst="rect">
            <a:avLst/>
          </a:prstGeom>
          <a:noFill/>
          <a:ln/>
        </p:spPr>
        <p:txBody>
          <a:bodyPr wrap="square" lIns="0" tIns="0" rIns="0" bIns="0" rtlCol="0" anchor="t"/>
          <a:lstStyle/>
          <a:p>
            <a:pPr indent="0" marL="0">
              <a:buNone/>
            </a:pPr>
            <a:r>
              <a:rPr lang="en-US" sz="1700" b="1" dirty="0">
                <a:solidFill>
                  <a:srgbClr val="12212E"/>
                </a:solidFill>
                <a:latin typeface="Cambria" pitchFamily="34" charset="0"/>
                <a:ea typeface="Cambria" pitchFamily="34" charset="-122"/>
                <a:cs typeface="Cambria" pitchFamily="34" charset="-120"/>
              </a:rPr>
              <a:t>Compétences métier</a:t>
            </a:r>
            <a:endParaRPr lang="en-US" sz="1700" dirty="0"/>
          </a:p>
        </p:txBody>
      </p:sp>
      <p:sp>
        <p:nvSpPr>
          <p:cNvPr id="23" name="Text 21"/>
          <p:cNvSpPr txBox="1"/>
          <p:nvPr/>
        </p:nvSpPr>
        <p:spPr>
          <a:xfrm>
            <a:off x="6438748" y="3456432"/>
            <a:ext cx="2122094" cy="256032"/>
          </a:xfrm>
          <a:prstGeom prst="rect">
            <a:avLst/>
          </a:prstGeom>
          <a:noFill/>
          <a:ln/>
        </p:spPr>
        <p:txBody>
          <a:bodyPr wrap="square" lIns="0" tIns="0" rIns="0" bIns="0" rtlCol="0" anchor="ctr"/>
          <a:lstStyle/>
          <a:p>
            <a:pPr indent="0" marL="0">
              <a:buNone/>
            </a:pPr>
            <a:r>
              <a:rPr lang="en-US" sz="1200" b="1" dirty="0">
                <a:solidFill>
                  <a:srgbClr val="1F4B7A"/>
                </a:solidFill>
                <a:latin typeface="Calibri" pitchFamily="34" charset="0"/>
                <a:ea typeface="Calibri" pitchFamily="34" charset="-122"/>
                <a:cs typeface="Calibri" pitchFamily="34" charset="-120"/>
              </a:rPr>
              <a:t>Milène Baud</a:t>
            </a:r>
            <a:endParaRPr lang="en-US" sz="1200" dirty="0"/>
          </a:p>
        </p:txBody>
      </p:sp>
      <p:sp>
        <p:nvSpPr>
          <p:cNvPr id="24" name="Text 22"/>
          <p:cNvSpPr txBox="1"/>
          <p:nvPr/>
        </p:nvSpPr>
        <p:spPr>
          <a:xfrm>
            <a:off x="6438748" y="3712464"/>
            <a:ext cx="2122094" cy="237744"/>
          </a:xfrm>
          <a:prstGeom prst="rect">
            <a:avLst/>
          </a:prstGeom>
          <a:noFill/>
          <a:ln/>
        </p:spPr>
        <p:txBody>
          <a:bodyPr wrap="square" lIns="0" tIns="0" rIns="0" bIns="0" rtlCol="0" anchor="ctr"/>
          <a:lstStyle/>
          <a:p>
            <a:pPr indent="0" marL="0">
              <a:buNone/>
            </a:pPr>
            <a:r>
              <a:rPr lang="en-US" sz="1100" dirty="0">
                <a:solidFill>
                  <a:srgbClr val="5A6673"/>
                </a:solidFill>
                <a:latin typeface="Calibri" pitchFamily="34" charset="0"/>
                <a:ea typeface="Calibri" pitchFamily="34" charset="-122"/>
                <a:cs typeface="Calibri" pitchFamily="34" charset="-120"/>
              </a:rPr>
              <a:t>80 min</a:t>
            </a:r>
            <a:endParaRPr lang="en-US" sz="1100" dirty="0"/>
          </a:p>
        </p:txBody>
      </p:sp>
      <p:sp>
        <p:nvSpPr>
          <p:cNvPr id="25" name="Text 23"/>
          <p:cNvSpPr txBox="1"/>
          <p:nvPr/>
        </p:nvSpPr>
        <p:spPr>
          <a:xfrm>
            <a:off x="6438748" y="4041648"/>
            <a:ext cx="2122094" cy="1051560"/>
          </a:xfrm>
          <a:prstGeom prst="rect">
            <a:avLst/>
          </a:prstGeom>
          <a:noFill/>
          <a:ln/>
        </p:spPr>
        <p:txBody>
          <a:bodyPr wrap="square" lIns="0" tIns="0" rIns="0" bIns="0" rtlCol="0" anchor="t"/>
          <a:lstStyle/>
          <a:p>
            <a:pPr indent="0" marL="0">
              <a:lnSpc>
                <a:spcPts val="1500"/>
              </a:lnSpc>
              <a:buNone/>
            </a:pPr>
            <a:r>
              <a:rPr lang="en-US" sz="1100" dirty="0">
                <a:solidFill>
                  <a:srgbClr val="5A6673"/>
                </a:solidFill>
                <a:latin typeface="Calibri" pitchFamily="34" charset="0"/>
                <a:ea typeface="Calibri" pitchFamily="34" charset="-122"/>
                <a:cs typeface="Calibri" pitchFamily="34" charset="-120"/>
              </a:rPr>
              <a:t>Gérer la complexité. Être orienté client. Être résilient. Développer les talents.</a:t>
            </a:r>
            <a:endParaRPr lang="en-US" sz="1100" dirty="0"/>
          </a:p>
        </p:txBody>
      </p:sp>
      <p:sp>
        <p:nvSpPr>
          <p:cNvPr id="26" name="Shape 24"/>
          <p:cNvSpPr/>
          <p:nvPr/>
        </p:nvSpPr>
        <p:spPr>
          <a:xfrm>
            <a:off x="9018041" y="2011680"/>
            <a:ext cx="2579294" cy="3200400"/>
          </a:xfrm>
          <a:prstGeom prst="roundRect">
            <a:avLst>
              <a:gd name="adj" fmla="val 2127"/>
            </a:avLst>
          </a:prstGeom>
          <a:solidFill>
            <a:srgbClr val="12212E"/>
          </a:solidFill>
          <a:ln/>
        </p:spPr>
      </p:sp>
      <p:sp>
        <p:nvSpPr>
          <p:cNvPr id="27" name="Shape 25"/>
          <p:cNvSpPr/>
          <p:nvPr/>
        </p:nvSpPr>
        <p:spPr>
          <a:xfrm>
            <a:off x="9246641" y="2212848"/>
            <a:ext cx="457200" cy="457200"/>
          </a:xfrm>
          <a:prstGeom prst="ellipse">
            <a:avLst/>
          </a:prstGeom>
          <a:solidFill>
            <a:srgbClr val="B05F3A"/>
          </a:solidFill>
          <a:ln/>
        </p:spPr>
      </p:sp>
      <p:sp>
        <p:nvSpPr>
          <p:cNvPr id="28" name="Text 26"/>
          <p:cNvSpPr txBox="1"/>
          <p:nvPr/>
        </p:nvSpPr>
        <p:spPr>
          <a:xfrm>
            <a:off x="9246641" y="2212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9246641" y="2834640"/>
            <a:ext cx="2122094" cy="566928"/>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Compétences et reprise</a:t>
            </a:r>
            <a:endParaRPr lang="en-US" sz="1700" dirty="0"/>
          </a:p>
        </p:txBody>
      </p:sp>
      <p:sp>
        <p:nvSpPr>
          <p:cNvPr id="30" name="Text 28"/>
          <p:cNvSpPr txBox="1"/>
          <p:nvPr/>
        </p:nvSpPr>
        <p:spPr>
          <a:xfrm>
            <a:off x="9246641" y="3456432"/>
            <a:ext cx="2122094" cy="256032"/>
          </a:xfrm>
          <a:prstGeom prst="rect">
            <a:avLst/>
          </a:prstGeom>
          <a:noFill/>
          <a:ln/>
        </p:spPr>
        <p:txBody>
          <a:bodyPr wrap="square" lIns="0" tIns="0" rIns="0" bIns="0" rtlCol="0" anchor="ctr"/>
          <a:lstStyle/>
          <a:p>
            <a:pPr indent="0" marL="0">
              <a:buNone/>
            </a:pPr>
            <a:r>
              <a:rPr lang="en-US" sz="1200" b="1" dirty="0">
                <a:solidFill>
                  <a:srgbClr val="E0956B"/>
                </a:solidFill>
                <a:latin typeface="Calibri" pitchFamily="34" charset="0"/>
                <a:ea typeface="Calibri" pitchFamily="34" charset="-122"/>
                <a:cs typeface="Calibri" pitchFamily="34" charset="-120"/>
              </a:rPr>
              <a:t>Hervé Gerbi</a:t>
            </a:r>
            <a:endParaRPr lang="en-US" sz="1200" dirty="0"/>
          </a:p>
        </p:txBody>
      </p:sp>
      <p:sp>
        <p:nvSpPr>
          <p:cNvPr id="31" name="Text 29"/>
          <p:cNvSpPr txBox="1"/>
          <p:nvPr/>
        </p:nvSpPr>
        <p:spPr>
          <a:xfrm>
            <a:off x="9246641" y="3712464"/>
            <a:ext cx="2122094" cy="237744"/>
          </a:xfrm>
          <a:prstGeom prst="rect">
            <a:avLst/>
          </a:prstGeom>
          <a:noFill/>
          <a:ln/>
        </p:spPr>
        <p:txBody>
          <a:bodyPr wrap="square" lIns="0" tIns="0" rIns="0" bIns="0" rtlCol="0" anchor="ctr"/>
          <a:lstStyle/>
          <a:p>
            <a:pPr indent="0" marL="0">
              <a:buNone/>
            </a:pPr>
            <a:r>
              <a:rPr lang="en-US" sz="1100" dirty="0">
                <a:solidFill>
                  <a:srgbClr val="9AA7B4"/>
                </a:solidFill>
                <a:latin typeface="Calibri" pitchFamily="34" charset="0"/>
                <a:ea typeface="Calibri" pitchFamily="34" charset="-122"/>
                <a:cs typeface="Calibri" pitchFamily="34" charset="-120"/>
              </a:rPr>
              <a:t>90 min</a:t>
            </a:r>
            <a:endParaRPr lang="en-US" sz="1100" dirty="0"/>
          </a:p>
        </p:txBody>
      </p:sp>
      <p:sp>
        <p:nvSpPr>
          <p:cNvPr id="32" name="Text 30"/>
          <p:cNvSpPr txBox="1"/>
          <p:nvPr/>
        </p:nvSpPr>
        <p:spPr>
          <a:xfrm>
            <a:off x="9246641" y="4041648"/>
            <a:ext cx="2122094" cy="1051560"/>
          </a:xfrm>
          <a:prstGeom prst="rect">
            <a:avLst/>
          </a:prstGeom>
          <a:noFill/>
          <a:ln/>
        </p:spPr>
        <p:txBody>
          <a:bodyPr wrap="square" lIns="0" tIns="0" rIns="0" bIns="0" rtlCol="0" anchor="t"/>
          <a:lstStyle/>
          <a:p>
            <a:pPr indent="0" marL="0">
              <a:lnSpc>
                <a:spcPts val="1500"/>
              </a:lnSpc>
              <a:buNone/>
            </a:pPr>
            <a:r>
              <a:rPr lang="en-US" sz="1100" dirty="0">
                <a:solidFill>
                  <a:srgbClr val="D6DEE7"/>
                </a:solidFill>
                <a:latin typeface="Calibri" pitchFamily="34" charset="0"/>
                <a:ea typeface="Calibri" pitchFamily="34" charset="-122"/>
                <a:cs typeface="Calibri" pitchFamily="34" charset="-120"/>
              </a:rPr>
              <a:t>Expertise fonctionnelle. Courage. Réseaux. Esprit stratégique. Projet de reprise.</a:t>
            </a:r>
            <a:endParaRPr lang="en-US" sz="1100" dirty="0"/>
          </a:p>
        </p:txBody>
      </p:sp>
      <p:sp>
        <p:nvSpPr>
          <p:cNvPr id="33" name="Shape 31"/>
          <p:cNvSpPr/>
          <p:nvPr/>
        </p:nvSpPr>
        <p:spPr>
          <a:xfrm>
            <a:off x="594360" y="5394960"/>
            <a:ext cx="11002975" cy="685800"/>
          </a:xfrm>
          <a:prstGeom prst="roundRect">
            <a:avLst>
              <a:gd name="adj" fmla="val 8000"/>
            </a:avLst>
          </a:prstGeom>
          <a:solidFill>
            <a:srgbClr val="FBF1EC"/>
          </a:solidFill>
          <a:ln/>
        </p:spPr>
      </p:sp>
      <p:sp>
        <p:nvSpPr>
          <p:cNvPr id="34" name="Text 32"/>
          <p:cNvSpPr txBox="1"/>
          <p:nvPr/>
        </p:nvSpPr>
        <p:spPr>
          <a:xfrm>
            <a:off x="914400" y="5559552"/>
            <a:ext cx="10362895" cy="384048"/>
          </a:xfrm>
          <a:prstGeom prst="rect">
            <a:avLst/>
          </a:prstGeom>
          <a:noFill/>
          <a:ln/>
        </p:spPr>
        <p:txBody>
          <a:bodyPr wrap="square" lIns="0" tIns="0" rIns="0" bIns="0" rtlCol="0" anchor="ctr"/>
          <a:lstStyle/>
          <a:p>
            <a:pPr indent="0" marL="0">
              <a:buNone/>
            </a:pPr>
            <a:r>
              <a:rPr lang="en-US" sz="1300" dirty="0">
                <a:solidFill>
                  <a:srgbClr val="12212E"/>
                </a:solidFill>
                <a:latin typeface="Calibri" pitchFamily="34" charset="0"/>
                <a:ea typeface="Calibri" pitchFamily="34" charset="-122"/>
                <a:cs typeface="Calibri" pitchFamily="34" charset="-120"/>
              </a:rPr>
              <a:t>Les étapes 3 et 4 se tiennent le même jour. Nous répondons au candidat sous cinq jours ouvrés après chaque étape.</a:t>
            </a:r>
            <a:endParaRPr lang="en-US" sz="1300" dirty="0"/>
          </a:p>
        </p:txBody>
      </p:sp>
      <p:sp>
        <p:nvSpPr>
          <p:cNvPr id="35" name="Text 33"/>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Détail : document 04, guide pour les entretiens.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RÉFÉRENTIEL KORN FERRY LEADERSHIP ARCHITECT</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Sept compétences, et ce que chacune protège</a:t>
            </a:r>
            <a:endParaRPr lang="en-US" sz="3300" dirty="0"/>
          </a:p>
        </p:txBody>
      </p:sp>
      <p:sp>
        <p:nvSpPr>
          <p:cNvPr id="4" name="Text 2"/>
          <p:cNvSpPr txBox="1"/>
          <p:nvPr/>
        </p:nvSpPr>
        <p:spPr>
          <a:xfrm>
            <a:off x="594360" y="1664208"/>
            <a:ext cx="4572000" cy="219456"/>
          </a:xfrm>
          <a:prstGeom prst="rect">
            <a:avLst/>
          </a:prstGeom>
          <a:noFill/>
          <a:ln/>
        </p:spPr>
        <p:txBody>
          <a:bodyPr wrap="square" lIns="0" tIns="0" rIns="0" bIns="0" rtlCol="0" anchor="ctr"/>
          <a:lstStyle/>
          <a:p>
            <a:pPr indent="0" marL="0">
              <a:buNone/>
            </a:pPr>
            <a:r>
              <a:rPr lang="en-US" sz="950" b="1" spc="150" kern="0" dirty="0">
                <a:solidFill>
                  <a:srgbClr val="1F4B7A"/>
                </a:solidFill>
                <a:latin typeface="Calibri" pitchFamily="34" charset="0"/>
                <a:ea typeface="Calibri" pitchFamily="34" charset="-122"/>
                <a:cs typeface="Calibri" pitchFamily="34" charset="-120"/>
              </a:rPr>
              <a:t>ÉTAPE 3 · MILÈNE BAUD</a:t>
            </a:r>
            <a:endParaRPr lang="en-US" sz="950" dirty="0"/>
          </a:p>
        </p:txBody>
      </p:sp>
      <p:sp>
        <p:nvSpPr>
          <p:cNvPr id="5" name="Shape 3"/>
          <p:cNvSpPr/>
          <p:nvPr/>
        </p:nvSpPr>
        <p:spPr>
          <a:xfrm>
            <a:off x="594360" y="1938528"/>
            <a:ext cx="2586152" cy="1691640"/>
          </a:xfrm>
          <a:prstGeom prst="roundRect">
            <a:avLst>
              <a:gd name="adj" fmla="val 3243"/>
            </a:avLst>
          </a:prstGeom>
          <a:solidFill>
            <a:srgbClr val="F2F5F8"/>
          </a:solidFill>
          <a:ln/>
        </p:spPr>
      </p:sp>
      <p:sp>
        <p:nvSpPr>
          <p:cNvPr id="6" name="Text 4"/>
          <p:cNvSpPr txBox="1"/>
          <p:nvPr/>
        </p:nvSpPr>
        <p:spPr>
          <a:xfrm>
            <a:off x="795528" y="2103120"/>
            <a:ext cx="2183816" cy="658368"/>
          </a:xfrm>
          <a:prstGeom prst="rect">
            <a:avLst/>
          </a:prstGeom>
          <a:noFill/>
          <a:ln/>
        </p:spPr>
        <p:txBody>
          <a:bodyPr wrap="square" lIns="0" tIns="0" rIns="0" bIns="0" rtlCol="0" anchor="t"/>
          <a:lstStyle/>
          <a:p>
            <a:pPr indent="0" marL="0">
              <a:buNone/>
            </a:pPr>
            <a:r>
              <a:rPr lang="en-US" sz="1600" b="1" dirty="0">
                <a:solidFill>
                  <a:srgbClr val="12212E"/>
                </a:solidFill>
                <a:latin typeface="Cambria" pitchFamily="34" charset="0"/>
                <a:ea typeface="Cambria" pitchFamily="34" charset="-122"/>
                <a:cs typeface="Cambria" pitchFamily="34" charset="-120"/>
              </a:rPr>
              <a:t>Gérer la complexité</a:t>
            </a:r>
            <a:endParaRPr lang="en-US" sz="1600" dirty="0"/>
          </a:p>
        </p:txBody>
      </p:sp>
      <p:sp>
        <p:nvSpPr>
          <p:cNvPr id="7" name="Text 5"/>
          <p:cNvSpPr txBox="1"/>
          <p:nvPr/>
        </p:nvSpPr>
        <p:spPr>
          <a:xfrm>
            <a:off x="795528" y="2807208"/>
            <a:ext cx="2183816" cy="713232"/>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Le cœur technique du dossier corporel : pièces médicales, expertises contradictoires, chiffrage</a:t>
            </a:r>
            <a:endParaRPr lang="en-US" sz="1100" dirty="0"/>
          </a:p>
        </p:txBody>
      </p:sp>
      <p:sp>
        <p:nvSpPr>
          <p:cNvPr id="8" name="Shape 6"/>
          <p:cNvSpPr/>
          <p:nvPr/>
        </p:nvSpPr>
        <p:spPr>
          <a:xfrm>
            <a:off x="3399968" y="1938528"/>
            <a:ext cx="2586152" cy="1691640"/>
          </a:xfrm>
          <a:prstGeom prst="roundRect">
            <a:avLst>
              <a:gd name="adj" fmla="val 3243"/>
            </a:avLst>
          </a:prstGeom>
          <a:solidFill>
            <a:srgbClr val="F2F5F8"/>
          </a:solidFill>
          <a:ln/>
        </p:spPr>
      </p:sp>
      <p:sp>
        <p:nvSpPr>
          <p:cNvPr id="9" name="Text 7"/>
          <p:cNvSpPr txBox="1"/>
          <p:nvPr/>
        </p:nvSpPr>
        <p:spPr>
          <a:xfrm>
            <a:off x="3601136" y="2103120"/>
            <a:ext cx="2183816" cy="658368"/>
          </a:xfrm>
          <a:prstGeom prst="rect">
            <a:avLst/>
          </a:prstGeom>
          <a:noFill/>
          <a:ln/>
        </p:spPr>
        <p:txBody>
          <a:bodyPr wrap="square" lIns="0" tIns="0" rIns="0" bIns="0" rtlCol="0" anchor="t"/>
          <a:lstStyle/>
          <a:p>
            <a:pPr indent="0" marL="0">
              <a:buNone/>
            </a:pPr>
            <a:r>
              <a:rPr lang="en-US" sz="1600" b="1" dirty="0">
                <a:solidFill>
                  <a:srgbClr val="12212E"/>
                </a:solidFill>
                <a:latin typeface="Cambria" pitchFamily="34" charset="0"/>
                <a:ea typeface="Cambria" pitchFamily="34" charset="-122"/>
                <a:cs typeface="Cambria" pitchFamily="34" charset="-120"/>
              </a:rPr>
              <a:t>Être orienté client</a:t>
            </a:r>
            <a:endParaRPr lang="en-US" sz="1600" dirty="0"/>
          </a:p>
        </p:txBody>
      </p:sp>
      <p:sp>
        <p:nvSpPr>
          <p:cNvPr id="10" name="Text 8"/>
          <p:cNvSpPr txBox="1"/>
          <p:nvPr/>
        </p:nvSpPr>
        <p:spPr>
          <a:xfrm>
            <a:off x="3601136" y="2807208"/>
            <a:ext cx="2183816" cy="713232"/>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La relation avec la victime et ses proches, qui est notre positionnement même</a:t>
            </a:r>
            <a:endParaRPr lang="en-US" sz="1100" dirty="0"/>
          </a:p>
        </p:txBody>
      </p:sp>
      <p:sp>
        <p:nvSpPr>
          <p:cNvPr id="11" name="Shape 9"/>
          <p:cNvSpPr/>
          <p:nvPr/>
        </p:nvSpPr>
        <p:spPr>
          <a:xfrm>
            <a:off x="5620360" y="2121408"/>
            <a:ext cx="164592" cy="164592"/>
          </a:xfrm>
          <a:prstGeom prst="ellipse">
            <a:avLst/>
          </a:prstGeom>
          <a:solidFill>
            <a:srgbClr val="B05F3A"/>
          </a:solidFill>
          <a:ln/>
        </p:spPr>
      </p:sp>
      <p:sp>
        <p:nvSpPr>
          <p:cNvPr id="12" name="Shape 10"/>
          <p:cNvSpPr/>
          <p:nvPr/>
        </p:nvSpPr>
        <p:spPr>
          <a:xfrm>
            <a:off x="6205576" y="1938528"/>
            <a:ext cx="2586152" cy="1691640"/>
          </a:xfrm>
          <a:prstGeom prst="roundRect">
            <a:avLst>
              <a:gd name="adj" fmla="val 3243"/>
            </a:avLst>
          </a:prstGeom>
          <a:solidFill>
            <a:srgbClr val="F2F5F8"/>
          </a:solidFill>
          <a:ln/>
        </p:spPr>
      </p:sp>
      <p:sp>
        <p:nvSpPr>
          <p:cNvPr id="13" name="Text 11"/>
          <p:cNvSpPr txBox="1"/>
          <p:nvPr/>
        </p:nvSpPr>
        <p:spPr>
          <a:xfrm>
            <a:off x="6406744" y="2103120"/>
            <a:ext cx="2183816" cy="658368"/>
          </a:xfrm>
          <a:prstGeom prst="rect">
            <a:avLst/>
          </a:prstGeom>
          <a:noFill/>
          <a:ln/>
        </p:spPr>
        <p:txBody>
          <a:bodyPr wrap="square" lIns="0" tIns="0" rIns="0" bIns="0" rtlCol="0" anchor="t"/>
          <a:lstStyle/>
          <a:p>
            <a:pPr indent="0" marL="0">
              <a:buNone/>
            </a:pPr>
            <a:r>
              <a:rPr lang="en-US" sz="1600" b="1" dirty="0">
                <a:solidFill>
                  <a:srgbClr val="12212E"/>
                </a:solidFill>
                <a:latin typeface="Cambria" pitchFamily="34" charset="0"/>
                <a:ea typeface="Cambria" pitchFamily="34" charset="-122"/>
                <a:cs typeface="Cambria" pitchFamily="34" charset="-120"/>
              </a:rPr>
              <a:t>Être résilient</a:t>
            </a:r>
            <a:endParaRPr lang="en-US" sz="1600" dirty="0"/>
          </a:p>
        </p:txBody>
      </p:sp>
      <p:sp>
        <p:nvSpPr>
          <p:cNvPr id="14" name="Text 12"/>
          <p:cNvSpPr txBox="1"/>
          <p:nvPr/>
        </p:nvSpPr>
        <p:spPr>
          <a:xfrm>
            <a:off x="6406744" y="2807208"/>
            <a:ext cx="2183816" cy="713232"/>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La durée des dossiers et la charge émotionnelle, première cause de décrochage</a:t>
            </a:r>
            <a:endParaRPr lang="en-US" sz="1100" dirty="0"/>
          </a:p>
        </p:txBody>
      </p:sp>
      <p:sp>
        <p:nvSpPr>
          <p:cNvPr id="15" name="Shape 13"/>
          <p:cNvSpPr/>
          <p:nvPr/>
        </p:nvSpPr>
        <p:spPr>
          <a:xfrm>
            <a:off x="9011183" y="1938528"/>
            <a:ext cx="2586152" cy="1691640"/>
          </a:xfrm>
          <a:prstGeom prst="roundRect">
            <a:avLst>
              <a:gd name="adj" fmla="val 3243"/>
            </a:avLst>
          </a:prstGeom>
          <a:solidFill>
            <a:srgbClr val="F2F5F8"/>
          </a:solidFill>
          <a:ln/>
        </p:spPr>
      </p:sp>
      <p:sp>
        <p:nvSpPr>
          <p:cNvPr id="16" name="Text 14"/>
          <p:cNvSpPr txBox="1"/>
          <p:nvPr/>
        </p:nvSpPr>
        <p:spPr>
          <a:xfrm>
            <a:off x="9212351" y="2103120"/>
            <a:ext cx="2183816" cy="658368"/>
          </a:xfrm>
          <a:prstGeom prst="rect">
            <a:avLst/>
          </a:prstGeom>
          <a:noFill/>
          <a:ln/>
        </p:spPr>
        <p:txBody>
          <a:bodyPr wrap="square" lIns="0" tIns="0" rIns="0" bIns="0" rtlCol="0" anchor="t"/>
          <a:lstStyle/>
          <a:p>
            <a:pPr indent="0" marL="0">
              <a:buNone/>
            </a:pPr>
            <a:r>
              <a:rPr lang="en-US" sz="1600" b="1" dirty="0">
                <a:solidFill>
                  <a:srgbClr val="12212E"/>
                </a:solidFill>
                <a:latin typeface="Cambria" pitchFamily="34" charset="0"/>
                <a:ea typeface="Cambria" pitchFamily="34" charset="-122"/>
                <a:cs typeface="Cambria" pitchFamily="34" charset="-120"/>
              </a:rPr>
              <a:t>Développer les talents</a:t>
            </a:r>
            <a:endParaRPr lang="en-US" sz="1600" dirty="0"/>
          </a:p>
        </p:txBody>
      </p:sp>
      <p:sp>
        <p:nvSpPr>
          <p:cNvPr id="17" name="Text 15"/>
          <p:cNvSpPr txBox="1"/>
          <p:nvPr/>
        </p:nvSpPr>
        <p:spPr>
          <a:xfrm>
            <a:off x="9212351" y="2807208"/>
            <a:ext cx="2183816" cy="713232"/>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L'équipe, au moment où le fondateur se retire</a:t>
            </a:r>
            <a:endParaRPr lang="en-US" sz="1100" dirty="0"/>
          </a:p>
        </p:txBody>
      </p:sp>
      <p:sp>
        <p:nvSpPr>
          <p:cNvPr id="18" name="Shape 16"/>
          <p:cNvSpPr/>
          <p:nvPr/>
        </p:nvSpPr>
        <p:spPr>
          <a:xfrm>
            <a:off x="11231575" y="2121408"/>
            <a:ext cx="164592" cy="164592"/>
          </a:xfrm>
          <a:prstGeom prst="ellipse">
            <a:avLst/>
          </a:prstGeom>
          <a:solidFill>
            <a:srgbClr val="B05F3A"/>
          </a:solidFill>
          <a:ln/>
        </p:spPr>
      </p:sp>
      <p:sp>
        <p:nvSpPr>
          <p:cNvPr id="19" name="Text 17"/>
          <p:cNvSpPr txBox="1"/>
          <p:nvPr/>
        </p:nvSpPr>
        <p:spPr>
          <a:xfrm>
            <a:off x="594360" y="3822192"/>
            <a:ext cx="4572000" cy="219456"/>
          </a:xfrm>
          <a:prstGeom prst="rect">
            <a:avLst/>
          </a:prstGeom>
          <a:noFill/>
          <a:ln/>
        </p:spPr>
        <p:txBody>
          <a:bodyPr wrap="square" lIns="0" tIns="0" rIns="0" bIns="0" rtlCol="0" anchor="ctr"/>
          <a:lstStyle/>
          <a:p>
            <a:pPr indent="0" marL="0">
              <a:buNone/>
            </a:pPr>
            <a:r>
              <a:rPr lang="en-US" sz="950" b="1" spc="150" kern="0" dirty="0">
                <a:solidFill>
                  <a:srgbClr val="1F4B7A"/>
                </a:solidFill>
                <a:latin typeface="Calibri" pitchFamily="34" charset="0"/>
                <a:ea typeface="Calibri" pitchFamily="34" charset="-122"/>
                <a:cs typeface="Calibri" pitchFamily="34" charset="-120"/>
              </a:rPr>
              <a:t>ÉTAPE 4 · HERVÉ GERBI</a:t>
            </a:r>
            <a:endParaRPr lang="en-US" sz="950" dirty="0"/>
          </a:p>
        </p:txBody>
      </p:sp>
      <p:sp>
        <p:nvSpPr>
          <p:cNvPr id="20" name="Shape 18"/>
          <p:cNvSpPr/>
          <p:nvPr/>
        </p:nvSpPr>
        <p:spPr>
          <a:xfrm>
            <a:off x="594360" y="4096512"/>
            <a:ext cx="3496970" cy="1417320"/>
          </a:xfrm>
          <a:prstGeom prst="roundRect">
            <a:avLst>
              <a:gd name="adj" fmla="val 3871"/>
            </a:avLst>
          </a:prstGeom>
          <a:solidFill>
            <a:srgbClr val="F2F5F8"/>
          </a:solidFill>
          <a:ln/>
        </p:spPr>
      </p:sp>
      <p:sp>
        <p:nvSpPr>
          <p:cNvPr id="21" name="Text 19"/>
          <p:cNvSpPr txBox="1"/>
          <p:nvPr/>
        </p:nvSpPr>
        <p:spPr>
          <a:xfrm>
            <a:off x="822960" y="4261104"/>
            <a:ext cx="3039770" cy="566928"/>
          </a:xfrm>
          <a:prstGeom prst="rect">
            <a:avLst/>
          </a:prstGeom>
          <a:noFill/>
          <a:ln/>
        </p:spPr>
        <p:txBody>
          <a:bodyPr wrap="square" lIns="0" tIns="0" rIns="0" bIns="0" rtlCol="0" anchor="t"/>
          <a:lstStyle/>
          <a:p>
            <a:pPr indent="0" marL="0">
              <a:buNone/>
            </a:pPr>
            <a:r>
              <a:rPr lang="en-US" sz="1650" b="1" dirty="0">
                <a:solidFill>
                  <a:srgbClr val="12212E"/>
                </a:solidFill>
                <a:latin typeface="Cambria" pitchFamily="34" charset="0"/>
                <a:ea typeface="Cambria" pitchFamily="34" charset="-122"/>
                <a:cs typeface="Cambria" pitchFamily="34" charset="-120"/>
              </a:rPr>
              <a:t>Faire preuve de courage</a:t>
            </a:r>
            <a:endParaRPr lang="en-US" sz="1650" dirty="0"/>
          </a:p>
        </p:txBody>
      </p:sp>
      <p:sp>
        <p:nvSpPr>
          <p:cNvPr id="22" name="Text 20"/>
          <p:cNvSpPr txBox="1"/>
          <p:nvPr/>
        </p:nvSpPr>
        <p:spPr>
          <a:xfrm>
            <a:off x="822960" y="4846320"/>
            <a:ext cx="3039770" cy="566928"/>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La capacité à contredire un client, un expert, et son futur associé</a:t>
            </a:r>
            <a:endParaRPr lang="en-US" sz="1100" dirty="0"/>
          </a:p>
        </p:txBody>
      </p:sp>
      <p:sp>
        <p:nvSpPr>
          <p:cNvPr id="23" name="Shape 21"/>
          <p:cNvSpPr/>
          <p:nvPr/>
        </p:nvSpPr>
        <p:spPr>
          <a:xfrm>
            <a:off x="4347362" y="4096512"/>
            <a:ext cx="3496970" cy="1417320"/>
          </a:xfrm>
          <a:prstGeom prst="roundRect">
            <a:avLst>
              <a:gd name="adj" fmla="val 3871"/>
            </a:avLst>
          </a:prstGeom>
          <a:solidFill>
            <a:srgbClr val="F2F5F8"/>
          </a:solidFill>
          <a:ln/>
        </p:spPr>
      </p:sp>
      <p:sp>
        <p:nvSpPr>
          <p:cNvPr id="24" name="Text 22"/>
          <p:cNvSpPr txBox="1"/>
          <p:nvPr/>
        </p:nvSpPr>
        <p:spPr>
          <a:xfrm>
            <a:off x="4575962" y="4261104"/>
            <a:ext cx="3039770" cy="566928"/>
          </a:xfrm>
          <a:prstGeom prst="rect">
            <a:avLst/>
          </a:prstGeom>
          <a:noFill/>
          <a:ln/>
        </p:spPr>
        <p:txBody>
          <a:bodyPr wrap="square" lIns="0" tIns="0" rIns="0" bIns="0" rtlCol="0" anchor="t"/>
          <a:lstStyle/>
          <a:p>
            <a:pPr indent="0" marL="0">
              <a:buNone/>
            </a:pPr>
            <a:r>
              <a:rPr lang="en-US" sz="1650" b="1" dirty="0">
                <a:solidFill>
                  <a:srgbClr val="12212E"/>
                </a:solidFill>
                <a:latin typeface="Cambria" pitchFamily="34" charset="0"/>
                <a:ea typeface="Cambria" pitchFamily="34" charset="-122"/>
                <a:cs typeface="Cambria" pitchFamily="34" charset="-120"/>
              </a:rPr>
              <a:t>Créer des réseaux</a:t>
            </a:r>
            <a:endParaRPr lang="en-US" sz="1650" dirty="0"/>
          </a:p>
        </p:txBody>
      </p:sp>
      <p:sp>
        <p:nvSpPr>
          <p:cNvPr id="25" name="Text 23"/>
          <p:cNvSpPr txBox="1"/>
          <p:nvPr/>
        </p:nvSpPr>
        <p:spPr>
          <a:xfrm>
            <a:off x="4575962" y="4846320"/>
            <a:ext cx="3039770" cy="566928"/>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L'apport d'affaires, condition économique réelle de la reprise</a:t>
            </a:r>
            <a:endParaRPr lang="en-US" sz="1100" dirty="0"/>
          </a:p>
        </p:txBody>
      </p:sp>
      <p:sp>
        <p:nvSpPr>
          <p:cNvPr id="26" name="Shape 24"/>
          <p:cNvSpPr/>
          <p:nvPr/>
        </p:nvSpPr>
        <p:spPr>
          <a:xfrm>
            <a:off x="7432853" y="4279392"/>
            <a:ext cx="164592" cy="164592"/>
          </a:xfrm>
          <a:prstGeom prst="ellipse">
            <a:avLst/>
          </a:prstGeom>
          <a:solidFill>
            <a:srgbClr val="B05F3A"/>
          </a:solidFill>
          <a:ln/>
        </p:spPr>
      </p:sp>
      <p:sp>
        <p:nvSpPr>
          <p:cNvPr id="27" name="Shape 25"/>
          <p:cNvSpPr/>
          <p:nvPr/>
        </p:nvSpPr>
        <p:spPr>
          <a:xfrm>
            <a:off x="8100365" y="4096512"/>
            <a:ext cx="3496970" cy="1417320"/>
          </a:xfrm>
          <a:prstGeom prst="roundRect">
            <a:avLst>
              <a:gd name="adj" fmla="val 3871"/>
            </a:avLst>
          </a:prstGeom>
          <a:solidFill>
            <a:srgbClr val="F2F5F8"/>
          </a:solidFill>
          <a:ln/>
        </p:spPr>
      </p:sp>
      <p:sp>
        <p:nvSpPr>
          <p:cNvPr id="28" name="Text 26"/>
          <p:cNvSpPr txBox="1"/>
          <p:nvPr/>
        </p:nvSpPr>
        <p:spPr>
          <a:xfrm>
            <a:off x="8328965" y="4261104"/>
            <a:ext cx="3039770" cy="566928"/>
          </a:xfrm>
          <a:prstGeom prst="rect">
            <a:avLst/>
          </a:prstGeom>
          <a:noFill/>
          <a:ln/>
        </p:spPr>
        <p:txBody>
          <a:bodyPr wrap="square" lIns="0" tIns="0" rIns="0" bIns="0" rtlCol="0" anchor="t"/>
          <a:lstStyle/>
          <a:p>
            <a:pPr indent="0" marL="0">
              <a:buNone/>
            </a:pPr>
            <a:r>
              <a:rPr lang="en-US" sz="1650" b="1" dirty="0">
                <a:solidFill>
                  <a:srgbClr val="12212E"/>
                </a:solidFill>
                <a:latin typeface="Cambria" pitchFamily="34" charset="0"/>
                <a:ea typeface="Cambria" pitchFamily="34" charset="-122"/>
                <a:cs typeface="Cambria" pitchFamily="34" charset="-120"/>
              </a:rPr>
              <a:t>Faire preuve d'esprit stratégique</a:t>
            </a:r>
            <a:endParaRPr lang="en-US" sz="1650" dirty="0"/>
          </a:p>
        </p:txBody>
      </p:sp>
      <p:sp>
        <p:nvSpPr>
          <p:cNvPr id="29" name="Text 27"/>
          <p:cNvSpPr txBox="1"/>
          <p:nvPr/>
        </p:nvSpPr>
        <p:spPr>
          <a:xfrm>
            <a:off x="8328965" y="4846320"/>
            <a:ext cx="3039770" cy="566928"/>
          </a:xfrm>
          <a:prstGeom prst="rect">
            <a:avLst/>
          </a:prstGeom>
          <a:noFill/>
          <a:ln/>
        </p:spPr>
        <p:txBody>
          <a:bodyPr wrap="square" lIns="0" tIns="0" rIns="0" bIns="0" rtlCol="0" anchor="t"/>
          <a:lstStyle/>
          <a:p>
            <a:pPr indent="0" marL="0">
              <a:lnSpc>
                <a:spcPts val="1400"/>
              </a:lnSpc>
              <a:buNone/>
            </a:pPr>
            <a:r>
              <a:rPr lang="en-US" sz="1100" dirty="0">
                <a:solidFill>
                  <a:srgbClr val="5A6673"/>
                </a:solidFill>
                <a:latin typeface="Calibri" pitchFamily="34" charset="0"/>
                <a:ea typeface="Calibri" pitchFamily="34" charset="-122"/>
                <a:cs typeface="Calibri" pitchFamily="34" charset="-120"/>
              </a:rPr>
              <a:t>La direction du cabinet, pas seulement son propre portefeuille</a:t>
            </a:r>
            <a:endParaRPr lang="en-US" sz="1100" dirty="0"/>
          </a:p>
        </p:txBody>
      </p:sp>
      <p:sp>
        <p:nvSpPr>
          <p:cNvPr id="30" name="Shape 28"/>
          <p:cNvSpPr/>
          <p:nvPr/>
        </p:nvSpPr>
        <p:spPr>
          <a:xfrm>
            <a:off x="594360" y="5724144"/>
            <a:ext cx="146304" cy="146304"/>
          </a:xfrm>
          <a:prstGeom prst="ellipse">
            <a:avLst/>
          </a:prstGeom>
          <a:solidFill>
            <a:srgbClr val="B05F3A"/>
          </a:solidFill>
          <a:ln/>
        </p:spPr>
      </p:sp>
      <p:sp>
        <p:nvSpPr>
          <p:cNvPr id="31" name="Text 29"/>
          <p:cNvSpPr txBox="1"/>
          <p:nvPr/>
        </p:nvSpPr>
        <p:spPr>
          <a:xfrm>
            <a:off x="868680" y="5650992"/>
            <a:ext cx="10728655" cy="274320"/>
          </a:xfrm>
          <a:prstGeom prst="rect">
            <a:avLst/>
          </a:prstGeom>
          <a:noFill/>
          <a:ln/>
        </p:spPr>
        <p:txBody>
          <a:bodyPr wrap="square" lIns="0" tIns="0" rIns="0" bIns="0" rtlCol="0" anchor="ctr"/>
          <a:lstStyle/>
          <a:p>
            <a:pPr indent="0" marL="0">
              <a:buNone/>
            </a:pPr>
            <a:r>
              <a:rPr lang="en-US" sz="1250" b="1" dirty="0">
                <a:solidFill>
                  <a:srgbClr val="12212E"/>
                </a:solidFill>
                <a:latin typeface="Calibri" pitchFamily="34" charset="0"/>
                <a:ea typeface="Calibri" pitchFamily="34" charset="-122"/>
                <a:cs typeface="Calibri" pitchFamily="34" charset="-120"/>
              </a:rPr>
              <a:t>Une note de 1 sur ces compétences, ou sur le bloc Expertise fonctionnelle, arrête le processus.</a:t>
            </a:r>
            <a:endParaRPr lang="en-US" sz="1250" dirty="0"/>
          </a:p>
        </p:txBody>
      </p:sp>
      <p:sp>
        <p:nvSpPr>
          <p:cNvPr id="32" name="Text 30"/>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Sept compétences retenues sur les trente-huit du référentiel. Développer les talents a été ajoutée après l'arbitrage sur la succession.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UNE CORRECTION DU DISPOSITIF</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Pourquoi l'expertise technique est évaluée par Hervé</a:t>
            </a:r>
            <a:endParaRPr lang="en-US" sz="3300" dirty="0"/>
          </a:p>
        </p:txBody>
      </p:sp>
      <p:sp>
        <p:nvSpPr>
          <p:cNvPr id="4" name="Shape 2"/>
          <p:cNvSpPr/>
          <p:nvPr/>
        </p:nvSpPr>
        <p:spPr>
          <a:xfrm>
            <a:off x="594360" y="1737360"/>
            <a:ext cx="5318608" cy="2286000"/>
          </a:xfrm>
          <a:prstGeom prst="roundRect">
            <a:avLst>
              <a:gd name="adj" fmla="val 2400"/>
            </a:avLst>
          </a:prstGeom>
          <a:solidFill>
            <a:srgbClr val="F2F5F8"/>
          </a:solidFill>
          <a:ln/>
        </p:spPr>
      </p:sp>
      <p:sp>
        <p:nvSpPr>
          <p:cNvPr id="5" name="Text 3"/>
          <p:cNvSpPr txBox="1"/>
          <p:nvPr/>
        </p:nvSpPr>
        <p:spPr>
          <a:xfrm>
            <a:off x="868680" y="1938528"/>
            <a:ext cx="4769968" cy="310896"/>
          </a:xfrm>
          <a:prstGeom prst="rect">
            <a:avLst/>
          </a:prstGeom>
          <a:noFill/>
          <a:ln/>
        </p:spPr>
        <p:txBody>
          <a:bodyPr wrap="square" lIns="0" tIns="0" rIns="0" bIns="0" rtlCol="0" anchor="ctr"/>
          <a:lstStyle/>
          <a:p>
            <a:pPr indent="0" marL="0">
              <a:buNone/>
            </a:pPr>
            <a:r>
              <a:rPr lang="en-US" sz="1400" b="1" dirty="0">
                <a:solidFill>
                  <a:srgbClr val="1F4B7A"/>
                </a:solidFill>
                <a:latin typeface="Calibri" pitchFamily="34" charset="0"/>
                <a:ea typeface="Calibri" pitchFamily="34" charset="-122"/>
                <a:cs typeface="Calibri" pitchFamily="34" charset="-120"/>
              </a:rPr>
              <a:t>Ce que Milène peut évaluer</a:t>
            </a:r>
            <a:endParaRPr lang="en-US" sz="1400" dirty="0"/>
          </a:p>
        </p:txBody>
      </p:sp>
      <p:sp>
        <p:nvSpPr>
          <p:cNvPr id="6" name="Text 4"/>
          <p:cNvSpPr txBox="1"/>
          <p:nvPr/>
        </p:nvSpPr>
        <p:spPr>
          <a:xfrm>
            <a:off x="868680" y="2304288"/>
            <a:ext cx="4769968" cy="1600200"/>
          </a:xfrm>
          <a:prstGeom prst="rect">
            <a:avLst/>
          </a:prstGeom>
          <a:noFill/>
          <a:ln/>
        </p:spPr>
        <p:txBody>
          <a:bodyPr wrap="square" lIns="0" tIns="0" rIns="0" bIns="0" rtlCol="0" anchor="t"/>
          <a:lstStyle/>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Les trois compétences de l'étape 3 sont comportementales.</a:t>
            </a:r>
            <a:endParaRPr lang="en-US" sz="1250" dirty="0"/>
          </a:p>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La méthode note l'approche décrite par le candidat, les étapes qu'il a suivies et ce qu'il en a tiré. Pas l'exactitude juridique de sa conclusion.</a:t>
            </a:r>
            <a:endParaRPr lang="en-US" sz="1250" dirty="0"/>
          </a:p>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Sur Être orienté client, l'office manager est même le meilleur observateur du cabinet : elle voit chaque jour comment les clients sont réellement traités.</a:t>
            </a:r>
            <a:endParaRPr lang="en-US" sz="1250" dirty="0"/>
          </a:p>
        </p:txBody>
      </p:sp>
      <p:sp>
        <p:nvSpPr>
          <p:cNvPr id="7" name="Shape 5"/>
          <p:cNvSpPr/>
          <p:nvPr/>
        </p:nvSpPr>
        <p:spPr>
          <a:xfrm>
            <a:off x="6278728" y="1737360"/>
            <a:ext cx="5318608" cy="2286000"/>
          </a:xfrm>
          <a:prstGeom prst="roundRect">
            <a:avLst>
              <a:gd name="adj" fmla="val 2400"/>
            </a:avLst>
          </a:prstGeom>
          <a:solidFill>
            <a:srgbClr val="FBF1EC"/>
          </a:solidFill>
          <a:ln/>
        </p:spPr>
      </p:sp>
      <p:sp>
        <p:nvSpPr>
          <p:cNvPr id="8" name="Text 6"/>
          <p:cNvSpPr txBox="1"/>
          <p:nvPr/>
        </p:nvSpPr>
        <p:spPr>
          <a:xfrm>
            <a:off x="6553048" y="1938528"/>
            <a:ext cx="4769968" cy="310896"/>
          </a:xfrm>
          <a:prstGeom prst="rect">
            <a:avLst/>
          </a:prstGeom>
          <a:noFill/>
          <a:ln/>
        </p:spPr>
        <p:txBody>
          <a:bodyPr wrap="square" lIns="0" tIns="0" rIns="0" bIns="0" rtlCol="0" anchor="ctr"/>
          <a:lstStyle/>
          <a:p>
            <a:pPr indent="0" marL="0">
              <a:buNone/>
            </a:pPr>
            <a:r>
              <a:rPr lang="en-US" sz="1400" b="1" dirty="0">
                <a:solidFill>
                  <a:srgbClr val="B05F3A"/>
                </a:solidFill>
                <a:latin typeface="Calibri" pitchFamily="34" charset="0"/>
                <a:ea typeface="Calibri" pitchFamily="34" charset="-122"/>
                <a:cs typeface="Calibri" pitchFamily="34" charset="-120"/>
              </a:rPr>
              <a:t>Ce qu'elle ne peut pas évaluer</a:t>
            </a:r>
            <a:endParaRPr lang="en-US" sz="1400" dirty="0"/>
          </a:p>
        </p:txBody>
      </p:sp>
      <p:sp>
        <p:nvSpPr>
          <p:cNvPr id="9" name="Text 7"/>
          <p:cNvSpPr txBox="1"/>
          <p:nvPr/>
        </p:nvSpPr>
        <p:spPr>
          <a:xfrm>
            <a:off x="6553048" y="2304288"/>
            <a:ext cx="4769968" cy="1600200"/>
          </a:xfrm>
          <a:prstGeom prst="rect">
            <a:avLst/>
          </a:prstGeom>
          <a:noFill/>
          <a:ln/>
        </p:spPr>
        <p:txBody>
          <a:bodyPr wrap="square" lIns="0" tIns="0" rIns="0" bIns="0" rtlCol="0" anchor="t"/>
          <a:lstStyle/>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L'expertise fonctionnelle est le seul bloc qui exige de l'intervieweur qu'il maîtrise la matière.</a:t>
            </a:r>
            <a:endParaRPr lang="en-US" sz="1250" dirty="0"/>
          </a:p>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Savoir si un candidat lit correctement un rapport d'expertise médicale, s'il chiffre un poste de préjudice selon la bonne méthode, si son arbitrage entre transaction et contentieux tient : cela suppose de connaître la réponse.</a:t>
            </a:r>
            <a:endParaRPr lang="en-US" sz="1250" dirty="0"/>
          </a:p>
        </p:txBody>
      </p:sp>
      <p:sp>
        <p:nvSpPr>
          <p:cNvPr id="10" name="Shape 8"/>
          <p:cNvSpPr/>
          <p:nvPr/>
        </p:nvSpPr>
        <p:spPr>
          <a:xfrm>
            <a:off x="594360" y="4251960"/>
            <a:ext cx="11002975" cy="1051560"/>
          </a:xfrm>
          <a:prstGeom prst="roundRect">
            <a:avLst>
              <a:gd name="adj" fmla="val 5217"/>
            </a:avLst>
          </a:prstGeom>
          <a:solidFill>
            <a:srgbClr val="12212E"/>
          </a:solidFill>
          <a:ln/>
        </p:spPr>
      </p:sp>
      <p:sp>
        <p:nvSpPr>
          <p:cNvPr id="11" name="Text 9"/>
          <p:cNvSpPr txBox="1"/>
          <p:nvPr/>
        </p:nvSpPr>
        <p:spPr>
          <a:xfrm>
            <a:off x="1005840" y="4480560"/>
            <a:ext cx="10180015" cy="640080"/>
          </a:xfrm>
          <a:prstGeom prst="rect">
            <a:avLst/>
          </a:prstGeom>
          <a:noFill/>
          <a:ln/>
        </p:spPr>
        <p:txBody>
          <a:bodyPr wrap="square" lIns="0" tIns="0" rIns="0" bIns="0" rtlCol="0" anchor="t"/>
          <a:lstStyle/>
          <a:p>
            <a:pPr indent="0" marL="0">
              <a:lnSpc>
                <a:spcPts val="2400"/>
              </a:lnSpc>
              <a:buNone/>
            </a:pPr>
            <a:r>
              <a:rPr lang="en-US" sz="1600" b="1" dirty="0">
                <a:solidFill>
                  <a:srgbClr val="FFFFFF"/>
                </a:solidFill>
                <a:latin typeface="Cambria" pitchFamily="34" charset="0"/>
                <a:ea typeface="Cambria" pitchFamily="34" charset="-122"/>
                <a:cs typeface="Cambria" pitchFamily="34" charset="-120"/>
              </a:rPr>
              <a:t>Une note produite par quelqu'un qui ne peut pas juger du fond n'est pas une évaluation prudente. C'est une évaluation fausse habillée en méthode, et c'est plus dangereux qu'une absence de note.</a:t>
            </a:r>
            <a:endParaRPr lang="en-US" sz="1600" dirty="0"/>
          </a:p>
        </p:txBody>
      </p:sp>
      <p:sp>
        <p:nvSpPr>
          <p:cNvPr id="12" name="Text 10"/>
          <p:cNvSpPr txBox="1"/>
          <p:nvPr/>
        </p:nvSpPr>
        <p:spPr>
          <a:xfrm>
            <a:off x="594360" y="5486400"/>
            <a:ext cx="11002975" cy="640080"/>
          </a:xfrm>
          <a:prstGeom prst="rect">
            <a:avLst/>
          </a:prstGeom>
          <a:noFill/>
          <a:ln/>
        </p:spPr>
        <p:txBody>
          <a:bodyPr wrap="square" lIns="0" tIns="0" rIns="0" bIns="0" rtlCol="0" anchor="t"/>
          <a:lstStyle/>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Le bloc est donc passé à l'étape 4. L'étape 4 monte à 90 minutes, l'étape 3 descend à 60. Et l'étape 1 gagne trois questions techniques consignées mot à mot, qu'Hervé relit en dix minutes, pour ne pas découvrir un problème technique au quatrième entretien.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RÔLES</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Hervé, ce que le plan attend de vous</a:t>
            </a:r>
            <a:endParaRPr lang="en-US" sz="3300" dirty="0"/>
          </a:p>
        </p:txBody>
      </p:sp>
      <p:sp>
        <p:nvSpPr>
          <p:cNvPr id="4" name="Shape 2"/>
          <p:cNvSpPr/>
          <p:nvPr/>
        </p:nvSpPr>
        <p:spPr>
          <a:xfrm>
            <a:off x="594360" y="1719072"/>
            <a:ext cx="11002975" cy="676656"/>
          </a:xfrm>
          <a:prstGeom prst="roundRect">
            <a:avLst>
              <a:gd name="adj" fmla="val 8108"/>
            </a:avLst>
          </a:prstGeom>
          <a:solidFill>
            <a:srgbClr val="F2F5F8"/>
          </a:solidFill>
          <a:ln/>
        </p:spPr>
      </p:sp>
      <p:sp>
        <p:nvSpPr>
          <p:cNvPr id="5" name="Text 3"/>
          <p:cNvSpPr txBox="1"/>
          <p:nvPr/>
        </p:nvSpPr>
        <p:spPr>
          <a:xfrm>
            <a:off x="868680" y="181051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Avant le lancement</a:t>
            </a:r>
            <a:endParaRPr lang="en-US" sz="1250" dirty="0"/>
          </a:p>
        </p:txBody>
      </p:sp>
      <p:sp>
        <p:nvSpPr>
          <p:cNvPr id="6" name="Text 4"/>
          <p:cNvSpPr txBox="1"/>
          <p:nvPr/>
        </p:nvSpPr>
        <p:spPr>
          <a:xfrm>
            <a:off x="3429000" y="181051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Trancher la fourchette de rémunération à afficher dans l'annonce.</a:t>
            </a:r>
            <a:endParaRPr lang="en-US" sz="1150" dirty="0"/>
          </a:p>
        </p:txBody>
      </p:sp>
      <p:sp>
        <p:nvSpPr>
          <p:cNvPr id="7" name="Text 5"/>
          <p:cNvSpPr txBox="1"/>
          <p:nvPr/>
        </p:nvSpPr>
        <p:spPr>
          <a:xfrm>
            <a:off x="9814255" y="181051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30 minutes</a:t>
            </a:r>
            <a:endParaRPr lang="en-US" sz="1050" dirty="0"/>
          </a:p>
        </p:txBody>
      </p:sp>
      <p:sp>
        <p:nvSpPr>
          <p:cNvPr id="8" name="Shape 6"/>
          <p:cNvSpPr/>
          <p:nvPr/>
        </p:nvSpPr>
        <p:spPr>
          <a:xfrm>
            <a:off x="594360" y="2496312"/>
            <a:ext cx="11002975" cy="676656"/>
          </a:xfrm>
          <a:prstGeom prst="roundRect">
            <a:avLst>
              <a:gd name="adj" fmla="val 8108"/>
            </a:avLst>
          </a:prstGeom>
          <a:solidFill>
            <a:srgbClr val="F2F5F8"/>
          </a:solidFill>
          <a:ln/>
        </p:spPr>
      </p:sp>
      <p:sp>
        <p:nvSpPr>
          <p:cNvPr id="9" name="Text 7"/>
          <p:cNvSpPr txBox="1"/>
          <p:nvPr/>
        </p:nvSpPr>
        <p:spPr>
          <a:xfrm>
            <a:off x="868680" y="258775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Semaine 1</a:t>
            </a:r>
            <a:endParaRPr lang="en-US" sz="1250" dirty="0"/>
          </a:p>
        </p:txBody>
      </p:sp>
      <p:sp>
        <p:nvSpPr>
          <p:cNvPr id="10" name="Text 8"/>
          <p:cNvSpPr txBox="1"/>
          <p:nvPr/>
        </p:nvSpPr>
        <p:spPr>
          <a:xfrm>
            <a:off x="3429000" y="258775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Dresser la liste des avocats que vous avez affrontés et que vous jugez bons. Signer les courriers aux bâtonniers.</a:t>
            </a:r>
            <a:endParaRPr lang="en-US" sz="1150" dirty="0"/>
          </a:p>
        </p:txBody>
      </p:sp>
      <p:sp>
        <p:nvSpPr>
          <p:cNvPr id="11" name="Text 9"/>
          <p:cNvSpPr txBox="1"/>
          <p:nvPr/>
        </p:nvSpPr>
        <p:spPr>
          <a:xfrm>
            <a:off x="9814255" y="258775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1 heure + signatures</a:t>
            </a:r>
            <a:endParaRPr lang="en-US" sz="1050" dirty="0"/>
          </a:p>
        </p:txBody>
      </p:sp>
      <p:sp>
        <p:nvSpPr>
          <p:cNvPr id="12" name="Shape 10"/>
          <p:cNvSpPr/>
          <p:nvPr/>
        </p:nvSpPr>
        <p:spPr>
          <a:xfrm>
            <a:off x="594360" y="3273552"/>
            <a:ext cx="11002975" cy="676656"/>
          </a:xfrm>
          <a:prstGeom prst="roundRect">
            <a:avLst>
              <a:gd name="adj" fmla="val 8108"/>
            </a:avLst>
          </a:prstGeom>
          <a:solidFill>
            <a:srgbClr val="F2F5F8"/>
          </a:solidFill>
          <a:ln/>
        </p:spPr>
      </p:sp>
      <p:sp>
        <p:nvSpPr>
          <p:cNvPr id="13" name="Text 11"/>
          <p:cNvSpPr txBox="1"/>
          <p:nvPr/>
        </p:nvSpPr>
        <p:spPr>
          <a:xfrm>
            <a:off x="868680" y="336499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À chaque candidat</a:t>
            </a:r>
            <a:endParaRPr lang="en-US" sz="1250" dirty="0"/>
          </a:p>
        </p:txBody>
      </p:sp>
      <p:sp>
        <p:nvSpPr>
          <p:cNvPr id="14" name="Text 12"/>
          <p:cNvSpPr txBox="1"/>
          <p:nvPr/>
        </p:nvSpPr>
        <p:spPr>
          <a:xfrm>
            <a:off x="3429000" y="336499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Relire les trois réponses techniques consignées à l'étape 1 et rendre un avis.</a:t>
            </a:r>
            <a:endParaRPr lang="en-US" sz="1150" dirty="0"/>
          </a:p>
        </p:txBody>
      </p:sp>
      <p:sp>
        <p:nvSpPr>
          <p:cNvPr id="15" name="Text 13"/>
          <p:cNvSpPr txBox="1"/>
          <p:nvPr/>
        </p:nvSpPr>
        <p:spPr>
          <a:xfrm>
            <a:off x="9814255" y="336499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10 minutes</a:t>
            </a:r>
            <a:endParaRPr lang="en-US" sz="1050" dirty="0"/>
          </a:p>
        </p:txBody>
      </p:sp>
      <p:sp>
        <p:nvSpPr>
          <p:cNvPr id="16" name="Shape 14"/>
          <p:cNvSpPr/>
          <p:nvPr/>
        </p:nvSpPr>
        <p:spPr>
          <a:xfrm>
            <a:off x="594360" y="4050792"/>
            <a:ext cx="11002975" cy="676656"/>
          </a:xfrm>
          <a:prstGeom prst="roundRect">
            <a:avLst>
              <a:gd name="adj" fmla="val 8108"/>
            </a:avLst>
          </a:prstGeom>
          <a:solidFill>
            <a:srgbClr val="F2F5F8"/>
          </a:solidFill>
          <a:ln/>
        </p:spPr>
      </p:sp>
      <p:sp>
        <p:nvSpPr>
          <p:cNvPr id="17" name="Text 15"/>
          <p:cNvSpPr txBox="1"/>
          <p:nvPr/>
        </p:nvSpPr>
        <p:spPr>
          <a:xfrm>
            <a:off x="868680" y="414223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Semaine 4</a:t>
            </a:r>
            <a:endParaRPr lang="en-US" sz="1250" dirty="0"/>
          </a:p>
        </p:txBody>
      </p:sp>
      <p:sp>
        <p:nvSpPr>
          <p:cNvPr id="18" name="Text 16"/>
          <p:cNvSpPr txBox="1"/>
          <p:nvPr/>
        </p:nvSpPr>
        <p:spPr>
          <a:xfrm>
            <a:off x="3429000" y="414223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Une heure de calibration avec Gregory et Milène sur la grille de notation.</a:t>
            </a:r>
            <a:endParaRPr lang="en-US" sz="1150" dirty="0"/>
          </a:p>
        </p:txBody>
      </p:sp>
      <p:sp>
        <p:nvSpPr>
          <p:cNvPr id="19" name="Text 17"/>
          <p:cNvSpPr txBox="1"/>
          <p:nvPr/>
        </p:nvSpPr>
        <p:spPr>
          <a:xfrm>
            <a:off x="9814255" y="414223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1 heure</a:t>
            </a:r>
            <a:endParaRPr lang="en-US" sz="1050" dirty="0"/>
          </a:p>
        </p:txBody>
      </p:sp>
      <p:sp>
        <p:nvSpPr>
          <p:cNvPr id="20" name="Shape 18"/>
          <p:cNvSpPr/>
          <p:nvPr/>
        </p:nvSpPr>
        <p:spPr>
          <a:xfrm>
            <a:off x="594360" y="4828032"/>
            <a:ext cx="11002975" cy="676656"/>
          </a:xfrm>
          <a:prstGeom prst="roundRect">
            <a:avLst>
              <a:gd name="adj" fmla="val 8108"/>
            </a:avLst>
          </a:prstGeom>
          <a:solidFill>
            <a:srgbClr val="F2F5F8"/>
          </a:solidFill>
          <a:ln/>
        </p:spPr>
      </p:sp>
      <p:sp>
        <p:nvSpPr>
          <p:cNvPr id="21" name="Text 19"/>
          <p:cNvSpPr txBox="1"/>
          <p:nvPr/>
        </p:nvSpPr>
        <p:spPr>
          <a:xfrm>
            <a:off x="868680" y="491947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Étape 4</a:t>
            </a:r>
            <a:endParaRPr lang="en-US" sz="1250" dirty="0"/>
          </a:p>
        </p:txBody>
      </p:sp>
      <p:sp>
        <p:nvSpPr>
          <p:cNvPr id="22" name="Text 20"/>
          <p:cNvSpPr txBox="1"/>
          <p:nvPr/>
        </p:nvSpPr>
        <p:spPr>
          <a:xfrm>
            <a:off x="3429000" y="491947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Conduire l'entretien de 90 minutes. Contredire délibérément le candidat une fois, sur un point où il a raison, et regarder ce qu'il fait.</a:t>
            </a:r>
            <a:endParaRPr lang="en-US" sz="1150" dirty="0"/>
          </a:p>
        </p:txBody>
      </p:sp>
      <p:sp>
        <p:nvSpPr>
          <p:cNvPr id="23" name="Text 21"/>
          <p:cNvSpPr txBox="1"/>
          <p:nvPr/>
        </p:nvSpPr>
        <p:spPr>
          <a:xfrm>
            <a:off x="9814255" y="491947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90 min par finaliste</a:t>
            </a:r>
            <a:endParaRPr lang="en-US" sz="1050" dirty="0"/>
          </a:p>
        </p:txBody>
      </p:sp>
      <p:sp>
        <p:nvSpPr>
          <p:cNvPr id="24" name="Text 22"/>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Vous ne rencontrez le candidat qu'une fois, avant de décider de lui confier le cabinet. Les notes des trois étapes précédentes vous parviennent avant, par écrit.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RÔLES</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Milène, ce que le plan attend de vous</a:t>
            </a:r>
            <a:endParaRPr lang="en-US" sz="3300" dirty="0"/>
          </a:p>
        </p:txBody>
      </p:sp>
      <p:sp>
        <p:nvSpPr>
          <p:cNvPr id="4" name="Shape 2"/>
          <p:cNvSpPr/>
          <p:nvPr/>
        </p:nvSpPr>
        <p:spPr>
          <a:xfrm>
            <a:off x="594360" y="1691640"/>
            <a:ext cx="11002975" cy="676656"/>
          </a:xfrm>
          <a:prstGeom prst="roundRect">
            <a:avLst>
              <a:gd name="adj" fmla="val 8108"/>
            </a:avLst>
          </a:prstGeom>
          <a:solidFill>
            <a:srgbClr val="F2F5F8"/>
          </a:solidFill>
          <a:ln/>
        </p:spPr>
      </p:sp>
      <p:sp>
        <p:nvSpPr>
          <p:cNvPr id="5" name="Text 3"/>
          <p:cNvSpPr txBox="1"/>
          <p:nvPr/>
        </p:nvSpPr>
        <p:spPr>
          <a:xfrm>
            <a:off x="868680" y="1783080"/>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Semaine 4</a:t>
            </a:r>
            <a:endParaRPr lang="en-US" sz="1250" dirty="0"/>
          </a:p>
        </p:txBody>
      </p:sp>
      <p:sp>
        <p:nvSpPr>
          <p:cNvPr id="6" name="Text 4"/>
          <p:cNvSpPr txBox="1"/>
          <p:nvPr/>
        </p:nvSpPr>
        <p:spPr>
          <a:xfrm>
            <a:off x="3429000" y="1783080"/>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Une heure de calibration avec Gregory et Hervé sur la grille de notation.</a:t>
            </a:r>
            <a:endParaRPr lang="en-US" sz="1150" dirty="0"/>
          </a:p>
        </p:txBody>
      </p:sp>
      <p:sp>
        <p:nvSpPr>
          <p:cNvPr id="7" name="Text 5"/>
          <p:cNvSpPr txBox="1"/>
          <p:nvPr/>
        </p:nvSpPr>
        <p:spPr>
          <a:xfrm>
            <a:off x="9814255" y="1783080"/>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1 heure</a:t>
            </a:r>
            <a:endParaRPr lang="en-US" sz="1050" dirty="0"/>
          </a:p>
        </p:txBody>
      </p:sp>
      <p:sp>
        <p:nvSpPr>
          <p:cNvPr id="8" name="Shape 6"/>
          <p:cNvSpPr/>
          <p:nvPr/>
        </p:nvSpPr>
        <p:spPr>
          <a:xfrm>
            <a:off x="594360" y="2441448"/>
            <a:ext cx="11002975" cy="676656"/>
          </a:xfrm>
          <a:prstGeom prst="roundRect">
            <a:avLst>
              <a:gd name="adj" fmla="val 8108"/>
            </a:avLst>
          </a:prstGeom>
          <a:solidFill>
            <a:srgbClr val="F2F5F8"/>
          </a:solidFill>
          <a:ln/>
        </p:spPr>
      </p:sp>
      <p:sp>
        <p:nvSpPr>
          <p:cNvPr id="9" name="Text 7"/>
          <p:cNvSpPr txBox="1"/>
          <p:nvPr/>
        </p:nvSpPr>
        <p:spPr>
          <a:xfrm>
            <a:off x="868680" y="2532888"/>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Étape 3</a:t>
            </a:r>
            <a:endParaRPr lang="en-US" sz="1250" dirty="0"/>
          </a:p>
        </p:txBody>
      </p:sp>
      <p:sp>
        <p:nvSpPr>
          <p:cNvPr id="10" name="Text 8"/>
          <p:cNvSpPr txBox="1"/>
          <p:nvPr/>
        </p:nvSpPr>
        <p:spPr>
          <a:xfrm>
            <a:off x="3429000" y="2532888"/>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Conduire l'entretien de 80 minutes sur quatre compétences : gérer la complexité, être orienté client, être résilient, développer les talents.</a:t>
            </a:r>
            <a:endParaRPr lang="en-US" sz="1150" dirty="0"/>
          </a:p>
        </p:txBody>
      </p:sp>
      <p:sp>
        <p:nvSpPr>
          <p:cNvPr id="11" name="Text 9"/>
          <p:cNvSpPr txBox="1"/>
          <p:nvPr/>
        </p:nvSpPr>
        <p:spPr>
          <a:xfrm>
            <a:off x="9814255" y="2532888"/>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80 min par candidat</a:t>
            </a:r>
            <a:endParaRPr lang="en-US" sz="1050" dirty="0"/>
          </a:p>
        </p:txBody>
      </p:sp>
      <p:sp>
        <p:nvSpPr>
          <p:cNvPr id="12" name="Shape 10"/>
          <p:cNvSpPr/>
          <p:nvPr/>
        </p:nvSpPr>
        <p:spPr>
          <a:xfrm>
            <a:off x="594360" y="3191256"/>
            <a:ext cx="11002975" cy="676656"/>
          </a:xfrm>
          <a:prstGeom prst="roundRect">
            <a:avLst>
              <a:gd name="adj" fmla="val 8108"/>
            </a:avLst>
          </a:prstGeom>
          <a:solidFill>
            <a:srgbClr val="F2F5F8"/>
          </a:solidFill>
          <a:ln/>
        </p:spPr>
      </p:sp>
      <p:sp>
        <p:nvSpPr>
          <p:cNvPr id="13" name="Text 11"/>
          <p:cNvSpPr txBox="1"/>
          <p:nvPr/>
        </p:nvSpPr>
        <p:spPr>
          <a:xfrm>
            <a:off x="868680" y="3282696"/>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Étape 4, finalistes</a:t>
            </a:r>
            <a:endParaRPr lang="en-US" sz="1250" dirty="0"/>
          </a:p>
        </p:txBody>
      </p:sp>
      <p:sp>
        <p:nvSpPr>
          <p:cNvPr id="14" name="Text 12"/>
          <p:cNvSpPr txBox="1"/>
          <p:nvPr/>
        </p:nvSpPr>
        <p:spPr>
          <a:xfrm>
            <a:off x="3429000" y="3282696"/>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Assister en observatrice silencieuse à l'entretien d'Hervé. Ne poser aucune question. Noter seule.</a:t>
            </a:r>
            <a:endParaRPr lang="en-US" sz="1150" dirty="0"/>
          </a:p>
        </p:txBody>
      </p:sp>
      <p:sp>
        <p:nvSpPr>
          <p:cNvPr id="15" name="Text 13"/>
          <p:cNvSpPr txBox="1"/>
          <p:nvPr/>
        </p:nvSpPr>
        <p:spPr>
          <a:xfrm>
            <a:off x="9814255" y="3282696"/>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90 min par finaliste</a:t>
            </a:r>
            <a:endParaRPr lang="en-US" sz="1050" dirty="0"/>
          </a:p>
        </p:txBody>
      </p:sp>
      <p:sp>
        <p:nvSpPr>
          <p:cNvPr id="16" name="Shape 14"/>
          <p:cNvSpPr/>
          <p:nvPr/>
        </p:nvSpPr>
        <p:spPr>
          <a:xfrm>
            <a:off x="594360" y="3941064"/>
            <a:ext cx="11002975" cy="676656"/>
          </a:xfrm>
          <a:prstGeom prst="roundRect">
            <a:avLst>
              <a:gd name="adj" fmla="val 8108"/>
            </a:avLst>
          </a:prstGeom>
          <a:solidFill>
            <a:srgbClr val="F2F5F8"/>
          </a:solidFill>
          <a:ln/>
        </p:spPr>
      </p:sp>
      <p:sp>
        <p:nvSpPr>
          <p:cNvPr id="17" name="Text 15"/>
          <p:cNvSpPr txBox="1"/>
          <p:nvPr/>
        </p:nvSpPr>
        <p:spPr>
          <a:xfrm>
            <a:off x="868680" y="4032504"/>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Réunion de décision</a:t>
            </a:r>
            <a:endParaRPr lang="en-US" sz="1250" dirty="0"/>
          </a:p>
        </p:txBody>
      </p:sp>
      <p:sp>
        <p:nvSpPr>
          <p:cNvPr id="18" name="Text 16"/>
          <p:cNvSpPr txBox="1"/>
          <p:nvPr/>
        </p:nvSpPr>
        <p:spPr>
          <a:xfrm>
            <a:off x="3429000" y="4032504"/>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Donner votre note et votre recommandation avant toute discussion.</a:t>
            </a:r>
            <a:endParaRPr lang="en-US" sz="1150" dirty="0"/>
          </a:p>
        </p:txBody>
      </p:sp>
      <p:sp>
        <p:nvSpPr>
          <p:cNvPr id="19" name="Text 17"/>
          <p:cNvSpPr txBox="1"/>
          <p:nvPr/>
        </p:nvSpPr>
        <p:spPr>
          <a:xfrm>
            <a:off x="9814255" y="4032504"/>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1 heure</a:t>
            </a:r>
            <a:endParaRPr lang="en-US" sz="1050" dirty="0"/>
          </a:p>
        </p:txBody>
      </p:sp>
      <p:sp>
        <p:nvSpPr>
          <p:cNvPr id="20" name="Shape 18"/>
          <p:cNvSpPr/>
          <p:nvPr/>
        </p:nvSpPr>
        <p:spPr>
          <a:xfrm>
            <a:off x="594360" y="4690872"/>
            <a:ext cx="11002975" cy="676656"/>
          </a:xfrm>
          <a:prstGeom prst="roundRect">
            <a:avLst>
              <a:gd name="adj" fmla="val 8108"/>
            </a:avLst>
          </a:prstGeom>
          <a:solidFill>
            <a:srgbClr val="F2F5F8"/>
          </a:solidFill>
          <a:ln/>
        </p:spPr>
      </p:sp>
      <p:sp>
        <p:nvSpPr>
          <p:cNvPr id="21" name="Text 19"/>
          <p:cNvSpPr txBox="1"/>
          <p:nvPr/>
        </p:nvSpPr>
        <p:spPr>
          <a:xfrm>
            <a:off x="868680" y="4782312"/>
            <a:ext cx="2377440" cy="274320"/>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Plus tard</a:t>
            </a:r>
            <a:endParaRPr lang="en-US" sz="1250" dirty="0"/>
          </a:p>
        </p:txBody>
      </p:sp>
      <p:sp>
        <p:nvSpPr>
          <p:cNvPr id="22" name="Text 20"/>
          <p:cNvSpPr txBox="1"/>
          <p:nvPr/>
        </p:nvSpPr>
        <p:spPr>
          <a:xfrm>
            <a:off x="3429000" y="4782312"/>
            <a:ext cx="6339535" cy="512064"/>
          </a:xfrm>
          <a:prstGeom prst="rect">
            <a:avLst/>
          </a:prstGeom>
          <a:noFill/>
          <a:ln/>
        </p:spPr>
        <p:txBody>
          <a:bodyPr wrap="square" lIns="0" tIns="0" rIns="0" bIns="0" rtlCol="0" anchor="t"/>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Rédiger le protocole d'association détaillé avec Hervé Gerbi.</a:t>
            </a:r>
            <a:endParaRPr lang="en-US" sz="1150" dirty="0"/>
          </a:p>
        </p:txBody>
      </p:sp>
      <p:sp>
        <p:nvSpPr>
          <p:cNvPr id="23" name="Text 21"/>
          <p:cNvSpPr txBox="1"/>
          <p:nvPr/>
        </p:nvSpPr>
        <p:spPr>
          <a:xfrm>
            <a:off x="9814255" y="4782312"/>
            <a:ext cx="1554480" cy="274320"/>
          </a:xfrm>
          <a:prstGeom prst="rect">
            <a:avLst/>
          </a:prstGeom>
          <a:noFill/>
          <a:ln/>
        </p:spPr>
        <p:txBody>
          <a:bodyPr wrap="square" lIns="0" tIns="0" rIns="0" bIns="0" rtlCol="0" anchor="ctr"/>
          <a:lstStyle/>
          <a:p>
            <a:pPr algn="r" indent="0" marL="0">
              <a:buNone/>
            </a:pPr>
            <a:r>
              <a:rPr lang="en-US" sz="1050" b="1" dirty="0">
                <a:solidFill>
                  <a:srgbClr val="B05F3A"/>
                </a:solidFill>
                <a:latin typeface="Calibri" pitchFamily="34" charset="0"/>
                <a:ea typeface="Calibri" pitchFamily="34" charset="-122"/>
                <a:cs typeface="Calibri" pitchFamily="34" charset="-120"/>
              </a:rPr>
              <a:t>À planifier</a:t>
            </a:r>
            <a:endParaRPr lang="en-US" sz="1050" dirty="0"/>
          </a:p>
        </p:txBody>
      </p:sp>
      <p:sp>
        <p:nvSpPr>
          <p:cNvPr id="24" name="Shape 22"/>
          <p:cNvSpPr/>
          <p:nvPr/>
        </p:nvSpPr>
        <p:spPr>
          <a:xfrm>
            <a:off x="594360" y="5486400"/>
            <a:ext cx="11002975" cy="822960"/>
          </a:xfrm>
          <a:prstGeom prst="roundRect">
            <a:avLst>
              <a:gd name="adj" fmla="val 6667"/>
            </a:avLst>
          </a:prstGeom>
          <a:solidFill>
            <a:srgbClr val="12212E"/>
          </a:solidFill>
          <a:ln/>
        </p:spPr>
      </p:sp>
      <p:sp>
        <p:nvSpPr>
          <p:cNvPr id="25" name="Text 23"/>
          <p:cNvSpPr txBox="1"/>
          <p:nvPr/>
        </p:nvSpPr>
        <p:spPr>
          <a:xfrm>
            <a:off x="960120" y="5614416"/>
            <a:ext cx="10271455" cy="603504"/>
          </a:xfrm>
          <a:prstGeom prst="rect">
            <a:avLst/>
          </a:prstGeom>
          <a:noFill/>
          <a:ln/>
        </p:spPr>
        <p:txBody>
          <a:bodyPr wrap="square" lIns="0" tIns="0" rIns="0" bIns="0" rtlCol="0" anchor="t"/>
          <a:lstStyle/>
          <a:p>
            <a:pPr indent="0" marL="0">
              <a:lnSpc>
                <a:spcPts val="1700"/>
              </a:lnSpc>
              <a:buNone/>
            </a:pPr>
            <a:r>
              <a:rPr lang="en-US" sz="1250" dirty="0">
                <a:solidFill>
                  <a:srgbClr val="D6DEE7"/>
                </a:solidFill>
                <a:latin typeface="Calibri" pitchFamily="34" charset="0"/>
                <a:ea typeface="Calibri" pitchFamily="34" charset="-122"/>
                <a:cs typeface="Calibri" pitchFamily="34" charset="-120"/>
              </a:rPr>
              <a:t>Sur Développer les talents, la question que vous avez réellement à trancher n'est pas « cette personne sait-elle faire grandir ses collaborateurs ». C'est « est-ce que je resterais si cette personne dirigeait le cabinet ». Vous êtes la seule à pouvoir y répondre, et votre réponse vaut plus que toutes les autres notes.</a:t>
            </a:r>
            <a:endParaRPr lang="en-US" sz="1250" dirty="0"/>
          </a:p>
        </p:txBody>
      </p:sp>
      <p:sp>
        <p:nvSpPr>
          <p:cNvPr id="26" name="Text 24"/>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Le guide d'entretien vous est remis imprimé avant le premier candidat.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NOTATION</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Deux règles qui rendent la grille fiable</a:t>
            </a:r>
            <a:endParaRPr lang="en-US" sz="3300" dirty="0"/>
          </a:p>
        </p:txBody>
      </p:sp>
      <p:sp>
        <p:nvSpPr>
          <p:cNvPr id="4" name="Text 2"/>
          <p:cNvSpPr txBox="1"/>
          <p:nvPr/>
        </p:nvSpPr>
        <p:spPr>
          <a:xfrm>
            <a:off x="594360" y="1645920"/>
            <a:ext cx="11002975" cy="548640"/>
          </a:xfrm>
          <a:prstGeom prst="rect">
            <a:avLst/>
          </a:prstGeom>
          <a:noFill/>
          <a:ln/>
        </p:spPr>
        <p:txBody>
          <a:bodyPr wrap="square" lIns="0" tIns="0" rIns="0" bIns="0" rtlCol="0" anchor="t"/>
          <a:lstStyle/>
          <a:p>
            <a:pPr indent="0" marL="0">
              <a:lnSpc>
                <a:spcPts val="2000"/>
              </a:lnSpc>
              <a:buNone/>
            </a:pPr>
            <a:r>
              <a:rPr lang="en-US" sz="1400" dirty="0">
                <a:solidFill>
                  <a:srgbClr val="5A6673"/>
                </a:solidFill>
                <a:latin typeface="Calibri" pitchFamily="34" charset="0"/>
                <a:ea typeface="Calibri" pitchFamily="34" charset="-122"/>
                <a:cs typeface="Calibri" pitchFamily="34" charset="-120"/>
              </a:rPr>
              <a:t>Le dispositif ne compte qu'un intervieweur par étape. Un entretien noté par une seule personne mesure autant l'intervieweur que le candidat, et rien ne permet de faire la part des deux.</a:t>
            </a:r>
            <a:endParaRPr lang="en-US" sz="1400" dirty="0"/>
          </a:p>
        </p:txBody>
      </p:sp>
      <p:sp>
        <p:nvSpPr>
          <p:cNvPr id="5" name="Shape 3"/>
          <p:cNvSpPr/>
          <p:nvPr/>
        </p:nvSpPr>
        <p:spPr>
          <a:xfrm>
            <a:off x="594360" y="2286000"/>
            <a:ext cx="5318608" cy="3017520"/>
          </a:xfrm>
          <a:prstGeom prst="roundRect">
            <a:avLst>
              <a:gd name="adj" fmla="val 1818"/>
            </a:avLst>
          </a:prstGeom>
          <a:solidFill>
            <a:srgbClr val="F2F5F8"/>
          </a:solidFill>
          <a:ln/>
        </p:spPr>
      </p:sp>
      <p:sp>
        <p:nvSpPr>
          <p:cNvPr id="6" name="Shape 4"/>
          <p:cNvSpPr/>
          <p:nvPr/>
        </p:nvSpPr>
        <p:spPr>
          <a:xfrm>
            <a:off x="868680" y="2514600"/>
            <a:ext cx="457200" cy="457200"/>
          </a:xfrm>
          <a:prstGeom prst="ellipse">
            <a:avLst/>
          </a:prstGeom>
          <a:solidFill>
            <a:srgbClr val="1F4B7A"/>
          </a:solidFill>
          <a:ln/>
        </p:spPr>
      </p:sp>
      <p:sp>
        <p:nvSpPr>
          <p:cNvPr id="7" name="Text 5"/>
          <p:cNvSpPr txBox="1"/>
          <p:nvPr/>
        </p:nvSpPr>
        <p:spPr>
          <a:xfrm>
            <a:off x="868680" y="2514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68680" y="3127248"/>
            <a:ext cx="4769968" cy="347472"/>
          </a:xfrm>
          <a:prstGeom prst="rect">
            <a:avLst/>
          </a:prstGeom>
          <a:noFill/>
          <a:ln/>
        </p:spPr>
        <p:txBody>
          <a:bodyPr wrap="square" lIns="0" tIns="0" rIns="0" bIns="0" rtlCol="0" anchor="ctr"/>
          <a:lstStyle/>
          <a:p>
            <a:pPr indent="0" marL="0">
              <a:buNone/>
            </a:pPr>
            <a:r>
              <a:rPr lang="en-US" sz="2000" b="1" dirty="0">
                <a:solidFill>
                  <a:srgbClr val="12212E"/>
                </a:solidFill>
                <a:latin typeface="Cambria" pitchFamily="34" charset="0"/>
                <a:ea typeface="Cambria" pitchFamily="34" charset="-122"/>
                <a:cs typeface="Cambria" pitchFamily="34" charset="-120"/>
              </a:rPr>
              <a:t>Calibration préalable</a:t>
            </a:r>
            <a:endParaRPr lang="en-US" sz="2000" dirty="0"/>
          </a:p>
        </p:txBody>
      </p:sp>
      <p:sp>
        <p:nvSpPr>
          <p:cNvPr id="9" name="Text 7"/>
          <p:cNvSpPr txBox="1"/>
          <p:nvPr/>
        </p:nvSpPr>
        <p:spPr>
          <a:xfrm>
            <a:off x="868680" y="3547872"/>
            <a:ext cx="4769968" cy="777240"/>
          </a:xfrm>
          <a:prstGeom prst="rect">
            <a:avLst/>
          </a:prstGeom>
          <a:noFill/>
          <a:ln/>
        </p:spPr>
        <p:txBody>
          <a:bodyPr wrap="square" lIns="0" tIns="0" rIns="0" bIns="0" rtlCol="0" anchor="t"/>
          <a:lstStyle/>
          <a:p>
            <a:pPr indent="0" marL="0">
              <a:lnSpc>
                <a:spcPts val="1700"/>
              </a:lnSpc>
              <a:buNone/>
            </a:pPr>
            <a:r>
              <a:rPr lang="en-US" sz="1250" dirty="0">
                <a:solidFill>
                  <a:srgbClr val="12212E"/>
                </a:solidFill>
                <a:latin typeface="Calibri" pitchFamily="34" charset="0"/>
                <a:ea typeface="Calibri" pitchFamily="34" charset="-122"/>
                <a:cs typeface="Calibri" pitchFamily="34" charset="-120"/>
              </a:rPr>
              <a:t>Une heure, tous les trois ensemble, avant le premier candidat. Chacun note un même cas fictif, seul, puis on compare.</a:t>
            </a:r>
            <a:endParaRPr lang="en-US" sz="1250" dirty="0"/>
          </a:p>
        </p:txBody>
      </p:sp>
      <p:sp>
        <p:nvSpPr>
          <p:cNvPr id="10" name="Text 8"/>
          <p:cNvSpPr txBox="1"/>
          <p:nvPr/>
        </p:nvSpPr>
        <p:spPr>
          <a:xfrm>
            <a:off x="868680" y="4343400"/>
            <a:ext cx="4769968" cy="77724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L'objectif n'est pas de tomber d'accord sur la note. Il est de voir où nos échelles divergent. Sans cette heure, un 3 de Milène ne vaut pas un 3 d'Hervé.</a:t>
            </a:r>
            <a:endParaRPr lang="en-US" sz="1150" dirty="0"/>
          </a:p>
        </p:txBody>
      </p:sp>
      <p:sp>
        <p:nvSpPr>
          <p:cNvPr id="11" name="Text 9"/>
          <p:cNvSpPr txBox="1"/>
          <p:nvPr/>
        </p:nvSpPr>
        <p:spPr>
          <a:xfrm>
            <a:off x="4221328" y="2560320"/>
            <a:ext cx="1463040" cy="274320"/>
          </a:xfrm>
          <a:prstGeom prst="rect">
            <a:avLst/>
          </a:prstGeom>
          <a:noFill/>
          <a:ln/>
        </p:spPr>
        <p:txBody>
          <a:bodyPr wrap="square" lIns="0" tIns="0" rIns="0" bIns="0" rtlCol="0" anchor="ctr"/>
          <a:lstStyle/>
          <a:p>
            <a:pPr algn="r" indent="0" marL="0">
              <a:buNone/>
            </a:pPr>
            <a:r>
              <a:rPr lang="en-US" sz="1100" b="1" dirty="0">
                <a:solidFill>
                  <a:srgbClr val="B05F3A"/>
                </a:solidFill>
                <a:latin typeface="Calibri" pitchFamily="34" charset="0"/>
                <a:ea typeface="Calibri" pitchFamily="34" charset="-122"/>
                <a:cs typeface="Calibri" pitchFamily="34" charset="-120"/>
              </a:rPr>
              <a:t>Semaine 4</a:t>
            </a:r>
            <a:endParaRPr lang="en-US" sz="1100" dirty="0"/>
          </a:p>
        </p:txBody>
      </p:sp>
      <p:sp>
        <p:nvSpPr>
          <p:cNvPr id="12" name="Shape 10"/>
          <p:cNvSpPr/>
          <p:nvPr/>
        </p:nvSpPr>
        <p:spPr>
          <a:xfrm>
            <a:off x="6278728" y="2286000"/>
            <a:ext cx="5318608" cy="3017520"/>
          </a:xfrm>
          <a:prstGeom prst="roundRect">
            <a:avLst>
              <a:gd name="adj" fmla="val 1818"/>
            </a:avLst>
          </a:prstGeom>
          <a:solidFill>
            <a:srgbClr val="F2F5F8"/>
          </a:solidFill>
          <a:ln/>
        </p:spPr>
      </p:sp>
      <p:sp>
        <p:nvSpPr>
          <p:cNvPr id="13" name="Shape 11"/>
          <p:cNvSpPr/>
          <p:nvPr/>
        </p:nvSpPr>
        <p:spPr>
          <a:xfrm>
            <a:off x="6553048" y="2514600"/>
            <a:ext cx="457200" cy="457200"/>
          </a:xfrm>
          <a:prstGeom prst="ellipse">
            <a:avLst/>
          </a:prstGeom>
          <a:solidFill>
            <a:srgbClr val="1F4B7A"/>
          </a:solidFill>
          <a:ln/>
        </p:spPr>
      </p:sp>
      <p:sp>
        <p:nvSpPr>
          <p:cNvPr id="14" name="Text 12"/>
          <p:cNvSpPr txBox="1"/>
          <p:nvPr/>
        </p:nvSpPr>
        <p:spPr>
          <a:xfrm>
            <a:off x="6553048" y="25146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6553048" y="3127248"/>
            <a:ext cx="4769968" cy="347472"/>
          </a:xfrm>
          <a:prstGeom prst="rect">
            <a:avLst/>
          </a:prstGeom>
          <a:noFill/>
          <a:ln/>
        </p:spPr>
        <p:txBody>
          <a:bodyPr wrap="square" lIns="0" tIns="0" rIns="0" bIns="0" rtlCol="0" anchor="ctr"/>
          <a:lstStyle/>
          <a:p>
            <a:pPr indent="0" marL="0">
              <a:buNone/>
            </a:pPr>
            <a:r>
              <a:rPr lang="en-US" sz="2000" b="1" dirty="0">
                <a:solidFill>
                  <a:srgbClr val="12212E"/>
                </a:solidFill>
                <a:latin typeface="Cambria" pitchFamily="34" charset="0"/>
                <a:ea typeface="Cambria" pitchFamily="34" charset="-122"/>
                <a:cs typeface="Cambria" pitchFamily="34" charset="-120"/>
              </a:rPr>
              <a:t>Second observateur</a:t>
            </a:r>
            <a:endParaRPr lang="en-US" sz="2000" dirty="0"/>
          </a:p>
        </p:txBody>
      </p:sp>
      <p:sp>
        <p:nvSpPr>
          <p:cNvPr id="16" name="Text 14"/>
          <p:cNvSpPr txBox="1"/>
          <p:nvPr/>
        </p:nvSpPr>
        <p:spPr>
          <a:xfrm>
            <a:off x="6553048" y="3547872"/>
            <a:ext cx="4769968" cy="777240"/>
          </a:xfrm>
          <a:prstGeom prst="rect">
            <a:avLst/>
          </a:prstGeom>
          <a:noFill/>
          <a:ln/>
        </p:spPr>
        <p:txBody>
          <a:bodyPr wrap="square" lIns="0" tIns="0" rIns="0" bIns="0" rtlCol="0" anchor="t"/>
          <a:lstStyle/>
          <a:p>
            <a:pPr indent="0" marL="0">
              <a:lnSpc>
                <a:spcPts val="1700"/>
              </a:lnSpc>
              <a:buNone/>
            </a:pPr>
            <a:r>
              <a:rPr lang="en-US" sz="1250" dirty="0">
                <a:solidFill>
                  <a:srgbClr val="12212E"/>
                </a:solidFill>
                <a:latin typeface="Calibri" pitchFamily="34" charset="0"/>
                <a:ea typeface="Calibri" pitchFamily="34" charset="-122"/>
                <a:cs typeface="Calibri" pitchFamily="34" charset="-120"/>
              </a:rPr>
              <a:t>Sur les deux ou trois finalistes seulement. Gregory observe l'étape 3, Milène observe l'étape 4. Aucune question, notation indépendante.</a:t>
            </a:r>
            <a:endParaRPr lang="en-US" sz="1250" dirty="0"/>
          </a:p>
        </p:txBody>
      </p:sp>
      <p:sp>
        <p:nvSpPr>
          <p:cNvPr id="17" name="Text 15"/>
          <p:cNvSpPr txBox="1"/>
          <p:nvPr/>
        </p:nvSpPr>
        <p:spPr>
          <a:xfrm>
            <a:off x="6553048" y="4343400"/>
            <a:ext cx="4769968" cy="77724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Un écart d'un point se range. Un écart de deux points ou plus ne se moyenne pas : il remonte tel quel à la réunion de décision.</a:t>
            </a:r>
            <a:endParaRPr lang="en-US" sz="1150" dirty="0"/>
          </a:p>
        </p:txBody>
      </p:sp>
      <p:sp>
        <p:nvSpPr>
          <p:cNvPr id="18" name="Text 16"/>
          <p:cNvSpPr txBox="1"/>
          <p:nvPr/>
        </p:nvSpPr>
        <p:spPr>
          <a:xfrm>
            <a:off x="9905695" y="2560320"/>
            <a:ext cx="1463040" cy="274320"/>
          </a:xfrm>
          <a:prstGeom prst="rect">
            <a:avLst/>
          </a:prstGeom>
          <a:noFill/>
          <a:ln/>
        </p:spPr>
        <p:txBody>
          <a:bodyPr wrap="square" lIns="0" tIns="0" rIns="0" bIns="0" rtlCol="0" anchor="ctr"/>
          <a:lstStyle/>
          <a:p>
            <a:pPr algn="r" indent="0" marL="0">
              <a:buNone/>
            </a:pPr>
            <a:r>
              <a:rPr lang="en-US" sz="1100" b="1" dirty="0">
                <a:solidFill>
                  <a:srgbClr val="B05F3A"/>
                </a:solidFill>
                <a:latin typeface="Calibri" pitchFamily="34" charset="0"/>
                <a:ea typeface="Calibri" pitchFamily="34" charset="-122"/>
                <a:cs typeface="Calibri" pitchFamily="34" charset="-120"/>
              </a:rPr>
              <a:t>Semaines 7 et 8</a:t>
            </a:r>
            <a:endParaRPr lang="en-US" sz="1100" dirty="0"/>
          </a:p>
        </p:txBody>
      </p:sp>
      <p:sp>
        <p:nvSpPr>
          <p:cNvPr id="19" name="Shape 17"/>
          <p:cNvSpPr/>
          <p:nvPr/>
        </p:nvSpPr>
        <p:spPr>
          <a:xfrm>
            <a:off x="594360" y="5486400"/>
            <a:ext cx="11002975" cy="731520"/>
          </a:xfrm>
          <a:prstGeom prst="roundRect">
            <a:avLst>
              <a:gd name="adj" fmla="val 7500"/>
            </a:avLst>
          </a:prstGeom>
          <a:solidFill>
            <a:srgbClr val="FBF1EC"/>
          </a:solidFill>
          <a:ln/>
        </p:spPr>
      </p:sp>
      <p:sp>
        <p:nvSpPr>
          <p:cNvPr id="20" name="Text 18"/>
          <p:cNvSpPr txBox="1"/>
          <p:nvPr/>
        </p:nvSpPr>
        <p:spPr>
          <a:xfrm>
            <a:off x="914400" y="5650992"/>
            <a:ext cx="10362895" cy="438912"/>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Le second intervieweur est annoncé au candidat dans le message de convocation, avec son nom et sa fonction. C'est une obligation de l'article L1221-8 du code du travail, et c'est aussi la correction élémentaire.</a:t>
            </a:r>
            <a:endParaRPr lang="en-US" sz="1250" dirty="0"/>
          </a:p>
        </p:txBody>
      </p:sp>
      <p:sp>
        <p:nvSpPr>
          <p:cNvPr id="21" name="Text 19"/>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Détail : document 04, section 1.</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CALENDRIER</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Dix à quatorze semaines jusqu'à la signature</a:t>
            </a:r>
            <a:endParaRPr lang="en-US" sz="3300" dirty="0"/>
          </a:p>
        </p:txBody>
      </p:sp>
      <p:sp>
        <p:nvSpPr>
          <p:cNvPr id="4" name="Shape 2"/>
          <p:cNvSpPr/>
          <p:nvPr/>
        </p:nvSpPr>
        <p:spPr>
          <a:xfrm>
            <a:off x="594360" y="1828800"/>
            <a:ext cx="1279360" cy="384048"/>
          </a:xfrm>
          <a:prstGeom prst="rect">
            <a:avLst/>
          </a:prstGeom>
          <a:solidFill>
            <a:srgbClr val="123E6B"/>
          </a:solidFill>
          <a:ln/>
        </p:spPr>
      </p:sp>
      <p:sp>
        <p:nvSpPr>
          <p:cNvPr id="5" name="Text 3"/>
          <p:cNvSpPr txBox="1"/>
          <p:nvPr/>
        </p:nvSpPr>
        <p:spPr>
          <a:xfrm>
            <a:off x="594360"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S0</a:t>
            </a:r>
            <a:endParaRPr lang="en-US" sz="1300" dirty="0"/>
          </a:p>
        </p:txBody>
      </p:sp>
      <p:sp>
        <p:nvSpPr>
          <p:cNvPr id="6" name="Text 4"/>
          <p:cNvSpPr txBox="1"/>
          <p:nvPr/>
        </p:nvSpPr>
        <p:spPr>
          <a:xfrm>
            <a:off x="594360"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Arbitrages et protocole d'association</a:t>
            </a:r>
            <a:endParaRPr lang="en-US" sz="1100" dirty="0"/>
          </a:p>
        </p:txBody>
      </p:sp>
      <p:sp>
        <p:nvSpPr>
          <p:cNvPr id="7" name="Text 5"/>
          <p:cNvSpPr txBox="1"/>
          <p:nvPr/>
        </p:nvSpPr>
        <p:spPr>
          <a:xfrm>
            <a:off x="594360"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Hervé, Gregory</a:t>
            </a:r>
            <a:endParaRPr lang="en-US" sz="1000" dirty="0"/>
          </a:p>
        </p:txBody>
      </p:sp>
      <p:sp>
        <p:nvSpPr>
          <p:cNvPr id="8" name="Shape 6"/>
          <p:cNvSpPr/>
          <p:nvPr/>
        </p:nvSpPr>
        <p:spPr>
          <a:xfrm>
            <a:off x="1983448" y="1828800"/>
            <a:ext cx="1279360" cy="384048"/>
          </a:xfrm>
          <a:prstGeom prst="rect">
            <a:avLst/>
          </a:prstGeom>
          <a:solidFill>
            <a:srgbClr val="123E6B"/>
          </a:solidFill>
          <a:ln/>
        </p:spPr>
      </p:sp>
      <p:sp>
        <p:nvSpPr>
          <p:cNvPr id="9" name="Text 7"/>
          <p:cNvSpPr txBox="1"/>
          <p:nvPr/>
        </p:nvSpPr>
        <p:spPr>
          <a:xfrm>
            <a:off x="1983448"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S1</a:t>
            </a:r>
            <a:endParaRPr lang="en-US" sz="1300" dirty="0"/>
          </a:p>
        </p:txBody>
      </p:sp>
      <p:sp>
        <p:nvSpPr>
          <p:cNvPr id="10" name="Text 8"/>
          <p:cNvSpPr txBox="1"/>
          <p:nvPr/>
        </p:nvSpPr>
        <p:spPr>
          <a:xfrm>
            <a:off x="1983448"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Publication, courriers aux bâtonniers, liste de chasse</a:t>
            </a:r>
            <a:endParaRPr lang="en-US" sz="1100" dirty="0"/>
          </a:p>
        </p:txBody>
      </p:sp>
      <p:sp>
        <p:nvSpPr>
          <p:cNvPr id="11" name="Text 9"/>
          <p:cNvSpPr txBox="1"/>
          <p:nvPr/>
        </p:nvSpPr>
        <p:spPr>
          <a:xfrm>
            <a:off x="1983448"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Gregory</a:t>
            </a:r>
            <a:endParaRPr lang="en-US" sz="1000" dirty="0"/>
          </a:p>
        </p:txBody>
      </p:sp>
      <p:sp>
        <p:nvSpPr>
          <p:cNvPr id="12" name="Shape 10"/>
          <p:cNvSpPr/>
          <p:nvPr/>
        </p:nvSpPr>
        <p:spPr>
          <a:xfrm>
            <a:off x="3372536" y="1828800"/>
            <a:ext cx="1279360" cy="384048"/>
          </a:xfrm>
          <a:prstGeom prst="rect">
            <a:avLst/>
          </a:prstGeom>
          <a:solidFill>
            <a:srgbClr val="123E6B"/>
          </a:solidFill>
          <a:ln/>
        </p:spPr>
      </p:sp>
      <p:sp>
        <p:nvSpPr>
          <p:cNvPr id="13" name="Text 11"/>
          <p:cNvSpPr txBox="1"/>
          <p:nvPr/>
        </p:nvSpPr>
        <p:spPr>
          <a:xfrm>
            <a:off x="3372536"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S2-S4</a:t>
            </a:r>
            <a:endParaRPr lang="en-US" sz="1300" dirty="0"/>
          </a:p>
        </p:txBody>
      </p:sp>
      <p:sp>
        <p:nvSpPr>
          <p:cNvPr id="14" name="Text 12"/>
          <p:cNvSpPr txBox="1"/>
          <p:nvPr/>
        </p:nvSpPr>
        <p:spPr>
          <a:xfrm>
            <a:off x="3372536"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Trois cycles d'approche directe, 60 à 80 messages</a:t>
            </a:r>
            <a:endParaRPr lang="en-US" sz="1100" dirty="0"/>
          </a:p>
        </p:txBody>
      </p:sp>
      <p:sp>
        <p:nvSpPr>
          <p:cNvPr id="15" name="Text 13"/>
          <p:cNvSpPr txBox="1"/>
          <p:nvPr/>
        </p:nvSpPr>
        <p:spPr>
          <a:xfrm>
            <a:off x="3372536"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Gregory</a:t>
            </a:r>
            <a:endParaRPr lang="en-US" sz="1000" dirty="0"/>
          </a:p>
        </p:txBody>
      </p:sp>
      <p:sp>
        <p:nvSpPr>
          <p:cNvPr id="16" name="Shape 14"/>
          <p:cNvSpPr/>
          <p:nvPr/>
        </p:nvSpPr>
        <p:spPr>
          <a:xfrm>
            <a:off x="4761624" y="1828800"/>
            <a:ext cx="1279360" cy="384048"/>
          </a:xfrm>
          <a:prstGeom prst="rect">
            <a:avLst/>
          </a:prstGeom>
          <a:solidFill>
            <a:srgbClr val="B05F3A"/>
          </a:solidFill>
          <a:ln/>
        </p:spPr>
      </p:sp>
      <p:sp>
        <p:nvSpPr>
          <p:cNvPr id="17" name="Text 15"/>
          <p:cNvSpPr txBox="1"/>
          <p:nvPr/>
        </p:nvSpPr>
        <p:spPr>
          <a:xfrm>
            <a:off x="4761624"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S4</a:t>
            </a:r>
            <a:endParaRPr lang="en-US" sz="1300" dirty="0"/>
          </a:p>
        </p:txBody>
      </p:sp>
      <p:sp>
        <p:nvSpPr>
          <p:cNvPr id="18" name="Text 16"/>
          <p:cNvSpPr txBox="1"/>
          <p:nvPr/>
        </p:nvSpPr>
        <p:spPr>
          <a:xfrm>
            <a:off x="4761624"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Heure de calibration sur la grille</a:t>
            </a:r>
            <a:endParaRPr lang="en-US" sz="1100" dirty="0"/>
          </a:p>
        </p:txBody>
      </p:sp>
      <p:sp>
        <p:nvSpPr>
          <p:cNvPr id="19" name="Text 17"/>
          <p:cNvSpPr txBox="1"/>
          <p:nvPr/>
        </p:nvSpPr>
        <p:spPr>
          <a:xfrm>
            <a:off x="4761624" y="3749040"/>
            <a:ext cx="1279360" cy="457200"/>
          </a:xfrm>
          <a:prstGeom prst="rect">
            <a:avLst/>
          </a:prstGeom>
          <a:noFill/>
          <a:ln/>
        </p:spPr>
        <p:txBody>
          <a:bodyPr wrap="square" lIns="0" tIns="0" rIns="0" bIns="0" rtlCol="0" anchor="t"/>
          <a:lstStyle/>
          <a:p>
            <a:pPr indent="0" marL="0">
              <a:buNone/>
            </a:pPr>
            <a:r>
              <a:rPr lang="en-US" sz="1000" b="1" dirty="0">
                <a:solidFill>
                  <a:srgbClr val="B05F3A"/>
                </a:solidFill>
                <a:latin typeface="Calibri" pitchFamily="34" charset="0"/>
                <a:ea typeface="Calibri" pitchFamily="34" charset="-122"/>
                <a:cs typeface="Calibri" pitchFamily="34" charset="-120"/>
              </a:rPr>
              <a:t>Tous les trois</a:t>
            </a:r>
            <a:endParaRPr lang="en-US" sz="1000" dirty="0"/>
          </a:p>
        </p:txBody>
      </p:sp>
      <p:sp>
        <p:nvSpPr>
          <p:cNvPr id="20" name="Shape 18"/>
          <p:cNvSpPr/>
          <p:nvPr/>
        </p:nvSpPr>
        <p:spPr>
          <a:xfrm>
            <a:off x="6150712" y="1828800"/>
            <a:ext cx="1279360" cy="384048"/>
          </a:xfrm>
          <a:prstGeom prst="rect">
            <a:avLst/>
          </a:prstGeom>
          <a:solidFill>
            <a:srgbClr val="123E6B"/>
          </a:solidFill>
          <a:ln/>
        </p:spPr>
      </p:sp>
      <p:sp>
        <p:nvSpPr>
          <p:cNvPr id="21" name="Text 19"/>
          <p:cNvSpPr txBox="1"/>
          <p:nvPr/>
        </p:nvSpPr>
        <p:spPr>
          <a:xfrm>
            <a:off x="6150712"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S3-S6</a:t>
            </a:r>
            <a:endParaRPr lang="en-US" sz="1300" dirty="0"/>
          </a:p>
        </p:txBody>
      </p:sp>
      <p:sp>
        <p:nvSpPr>
          <p:cNvPr id="22" name="Text 20"/>
          <p:cNvSpPr txBox="1"/>
          <p:nvPr/>
        </p:nvSpPr>
        <p:spPr>
          <a:xfrm>
            <a:off x="6150712"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Tri des CV et entretiens téléphoniques au fil de l'eau</a:t>
            </a:r>
            <a:endParaRPr lang="en-US" sz="1100" dirty="0"/>
          </a:p>
        </p:txBody>
      </p:sp>
      <p:sp>
        <p:nvSpPr>
          <p:cNvPr id="23" name="Text 21"/>
          <p:cNvSpPr txBox="1"/>
          <p:nvPr/>
        </p:nvSpPr>
        <p:spPr>
          <a:xfrm>
            <a:off x="6150712"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Gregory</a:t>
            </a:r>
            <a:endParaRPr lang="en-US" sz="1000" dirty="0"/>
          </a:p>
        </p:txBody>
      </p:sp>
      <p:sp>
        <p:nvSpPr>
          <p:cNvPr id="24" name="Shape 22"/>
          <p:cNvSpPr/>
          <p:nvPr/>
        </p:nvSpPr>
        <p:spPr>
          <a:xfrm>
            <a:off x="7539799" y="1828800"/>
            <a:ext cx="1279360" cy="384048"/>
          </a:xfrm>
          <a:prstGeom prst="rect">
            <a:avLst/>
          </a:prstGeom>
          <a:solidFill>
            <a:srgbClr val="B05F3A"/>
          </a:solidFill>
          <a:ln/>
        </p:spPr>
      </p:sp>
      <p:sp>
        <p:nvSpPr>
          <p:cNvPr id="25" name="Text 23"/>
          <p:cNvSpPr txBox="1"/>
          <p:nvPr/>
        </p:nvSpPr>
        <p:spPr>
          <a:xfrm>
            <a:off x="7539799"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S5-S8</a:t>
            </a:r>
            <a:endParaRPr lang="en-US" sz="1300" dirty="0"/>
          </a:p>
        </p:txBody>
      </p:sp>
      <p:sp>
        <p:nvSpPr>
          <p:cNvPr id="26" name="Text 24"/>
          <p:cNvSpPr txBox="1"/>
          <p:nvPr/>
        </p:nvSpPr>
        <p:spPr>
          <a:xfrm>
            <a:off x="7539799"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Entretiens valeurs, métier et association</a:t>
            </a:r>
            <a:endParaRPr lang="en-US" sz="1100" dirty="0"/>
          </a:p>
        </p:txBody>
      </p:sp>
      <p:sp>
        <p:nvSpPr>
          <p:cNvPr id="27" name="Text 25"/>
          <p:cNvSpPr txBox="1"/>
          <p:nvPr/>
        </p:nvSpPr>
        <p:spPr>
          <a:xfrm>
            <a:off x="7539799" y="3749040"/>
            <a:ext cx="1279360" cy="457200"/>
          </a:xfrm>
          <a:prstGeom prst="rect">
            <a:avLst/>
          </a:prstGeom>
          <a:noFill/>
          <a:ln/>
        </p:spPr>
        <p:txBody>
          <a:bodyPr wrap="square" lIns="0" tIns="0" rIns="0" bIns="0" rtlCol="0" anchor="t"/>
          <a:lstStyle/>
          <a:p>
            <a:pPr indent="0" marL="0">
              <a:buNone/>
            </a:pPr>
            <a:r>
              <a:rPr lang="en-US" sz="1000" b="1" dirty="0">
                <a:solidFill>
                  <a:srgbClr val="B05F3A"/>
                </a:solidFill>
                <a:latin typeface="Calibri" pitchFamily="34" charset="0"/>
                <a:ea typeface="Calibri" pitchFamily="34" charset="-122"/>
                <a:cs typeface="Calibri" pitchFamily="34" charset="-120"/>
              </a:rPr>
              <a:t>Tous les trois</a:t>
            </a:r>
            <a:endParaRPr lang="en-US" sz="1000" dirty="0"/>
          </a:p>
        </p:txBody>
      </p:sp>
      <p:sp>
        <p:nvSpPr>
          <p:cNvPr id="28" name="Shape 26"/>
          <p:cNvSpPr/>
          <p:nvPr/>
        </p:nvSpPr>
        <p:spPr>
          <a:xfrm>
            <a:off x="8928887" y="1828800"/>
            <a:ext cx="1279360" cy="384048"/>
          </a:xfrm>
          <a:prstGeom prst="rect">
            <a:avLst/>
          </a:prstGeom>
          <a:solidFill>
            <a:srgbClr val="123E6B"/>
          </a:solidFill>
          <a:ln/>
        </p:spPr>
      </p:sp>
      <p:sp>
        <p:nvSpPr>
          <p:cNvPr id="29" name="Text 27"/>
          <p:cNvSpPr txBox="1"/>
          <p:nvPr/>
        </p:nvSpPr>
        <p:spPr>
          <a:xfrm>
            <a:off x="8928887"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S9</a:t>
            </a:r>
            <a:endParaRPr lang="en-US" sz="1300" dirty="0"/>
          </a:p>
        </p:txBody>
      </p:sp>
      <p:sp>
        <p:nvSpPr>
          <p:cNvPr id="30" name="Text 28"/>
          <p:cNvSpPr txBox="1"/>
          <p:nvPr/>
        </p:nvSpPr>
        <p:spPr>
          <a:xfrm>
            <a:off x="8928887"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Prise de références et décision</a:t>
            </a:r>
            <a:endParaRPr lang="en-US" sz="1100" dirty="0"/>
          </a:p>
        </p:txBody>
      </p:sp>
      <p:sp>
        <p:nvSpPr>
          <p:cNvPr id="31" name="Text 29"/>
          <p:cNvSpPr txBox="1"/>
          <p:nvPr/>
        </p:nvSpPr>
        <p:spPr>
          <a:xfrm>
            <a:off x="8928887"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Hervé, Gregory</a:t>
            </a:r>
            <a:endParaRPr lang="en-US" sz="1000" dirty="0"/>
          </a:p>
        </p:txBody>
      </p:sp>
      <p:sp>
        <p:nvSpPr>
          <p:cNvPr id="32" name="Shape 30"/>
          <p:cNvSpPr/>
          <p:nvPr/>
        </p:nvSpPr>
        <p:spPr>
          <a:xfrm>
            <a:off x="10317975" y="1828800"/>
            <a:ext cx="1279360" cy="384048"/>
          </a:xfrm>
          <a:prstGeom prst="rect">
            <a:avLst/>
          </a:prstGeom>
          <a:solidFill>
            <a:srgbClr val="123E6B"/>
          </a:solidFill>
          <a:ln/>
        </p:spPr>
      </p:sp>
      <p:sp>
        <p:nvSpPr>
          <p:cNvPr id="33" name="Text 31"/>
          <p:cNvSpPr txBox="1"/>
          <p:nvPr/>
        </p:nvSpPr>
        <p:spPr>
          <a:xfrm>
            <a:off x="10317975" y="1828800"/>
            <a:ext cx="127936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S10</a:t>
            </a:r>
            <a:endParaRPr lang="en-US" sz="1300" dirty="0"/>
          </a:p>
        </p:txBody>
      </p:sp>
      <p:sp>
        <p:nvSpPr>
          <p:cNvPr id="34" name="Text 32"/>
          <p:cNvSpPr txBox="1"/>
          <p:nvPr/>
        </p:nvSpPr>
        <p:spPr>
          <a:xfrm>
            <a:off x="10317975" y="2359152"/>
            <a:ext cx="1279360" cy="1371600"/>
          </a:xfrm>
          <a:prstGeom prst="rect">
            <a:avLst/>
          </a:prstGeom>
          <a:noFill/>
          <a:ln/>
        </p:spPr>
        <p:txBody>
          <a:bodyPr wrap="square" lIns="0" tIns="0" rIns="0" bIns="0" rtlCol="0" anchor="t"/>
          <a:lstStyle/>
          <a:p>
            <a:pPr indent="0" marL="0">
              <a:lnSpc>
                <a:spcPts val="1500"/>
              </a:lnSpc>
              <a:buNone/>
            </a:pPr>
            <a:r>
              <a:rPr lang="en-US" sz="1100" dirty="0">
                <a:solidFill>
                  <a:srgbClr val="12212E"/>
                </a:solidFill>
                <a:latin typeface="Calibri" pitchFamily="34" charset="0"/>
                <a:ea typeface="Calibri" pitchFamily="34" charset="-122"/>
                <a:cs typeface="Calibri" pitchFamily="34" charset="-120"/>
              </a:rPr>
              <a:t>Proposition et signature</a:t>
            </a:r>
            <a:endParaRPr lang="en-US" sz="1100" dirty="0"/>
          </a:p>
        </p:txBody>
      </p:sp>
      <p:sp>
        <p:nvSpPr>
          <p:cNvPr id="35" name="Text 33"/>
          <p:cNvSpPr txBox="1"/>
          <p:nvPr/>
        </p:nvSpPr>
        <p:spPr>
          <a:xfrm>
            <a:off x="10317975" y="3749040"/>
            <a:ext cx="1279360" cy="457200"/>
          </a:xfrm>
          <a:prstGeom prst="rect">
            <a:avLst/>
          </a:prstGeom>
          <a:noFill/>
          <a:ln/>
        </p:spPr>
        <p:txBody>
          <a:bodyPr wrap="square" lIns="0" tIns="0" rIns="0" bIns="0" rtlCol="0" anchor="t"/>
          <a:lstStyle/>
          <a:p>
            <a:pPr indent="0" marL="0">
              <a:buNone/>
            </a:pPr>
            <a:r>
              <a:rPr lang="en-US" sz="1000" b="1" dirty="0">
                <a:solidFill>
                  <a:srgbClr val="5A6673"/>
                </a:solidFill>
                <a:latin typeface="Calibri" pitchFamily="34" charset="0"/>
                <a:ea typeface="Calibri" pitchFamily="34" charset="-122"/>
                <a:cs typeface="Calibri" pitchFamily="34" charset="-120"/>
              </a:rPr>
              <a:t>Hervé</a:t>
            </a:r>
            <a:endParaRPr lang="en-US" sz="1000" dirty="0"/>
          </a:p>
        </p:txBody>
      </p:sp>
      <p:sp>
        <p:nvSpPr>
          <p:cNvPr id="36" name="Shape 34"/>
          <p:cNvSpPr/>
          <p:nvPr/>
        </p:nvSpPr>
        <p:spPr>
          <a:xfrm>
            <a:off x="594360" y="4434840"/>
            <a:ext cx="11002975" cy="1371600"/>
          </a:xfrm>
          <a:prstGeom prst="roundRect">
            <a:avLst>
              <a:gd name="adj" fmla="val 4000"/>
            </a:avLst>
          </a:prstGeom>
          <a:solidFill>
            <a:srgbClr val="F2F5F8"/>
          </a:solidFill>
          <a:ln/>
        </p:spPr>
      </p:sp>
      <p:sp>
        <p:nvSpPr>
          <p:cNvPr id="37" name="Text 35"/>
          <p:cNvSpPr txBox="1"/>
          <p:nvPr/>
        </p:nvSpPr>
        <p:spPr>
          <a:xfrm>
            <a:off x="914400" y="4617720"/>
            <a:ext cx="4572000" cy="274320"/>
          </a:xfrm>
          <a:prstGeom prst="rect">
            <a:avLst/>
          </a:prstGeom>
          <a:noFill/>
          <a:ln/>
        </p:spPr>
        <p:txBody>
          <a:bodyPr wrap="square" lIns="0" tIns="0" rIns="0" bIns="0" rtlCol="0" anchor="ctr"/>
          <a:lstStyle/>
          <a:p>
            <a:pPr indent="0" marL="0">
              <a:buNone/>
            </a:pPr>
            <a:r>
              <a:rPr lang="en-US" sz="1300" b="1" dirty="0">
                <a:solidFill>
                  <a:srgbClr val="1F4B7A"/>
                </a:solidFill>
                <a:latin typeface="Calibri" pitchFamily="34" charset="0"/>
                <a:ea typeface="Calibri" pitchFamily="34" charset="-122"/>
                <a:cs typeface="Calibri" pitchFamily="34" charset="-120"/>
              </a:rPr>
              <a:t>Puis le préavis du candidat</a:t>
            </a:r>
            <a:endParaRPr lang="en-US" sz="1300" dirty="0"/>
          </a:p>
        </p:txBody>
      </p:sp>
      <p:sp>
        <p:nvSpPr>
          <p:cNvPr id="38" name="Text 36"/>
          <p:cNvSpPr txBox="1"/>
          <p:nvPr/>
        </p:nvSpPr>
        <p:spPr>
          <a:xfrm>
            <a:off x="914400" y="4937760"/>
            <a:ext cx="10362895" cy="731520"/>
          </a:xfrm>
          <a:prstGeom prst="rect">
            <a:avLst/>
          </a:prstGeom>
          <a:noFill/>
          <a:ln/>
        </p:spPr>
        <p:txBody>
          <a:bodyPr wrap="square" lIns="0" tIns="0" rIns="0" bIns="0" rtlCol="0" anchor="t"/>
          <a:lstStyle/>
          <a:p>
            <a:pPr indent="0" marL="0">
              <a:lnSpc>
                <a:spcPts val="1800"/>
              </a:lnSpc>
              <a:buNone/>
            </a:pPr>
            <a:r>
              <a:rPr lang="en-US" sz="1250" dirty="0">
                <a:solidFill>
                  <a:srgbClr val="5A6673"/>
                </a:solidFill>
                <a:latin typeface="Calibri" pitchFamily="34" charset="0"/>
                <a:ea typeface="Calibri" pitchFamily="34" charset="-122"/>
                <a:cs typeface="Calibri" pitchFamily="34" charset="-120"/>
              </a:rPr>
              <a:t>Trois mois en général pour un avocat salarié, selon contrat pour un collaborateur libéral. Prise de poste réaliste : quatre à six mois après le lancement. L'annonce actuelle dit « dès que possible », ce qui ne veut rien dire. Nous la remplacerons par une date.</a:t>
            </a:r>
            <a:endParaRPr lang="en-US" sz="1250" dirty="0"/>
          </a:p>
        </p:txBody>
      </p:sp>
      <p:sp>
        <p:nvSpPr>
          <p:cNvPr id="39" name="Text 37"/>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Les deux jalons en orange vous concernent tous les deux.</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402336"/>
            <a:ext cx="11002975" cy="237744"/>
          </a:xfrm>
          <a:prstGeom prst="rect">
            <a:avLst/>
          </a:prstGeom>
          <a:noFill/>
          <a:ln/>
        </p:spPr>
        <p:txBody>
          <a:bodyPr wrap="square" lIns="0" tIns="0" rIns="0" bIns="0" rtlCol="0" anchor="ctr"/>
          <a:lstStyle/>
          <a:p>
            <a:pPr indent="0" marL="0">
              <a:buNone/>
            </a:pPr>
            <a:r>
              <a:rPr lang="en-US" sz="1100" b="1" spc="200" kern="0" dirty="0">
                <a:solidFill>
                  <a:srgbClr val="B05F3A"/>
                </a:solidFill>
                <a:latin typeface="Calibri" pitchFamily="34" charset="0"/>
                <a:ea typeface="Calibri" pitchFamily="34" charset="-122"/>
                <a:cs typeface="Calibri" pitchFamily="34" charset="-120"/>
              </a:rPr>
              <a:t>PILOTAGE</a:t>
            </a:r>
            <a:endParaRPr lang="en-US" sz="1100" dirty="0"/>
          </a:p>
        </p:txBody>
      </p:sp>
      <p:sp>
        <p:nvSpPr>
          <p:cNvPr id="3" name="Text 1"/>
          <p:cNvSpPr txBox="1"/>
          <p:nvPr/>
        </p:nvSpPr>
        <p:spPr>
          <a:xfrm>
            <a:off x="594360" y="658368"/>
            <a:ext cx="11002975" cy="777240"/>
          </a:xfrm>
          <a:prstGeom prst="rect">
            <a:avLst/>
          </a:prstGeom>
          <a:noFill/>
          <a:ln/>
        </p:spPr>
        <p:txBody>
          <a:bodyPr wrap="square" lIns="0" tIns="0" rIns="0" bIns="0" rtlCol="0" anchor="t"/>
          <a:lstStyle/>
          <a:p>
            <a:pPr indent="0" marL="0">
              <a:buNone/>
            </a:pPr>
            <a:r>
              <a:rPr lang="en-US" sz="3300" b="1" dirty="0">
                <a:solidFill>
                  <a:srgbClr val="12212E"/>
                </a:solidFill>
                <a:latin typeface="Cambria" pitchFamily="34" charset="0"/>
                <a:ea typeface="Cambria" pitchFamily="34" charset="-122"/>
                <a:cs typeface="Cambria" pitchFamily="34" charset="-120"/>
              </a:rPr>
              <a:t>Ce que nous attendons, et quand s'inquiéter</a:t>
            </a:r>
            <a:endParaRPr lang="en-US" sz="3300" dirty="0"/>
          </a:p>
        </p:txBody>
      </p:sp>
      <p:sp>
        <p:nvSpPr>
          <p:cNvPr id="4" name="Text 2"/>
          <p:cNvSpPr txBox="1"/>
          <p:nvPr/>
        </p:nvSpPr>
        <p:spPr>
          <a:xfrm>
            <a:off x="594360" y="18105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CV reçus</a:t>
            </a:r>
            <a:endParaRPr lang="en-US" sz="1250" dirty="0"/>
          </a:p>
        </p:txBody>
      </p:sp>
      <p:sp>
        <p:nvSpPr>
          <p:cNvPr id="5" name="Shape 3"/>
          <p:cNvSpPr/>
          <p:nvPr/>
        </p:nvSpPr>
        <p:spPr>
          <a:xfrm>
            <a:off x="3611880" y="1783080"/>
            <a:ext cx="6400800" cy="329184"/>
          </a:xfrm>
          <a:prstGeom prst="rect">
            <a:avLst/>
          </a:prstGeom>
          <a:solidFill>
            <a:srgbClr val="2E6DA8"/>
          </a:solidFill>
          <a:ln/>
        </p:spPr>
      </p:sp>
      <p:sp>
        <p:nvSpPr>
          <p:cNvPr id="6" name="Text 4"/>
          <p:cNvSpPr txBox="1"/>
          <p:nvPr/>
        </p:nvSpPr>
        <p:spPr>
          <a:xfrm>
            <a:off x="10149840" y="17830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25 à 40</a:t>
            </a:r>
            <a:endParaRPr lang="en-US" sz="1250" dirty="0"/>
          </a:p>
        </p:txBody>
      </p:sp>
      <p:sp>
        <p:nvSpPr>
          <p:cNvPr id="7" name="Text 5"/>
          <p:cNvSpPr txBox="1"/>
          <p:nvPr/>
        </p:nvSpPr>
        <p:spPr>
          <a:xfrm>
            <a:off x="594360" y="22677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CV au-dessus du seuil de 70</a:t>
            </a:r>
            <a:endParaRPr lang="en-US" sz="1250" dirty="0"/>
          </a:p>
        </p:txBody>
      </p:sp>
      <p:sp>
        <p:nvSpPr>
          <p:cNvPr id="8" name="Shape 6"/>
          <p:cNvSpPr/>
          <p:nvPr/>
        </p:nvSpPr>
        <p:spPr>
          <a:xfrm>
            <a:off x="3611880" y="2240280"/>
            <a:ext cx="3520440" cy="329184"/>
          </a:xfrm>
          <a:prstGeom prst="rect">
            <a:avLst/>
          </a:prstGeom>
          <a:solidFill>
            <a:srgbClr val="2E6DA8"/>
          </a:solidFill>
          <a:ln/>
        </p:spPr>
      </p:sp>
      <p:sp>
        <p:nvSpPr>
          <p:cNvPr id="9" name="Text 7"/>
          <p:cNvSpPr txBox="1"/>
          <p:nvPr/>
        </p:nvSpPr>
        <p:spPr>
          <a:xfrm>
            <a:off x="7269480" y="22402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8 à 12</a:t>
            </a:r>
            <a:endParaRPr lang="en-US" sz="1250" dirty="0"/>
          </a:p>
        </p:txBody>
      </p:sp>
      <p:sp>
        <p:nvSpPr>
          <p:cNvPr id="10" name="Text 8"/>
          <p:cNvSpPr txBox="1"/>
          <p:nvPr/>
        </p:nvSpPr>
        <p:spPr>
          <a:xfrm>
            <a:off x="594360" y="27249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Entretiens téléphoniques</a:t>
            </a:r>
            <a:endParaRPr lang="en-US" sz="1250" dirty="0"/>
          </a:p>
        </p:txBody>
      </p:sp>
      <p:sp>
        <p:nvSpPr>
          <p:cNvPr id="11" name="Shape 9"/>
          <p:cNvSpPr/>
          <p:nvPr/>
        </p:nvSpPr>
        <p:spPr>
          <a:xfrm>
            <a:off x="3611880" y="2697480"/>
            <a:ext cx="3968496" cy="329184"/>
          </a:xfrm>
          <a:prstGeom prst="rect">
            <a:avLst/>
          </a:prstGeom>
          <a:solidFill>
            <a:srgbClr val="2E6DA8"/>
          </a:solidFill>
          <a:ln/>
        </p:spPr>
      </p:sp>
      <p:sp>
        <p:nvSpPr>
          <p:cNvPr id="12" name="Text 10"/>
          <p:cNvSpPr txBox="1"/>
          <p:nvPr/>
        </p:nvSpPr>
        <p:spPr>
          <a:xfrm>
            <a:off x="7717536" y="26974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12 à 18</a:t>
            </a:r>
            <a:endParaRPr lang="en-US" sz="1250" dirty="0"/>
          </a:p>
        </p:txBody>
      </p:sp>
      <p:sp>
        <p:nvSpPr>
          <p:cNvPr id="13" name="Text 11"/>
          <p:cNvSpPr txBox="1"/>
          <p:nvPr/>
        </p:nvSpPr>
        <p:spPr>
          <a:xfrm>
            <a:off x="594360" y="31821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Candidats en étape 3</a:t>
            </a:r>
            <a:endParaRPr lang="en-US" sz="1250" dirty="0"/>
          </a:p>
        </p:txBody>
      </p:sp>
      <p:sp>
        <p:nvSpPr>
          <p:cNvPr id="14" name="Shape 12"/>
          <p:cNvSpPr/>
          <p:nvPr/>
        </p:nvSpPr>
        <p:spPr>
          <a:xfrm>
            <a:off x="3611880" y="3154680"/>
            <a:ext cx="2176272" cy="329184"/>
          </a:xfrm>
          <a:prstGeom prst="rect">
            <a:avLst/>
          </a:prstGeom>
          <a:solidFill>
            <a:srgbClr val="2E6DA8"/>
          </a:solidFill>
          <a:ln/>
        </p:spPr>
      </p:sp>
      <p:sp>
        <p:nvSpPr>
          <p:cNvPr id="15" name="Text 13"/>
          <p:cNvSpPr txBox="1"/>
          <p:nvPr/>
        </p:nvSpPr>
        <p:spPr>
          <a:xfrm>
            <a:off x="5925312" y="31546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4 à 6</a:t>
            </a:r>
            <a:endParaRPr lang="en-US" sz="1250" dirty="0"/>
          </a:p>
        </p:txBody>
      </p:sp>
      <p:sp>
        <p:nvSpPr>
          <p:cNvPr id="16" name="Text 14"/>
          <p:cNvSpPr txBox="1"/>
          <p:nvPr/>
        </p:nvSpPr>
        <p:spPr>
          <a:xfrm>
            <a:off x="594360" y="36393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Candidats en étape 4</a:t>
            </a:r>
            <a:endParaRPr lang="en-US" sz="1250" dirty="0"/>
          </a:p>
        </p:txBody>
      </p:sp>
      <p:sp>
        <p:nvSpPr>
          <p:cNvPr id="17" name="Shape 15"/>
          <p:cNvSpPr/>
          <p:nvPr/>
        </p:nvSpPr>
        <p:spPr>
          <a:xfrm>
            <a:off x="3611880" y="3611880"/>
            <a:ext cx="1408176" cy="329184"/>
          </a:xfrm>
          <a:prstGeom prst="rect">
            <a:avLst/>
          </a:prstGeom>
          <a:solidFill>
            <a:srgbClr val="2E6DA8"/>
          </a:solidFill>
          <a:ln/>
        </p:spPr>
      </p:sp>
      <p:sp>
        <p:nvSpPr>
          <p:cNvPr id="18" name="Text 16"/>
          <p:cNvSpPr txBox="1"/>
          <p:nvPr/>
        </p:nvSpPr>
        <p:spPr>
          <a:xfrm>
            <a:off x="5157216" y="36118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2 à 3</a:t>
            </a:r>
            <a:endParaRPr lang="en-US" sz="1250" dirty="0"/>
          </a:p>
        </p:txBody>
      </p:sp>
      <p:sp>
        <p:nvSpPr>
          <p:cNvPr id="19" name="Text 17"/>
          <p:cNvSpPr txBox="1"/>
          <p:nvPr/>
        </p:nvSpPr>
        <p:spPr>
          <a:xfrm>
            <a:off x="594360" y="4096512"/>
            <a:ext cx="2834640" cy="274320"/>
          </a:xfrm>
          <a:prstGeom prst="rect">
            <a:avLst/>
          </a:prstGeom>
          <a:noFill/>
          <a:ln/>
        </p:spPr>
        <p:txBody>
          <a:bodyPr wrap="square" lIns="0" tIns="0" rIns="0" bIns="0" rtlCol="0" anchor="ctr"/>
          <a:lstStyle/>
          <a:p>
            <a:pPr indent="0" marL="0">
              <a:buNone/>
            </a:pPr>
            <a:r>
              <a:rPr lang="en-US" sz="1250" dirty="0">
                <a:solidFill>
                  <a:srgbClr val="12212E"/>
                </a:solidFill>
                <a:latin typeface="Calibri" pitchFamily="34" charset="0"/>
                <a:ea typeface="Calibri" pitchFamily="34" charset="-122"/>
                <a:cs typeface="Calibri" pitchFamily="34" charset="-120"/>
              </a:rPr>
              <a:t>Propositions émises</a:t>
            </a:r>
            <a:endParaRPr lang="en-US" sz="1250" dirty="0"/>
          </a:p>
        </p:txBody>
      </p:sp>
      <p:sp>
        <p:nvSpPr>
          <p:cNvPr id="20" name="Shape 18"/>
          <p:cNvSpPr/>
          <p:nvPr/>
        </p:nvSpPr>
        <p:spPr>
          <a:xfrm>
            <a:off x="3611880" y="4069080"/>
            <a:ext cx="896112" cy="329184"/>
          </a:xfrm>
          <a:prstGeom prst="rect">
            <a:avLst/>
          </a:prstGeom>
          <a:solidFill>
            <a:srgbClr val="2E6DA8"/>
          </a:solidFill>
          <a:ln/>
        </p:spPr>
      </p:sp>
      <p:sp>
        <p:nvSpPr>
          <p:cNvPr id="21" name="Text 19"/>
          <p:cNvSpPr txBox="1"/>
          <p:nvPr/>
        </p:nvSpPr>
        <p:spPr>
          <a:xfrm>
            <a:off x="4645152" y="4069080"/>
            <a:ext cx="1371600" cy="329184"/>
          </a:xfrm>
          <a:prstGeom prst="rect">
            <a:avLst/>
          </a:prstGeom>
          <a:noFill/>
          <a:ln/>
        </p:spPr>
        <p:txBody>
          <a:bodyPr wrap="square" lIns="0" tIns="0" rIns="0" bIns="0" rtlCol="0" anchor="ctr"/>
          <a:lstStyle/>
          <a:p>
            <a:pPr indent="0" marL="0">
              <a:buNone/>
            </a:pPr>
            <a:r>
              <a:rPr lang="en-US" sz="1250" b="1" dirty="0">
                <a:solidFill>
                  <a:srgbClr val="1F4B7A"/>
                </a:solidFill>
                <a:latin typeface="Calibri" pitchFamily="34" charset="0"/>
                <a:ea typeface="Calibri" pitchFamily="34" charset="-122"/>
                <a:cs typeface="Calibri" pitchFamily="34" charset="-120"/>
              </a:rPr>
              <a:t>1 à 2</a:t>
            </a:r>
            <a:endParaRPr lang="en-US" sz="1250" dirty="0"/>
          </a:p>
        </p:txBody>
      </p:sp>
      <p:sp>
        <p:nvSpPr>
          <p:cNvPr id="22" name="Shape 20"/>
          <p:cNvSpPr/>
          <p:nvPr/>
        </p:nvSpPr>
        <p:spPr>
          <a:xfrm>
            <a:off x="594360" y="4754880"/>
            <a:ext cx="5318608" cy="1234440"/>
          </a:xfrm>
          <a:prstGeom prst="roundRect">
            <a:avLst>
              <a:gd name="adj" fmla="val 4444"/>
            </a:avLst>
          </a:prstGeom>
          <a:solidFill>
            <a:srgbClr val="FBF1EC"/>
          </a:solidFill>
          <a:ln/>
        </p:spPr>
      </p:sp>
      <p:sp>
        <p:nvSpPr>
          <p:cNvPr id="23" name="Text 21"/>
          <p:cNvSpPr txBox="1"/>
          <p:nvPr/>
        </p:nvSpPr>
        <p:spPr>
          <a:xfrm>
            <a:off x="868680" y="4919472"/>
            <a:ext cx="1828800" cy="219456"/>
          </a:xfrm>
          <a:prstGeom prst="rect">
            <a:avLst/>
          </a:prstGeom>
          <a:noFill/>
          <a:ln/>
        </p:spPr>
        <p:txBody>
          <a:bodyPr wrap="square" lIns="0" tIns="0" rIns="0" bIns="0" rtlCol="0" anchor="ctr"/>
          <a:lstStyle/>
          <a:p>
            <a:pPr indent="0" marL="0">
              <a:buNone/>
            </a:pPr>
            <a:r>
              <a:rPr lang="en-US" sz="950" b="1" spc="150" kern="0" dirty="0">
                <a:solidFill>
                  <a:srgbClr val="B05F3A"/>
                </a:solidFill>
                <a:latin typeface="Calibri" pitchFamily="34" charset="0"/>
                <a:ea typeface="Calibri" pitchFamily="34" charset="-122"/>
                <a:cs typeface="Calibri" pitchFamily="34" charset="-120"/>
              </a:rPr>
              <a:t>ALERTE</a:t>
            </a:r>
            <a:endParaRPr lang="en-US" sz="950" dirty="0"/>
          </a:p>
        </p:txBody>
      </p:sp>
      <p:sp>
        <p:nvSpPr>
          <p:cNvPr id="24" name="Text 22"/>
          <p:cNvSpPr txBox="1"/>
          <p:nvPr/>
        </p:nvSpPr>
        <p:spPr>
          <a:xfrm>
            <a:off x="868680" y="5148072"/>
            <a:ext cx="4769968" cy="292608"/>
          </a:xfrm>
          <a:prstGeom prst="rect">
            <a:avLst/>
          </a:prstGeom>
          <a:noFill/>
          <a:ln/>
        </p:spPr>
        <p:txBody>
          <a:bodyPr wrap="square" lIns="0" tIns="0" rIns="0" bIns="0" rtlCol="0" anchor="ctr"/>
          <a:lstStyle/>
          <a:p>
            <a:pPr indent="0" marL="0">
              <a:buNone/>
            </a:pPr>
            <a:r>
              <a:rPr lang="en-US" sz="1300" b="1" dirty="0">
                <a:solidFill>
                  <a:srgbClr val="12212E"/>
                </a:solidFill>
                <a:latin typeface="Calibri" pitchFamily="34" charset="0"/>
                <a:ea typeface="Calibri" pitchFamily="34" charset="-122"/>
                <a:cs typeface="Calibri" pitchFamily="34" charset="-120"/>
              </a:rPr>
              <a:t>Moins de 5 CV au-dessus du seuil en semaine 4</a:t>
            </a:r>
            <a:endParaRPr lang="en-US" sz="1300" dirty="0"/>
          </a:p>
        </p:txBody>
      </p:sp>
      <p:sp>
        <p:nvSpPr>
          <p:cNvPr id="25" name="Text 23"/>
          <p:cNvSpPr txBox="1"/>
          <p:nvPr/>
        </p:nvSpPr>
        <p:spPr>
          <a:xfrm>
            <a:off x="868680" y="5458968"/>
            <a:ext cx="4769968" cy="45720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Le problème vient de l'offre, pas de la diffusion. Nous revoyons le statut et la fourchette.</a:t>
            </a:r>
            <a:endParaRPr lang="en-US" sz="1150" dirty="0"/>
          </a:p>
        </p:txBody>
      </p:sp>
      <p:sp>
        <p:nvSpPr>
          <p:cNvPr id="26" name="Shape 24"/>
          <p:cNvSpPr/>
          <p:nvPr/>
        </p:nvSpPr>
        <p:spPr>
          <a:xfrm>
            <a:off x="6278728" y="4754880"/>
            <a:ext cx="5318608" cy="1234440"/>
          </a:xfrm>
          <a:prstGeom prst="roundRect">
            <a:avLst>
              <a:gd name="adj" fmla="val 4444"/>
            </a:avLst>
          </a:prstGeom>
          <a:solidFill>
            <a:srgbClr val="FBF1EC"/>
          </a:solidFill>
          <a:ln/>
        </p:spPr>
      </p:sp>
      <p:sp>
        <p:nvSpPr>
          <p:cNvPr id="27" name="Text 25"/>
          <p:cNvSpPr txBox="1"/>
          <p:nvPr/>
        </p:nvSpPr>
        <p:spPr>
          <a:xfrm>
            <a:off x="6553048" y="4919472"/>
            <a:ext cx="1828800" cy="219456"/>
          </a:xfrm>
          <a:prstGeom prst="rect">
            <a:avLst/>
          </a:prstGeom>
          <a:noFill/>
          <a:ln/>
        </p:spPr>
        <p:txBody>
          <a:bodyPr wrap="square" lIns="0" tIns="0" rIns="0" bIns="0" rtlCol="0" anchor="ctr"/>
          <a:lstStyle/>
          <a:p>
            <a:pPr indent="0" marL="0">
              <a:buNone/>
            </a:pPr>
            <a:r>
              <a:rPr lang="en-US" sz="950" b="1" spc="150" kern="0" dirty="0">
                <a:solidFill>
                  <a:srgbClr val="B05F3A"/>
                </a:solidFill>
                <a:latin typeface="Calibri" pitchFamily="34" charset="0"/>
                <a:ea typeface="Calibri" pitchFamily="34" charset="-122"/>
                <a:cs typeface="Calibri" pitchFamily="34" charset="-120"/>
              </a:rPr>
              <a:t>ALERTE</a:t>
            </a:r>
            <a:endParaRPr lang="en-US" sz="950" dirty="0"/>
          </a:p>
        </p:txBody>
      </p:sp>
      <p:sp>
        <p:nvSpPr>
          <p:cNvPr id="28" name="Text 26"/>
          <p:cNvSpPr txBox="1"/>
          <p:nvPr/>
        </p:nvSpPr>
        <p:spPr>
          <a:xfrm>
            <a:off x="6553048" y="5148072"/>
            <a:ext cx="4769968" cy="292608"/>
          </a:xfrm>
          <a:prstGeom prst="rect">
            <a:avLst/>
          </a:prstGeom>
          <a:noFill/>
          <a:ln/>
        </p:spPr>
        <p:txBody>
          <a:bodyPr wrap="square" lIns="0" tIns="0" rIns="0" bIns="0" rtlCol="0" anchor="ctr"/>
          <a:lstStyle/>
          <a:p>
            <a:pPr indent="0" marL="0">
              <a:buNone/>
            </a:pPr>
            <a:r>
              <a:rPr lang="en-US" sz="1300" b="1" dirty="0">
                <a:solidFill>
                  <a:srgbClr val="12212E"/>
                </a:solidFill>
                <a:latin typeface="Calibri" pitchFamily="34" charset="0"/>
                <a:ea typeface="Calibri" pitchFamily="34" charset="-122"/>
                <a:cs typeface="Calibri" pitchFamily="34" charset="-120"/>
              </a:rPr>
              <a:t>Moins de 10 % de réponse à l'approche directe</a:t>
            </a:r>
            <a:endParaRPr lang="en-US" sz="1300" dirty="0"/>
          </a:p>
        </p:txBody>
      </p:sp>
      <p:sp>
        <p:nvSpPr>
          <p:cNvPr id="29" name="Text 27"/>
          <p:cNvSpPr txBox="1"/>
          <p:nvPr/>
        </p:nvSpPr>
        <p:spPr>
          <a:xfrm>
            <a:off x="6553048" y="5458968"/>
            <a:ext cx="4769968" cy="457200"/>
          </a:xfrm>
          <a:prstGeom prst="rect">
            <a:avLst/>
          </a:prstGeom>
          <a:noFill/>
          <a:ln/>
        </p:spPr>
        <p:txBody>
          <a:bodyPr wrap="square" lIns="0" tIns="0" rIns="0" bIns="0" rtlCol="0" anchor="t"/>
          <a:lstStyle/>
          <a:p>
            <a:pPr indent="0" marL="0">
              <a:lnSpc>
                <a:spcPts val="1600"/>
              </a:lnSpc>
              <a:buNone/>
            </a:pPr>
            <a:r>
              <a:rPr lang="en-US" sz="1150" dirty="0">
                <a:solidFill>
                  <a:srgbClr val="5A6673"/>
                </a:solidFill>
                <a:latin typeface="Calibri" pitchFamily="34" charset="0"/>
                <a:ea typeface="Calibri" pitchFamily="34" charset="-122"/>
                <a:cs typeface="Calibri" pitchFamily="34" charset="-120"/>
              </a:rPr>
              <a:t>Le problème vient du message. Nous le réécrivons avant d'envoyer la suite.</a:t>
            </a:r>
            <a:endParaRPr lang="en-US" sz="1150" dirty="0"/>
          </a:p>
        </p:txBody>
      </p:sp>
      <p:sp>
        <p:nvSpPr>
          <p:cNvPr id="30" name="Text 28"/>
          <p:cNvSpPr txBox="1"/>
          <p:nvPr/>
        </p:nvSpPr>
        <p:spPr>
          <a:xfrm>
            <a:off x="594360" y="6382512"/>
            <a:ext cx="11002975" cy="274320"/>
          </a:xfrm>
          <a:prstGeom prst="rect">
            <a:avLst/>
          </a:prstGeom>
          <a:noFill/>
          <a:ln/>
        </p:spPr>
        <p:txBody>
          <a:bodyPr wrap="square" lIns="0" tIns="0" rIns="0" bIns="0" rtlCol="0" anchor="ctr"/>
          <a:lstStyle/>
          <a:p>
            <a:pPr indent="0" marL="0">
              <a:buNone/>
            </a:pPr>
            <a:r>
              <a:rPr lang="en-US" sz="950" dirty="0">
                <a:solidFill>
                  <a:srgbClr val="5A6673"/>
                </a:solidFill>
                <a:latin typeface="Calibri" pitchFamily="34" charset="0"/>
                <a:ea typeface="Calibri" pitchFamily="34" charset="-122"/>
                <a:cs typeface="Calibri" pitchFamily="34" charset="-120"/>
              </a:rPr>
              <a:t>Suivi hebdomadaire par Gregory Levy.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212E"/>
        </a:solidFill>
      </p:bgPr>
    </p:bg>
    <p:spTree>
      <p:nvGrpSpPr>
        <p:cNvPr id="1" name=""/>
        <p:cNvGrpSpPr/>
        <p:nvPr/>
      </p:nvGrpSpPr>
      <p:grpSpPr>
        <a:xfrm>
          <a:off x="0" y="0"/>
          <a:ext cx="0" cy="0"/>
          <a:chOff x="0" y="0"/>
          <a:chExt cx="0" cy="0"/>
        </a:xfrm>
      </p:grpSpPr>
      <p:sp>
        <p:nvSpPr>
          <p:cNvPr id="2" name="Text 0"/>
          <p:cNvSpPr txBox="1"/>
          <p:nvPr/>
        </p:nvSpPr>
        <p:spPr>
          <a:xfrm>
            <a:off x="594360" y="1188720"/>
            <a:ext cx="11002975" cy="292608"/>
          </a:xfrm>
          <a:prstGeom prst="rect">
            <a:avLst/>
          </a:prstGeom>
          <a:noFill/>
          <a:ln/>
        </p:spPr>
        <p:txBody>
          <a:bodyPr wrap="square" lIns="0" tIns="0" rIns="0" bIns="0" rtlCol="0" anchor="ctr"/>
          <a:lstStyle/>
          <a:p>
            <a:pPr indent="0" marL="0">
              <a:buNone/>
            </a:pPr>
            <a:r>
              <a:rPr lang="en-US" sz="1200" b="1" spc="300" kern="0" dirty="0">
                <a:solidFill>
                  <a:srgbClr val="E0956B"/>
                </a:solidFill>
                <a:latin typeface="Calibri" pitchFamily="34" charset="0"/>
                <a:ea typeface="Calibri" pitchFamily="34" charset="-122"/>
                <a:cs typeface="Calibri" pitchFamily="34" charset="-120"/>
              </a:rPr>
              <a:t>CE QUE NOUS DÉCIDONS AUJOURD'HUI</a:t>
            </a:r>
            <a:endParaRPr lang="en-US" sz="1200" dirty="0"/>
          </a:p>
        </p:txBody>
      </p:sp>
      <p:sp>
        <p:nvSpPr>
          <p:cNvPr id="3" name="Shape 1"/>
          <p:cNvSpPr/>
          <p:nvPr/>
        </p:nvSpPr>
        <p:spPr>
          <a:xfrm>
            <a:off x="594360" y="1737360"/>
            <a:ext cx="11002975" cy="1051560"/>
          </a:xfrm>
          <a:prstGeom prst="roundRect">
            <a:avLst>
              <a:gd name="adj" fmla="val 5217"/>
            </a:avLst>
          </a:prstGeom>
          <a:solidFill>
            <a:srgbClr val="1B2E40"/>
          </a:solidFill>
          <a:ln/>
        </p:spPr>
      </p:sp>
      <p:sp>
        <p:nvSpPr>
          <p:cNvPr id="4" name="Shape 2"/>
          <p:cNvSpPr/>
          <p:nvPr/>
        </p:nvSpPr>
        <p:spPr>
          <a:xfrm>
            <a:off x="914400" y="2039112"/>
            <a:ext cx="457200" cy="457200"/>
          </a:xfrm>
          <a:prstGeom prst="ellipse">
            <a:avLst/>
          </a:prstGeom>
          <a:solidFill>
            <a:srgbClr val="B05F3A"/>
          </a:solidFill>
          <a:ln/>
        </p:spPr>
      </p:sp>
      <p:sp>
        <p:nvSpPr>
          <p:cNvPr id="5" name="Text 3"/>
          <p:cNvSpPr txBox="1"/>
          <p:nvPr/>
        </p:nvSpPr>
        <p:spPr>
          <a:xfrm>
            <a:off x="914400" y="2039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600200" y="1938528"/>
            <a:ext cx="9631375"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 fourchette de rémunération</a:t>
            </a:r>
            <a:endParaRPr lang="en-US" sz="2000" dirty="0"/>
          </a:p>
        </p:txBody>
      </p:sp>
      <p:sp>
        <p:nvSpPr>
          <p:cNvPr id="7" name="Text 5"/>
          <p:cNvSpPr txBox="1"/>
          <p:nvPr/>
        </p:nvSpPr>
        <p:spPr>
          <a:xfrm>
            <a:off x="1600200" y="2313432"/>
            <a:ext cx="9631375" cy="320040"/>
          </a:xfrm>
          <a:prstGeom prst="rect">
            <a:avLst/>
          </a:prstGeom>
          <a:noFill/>
          <a:ln/>
        </p:spPr>
        <p:txBody>
          <a:bodyPr wrap="square" lIns="0" tIns="0" rIns="0" bIns="0" rtlCol="0" anchor="ctr"/>
          <a:lstStyle/>
          <a:p>
            <a:pPr indent="0" marL="0">
              <a:buNone/>
            </a:pPr>
            <a:r>
              <a:rPr lang="en-US" sz="1300" dirty="0">
                <a:solidFill>
                  <a:srgbClr val="D6DEE7"/>
                </a:solidFill>
                <a:latin typeface="Calibri" pitchFamily="34" charset="0"/>
                <a:ea typeface="Calibri" pitchFamily="34" charset="-122"/>
                <a:cs typeface="Calibri" pitchFamily="34" charset="-120"/>
              </a:rPr>
              <a:t>Le montant que nous affichons dans l'annonce. C'est la seule décision qui retient la diffusion</a:t>
            </a:r>
            <a:endParaRPr lang="en-US" sz="1300" dirty="0"/>
          </a:p>
        </p:txBody>
      </p:sp>
      <p:sp>
        <p:nvSpPr>
          <p:cNvPr id="8" name="Shape 6"/>
          <p:cNvSpPr/>
          <p:nvPr/>
        </p:nvSpPr>
        <p:spPr>
          <a:xfrm>
            <a:off x="594360" y="2926080"/>
            <a:ext cx="11002975" cy="1051560"/>
          </a:xfrm>
          <a:prstGeom prst="roundRect">
            <a:avLst>
              <a:gd name="adj" fmla="val 5217"/>
            </a:avLst>
          </a:prstGeom>
          <a:solidFill>
            <a:srgbClr val="1B2E40"/>
          </a:solidFill>
          <a:ln/>
        </p:spPr>
      </p:sp>
      <p:sp>
        <p:nvSpPr>
          <p:cNvPr id="9" name="Shape 7"/>
          <p:cNvSpPr/>
          <p:nvPr/>
        </p:nvSpPr>
        <p:spPr>
          <a:xfrm>
            <a:off x="914400" y="3227832"/>
            <a:ext cx="457200" cy="457200"/>
          </a:xfrm>
          <a:prstGeom prst="ellipse">
            <a:avLst/>
          </a:prstGeom>
          <a:solidFill>
            <a:srgbClr val="B05F3A"/>
          </a:solidFill>
          <a:ln/>
        </p:spPr>
      </p:sp>
      <p:sp>
        <p:nvSpPr>
          <p:cNvPr id="10" name="Text 8"/>
          <p:cNvSpPr txBox="1"/>
          <p:nvPr/>
        </p:nvSpPr>
        <p:spPr>
          <a:xfrm>
            <a:off x="914400" y="3227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600200" y="3127248"/>
            <a:ext cx="9631375"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 liste des confrères</a:t>
            </a:r>
            <a:endParaRPr lang="en-US" sz="2000" dirty="0"/>
          </a:p>
        </p:txBody>
      </p:sp>
      <p:sp>
        <p:nvSpPr>
          <p:cNvPr id="12" name="Text 10"/>
          <p:cNvSpPr txBox="1"/>
          <p:nvPr/>
        </p:nvSpPr>
        <p:spPr>
          <a:xfrm>
            <a:off x="1600200" y="3502152"/>
            <a:ext cx="9631375" cy="320040"/>
          </a:xfrm>
          <a:prstGeom prst="rect">
            <a:avLst/>
          </a:prstGeom>
          <a:noFill/>
          <a:ln/>
        </p:spPr>
        <p:txBody>
          <a:bodyPr wrap="square" lIns="0" tIns="0" rIns="0" bIns="0" rtlCol="0" anchor="ctr"/>
          <a:lstStyle/>
          <a:p>
            <a:pPr indent="0" marL="0">
              <a:buNone/>
            </a:pPr>
            <a:r>
              <a:rPr lang="en-US" sz="1300" dirty="0">
                <a:solidFill>
                  <a:srgbClr val="D6DEE7"/>
                </a:solidFill>
                <a:latin typeface="Calibri" pitchFamily="34" charset="0"/>
                <a:ea typeface="Calibri" pitchFamily="34" charset="-122"/>
                <a:cs typeface="Calibri" pitchFamily="34" charset="-120"/>
              </a:rPr>
              <a:t>Hervé dresse la liste des avocats qu'il a affrontés et qu'il juge bons. Une heure</a:t>
            </a:r>
            <a:endParaRPr lang="en-US" sz="1300" dirty="0"/>
          </a:p>
        </p:txBody>
      </p:sp>
      <p:sp>
        <p:nvSpPr>
          <p:cNvPr id="13" name="Shape 11"/>
          <p:cNvSpPr/>
          <p:nvPr/>
        </p:nvSpPr>
        <p:spPr>
          <a:xfrm>
            <a:off x="594360" y="4114800"/>
            <a:ext cx="11002975" cy="1051560"/>
          </a:xfrm>
          <a:prstGeom prst="roundRect">
            <a:avLst>
              <a:gd name="adj" fmla="val 5217"/>
            </a:avLst>
          </a:prstGeom>
          <a:solidFill>
            <a:srgbClr val="1B2E40"/>
          </a:solidFill>
          <a:ln/>
        </p:spPr>
      </p:sp>
      <p:sp>
        <p:nvSpPr>
          <p:cNvPr id="14" name="Shape 12"/>
          <p:cNvSpPr/>
          <p:nvPr/>
        </p:nvSpPr>
        <p:spPr>
          <a:xfrm>
            <a:off x="914400" y="4416552"/>
            <a:ext cx="457200" cy="457200"/>
          </a:xfrm>
          <a:prstGeom prst="ellipse">
            <a:avLst/>
          </a:prstGeom>
          <a:solidFill>
            <a:srgbClr val="B05F3A"/>
          </a:solidFill>
          <a:ln/>
        </p:spPr>
      </p:sp>
      <p:sp>
        <p:nvSpPr>
          <p:cNvPr id="15" name="Text 13"/>
          <p:cNvSpPr txBox="1"/>
          <p:nvPr/>
        </p:nvSpPr>
        <p:spPr>
          <a:xfrm>
            <a:off x="914400" y="44165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600200" y="4315968"/>
            <a:ext cx="9631375"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 date de la séance de calibration</a:t>
            </a:r>
            <a:endParaRPr lang="en-US" sz="2000" dirty="0"/>
          </a:p>
        </p:txBody>
      </p:sp>
      <p:sp>
        <p:nvSpPr>
          <p:cNvPr id="17" name="Text 15"/>
          <p:cNvSpPr txBox="1"/>
          <p:nvPr/>
        </p:nvSpPr>
        <p:spPr>
          <a:xfrm>
            <a:off x="1600200" y="4690872"/>
            <a:ext cx="9631375" cy="320040"/>
          </a:xfrm>
          <a:prstGeom prst="rect">
            <a:avLst/>
          </a:prstGeom>
          <a:noFill/>
          <a:ln/>
        </p:spPr>
        <p:txBody>
          <a:bodyPr wrap="square" lIns="0" tIns="0" rIns="0" bIns="0" rtlCol="0" anchor="ctr"/>
          <a:lstStyle/>
          <a:p>
            <a:pPr indent="0" marL="0">
              <a:buNone/>
            </a:pPr>
            <a:r>
              <a:rPr lang="en-US" sz="1300" dirty="0">
                <a:solidFill>
                  <a:srgbClr val="D6DEE7"/>
                </a:solidFill>
                <a:latin typeface="Calibri" pitchFamily="34" charset="0"/>
                <a:ea typeface="Calibri" pitchFamily="34" charset="-122"/>
                <a:cs typeface="Calibri" pitchFamily="34" charset="-120"/>
              </a:rPr>
              <a:t>Une heure, tous les trois ensemble, avant le premier entretien d'étape 2</a:t>
            </a:r>
            <a:endParaRPr lang="en-US" sz="1300" dirty="0"/>
          </a:p>
        </p:txBody>
      </p:sp>
      <p:sp>
        <p:nvSpPr>
          <p:cNvPr id="18" name="Text 16"/>
          <p:cNvSpPr txBox="1"/>
          <p:nvPr/>
        </p:nvSpPr>
        <p:spPr>
          <a:xfrm>
            <a:off x="594360" y="5486400"/>
            <a:ext cx="11002975" cy="640080"/>
          </a:xfrm>
          <a:prstGeom prst="rect">
            <a:avLst/>
          </a:prstGeom>
          <a:noFill/>
          <a:ln/>
        </p:spPr>
        <p:txBody>
          <a:bodyPr wrap="square" lIns="0" tIns="0" rIns="0" bIns="0" rtlCol="0" anchor="ctr"/>
          <a:lstStyle/>
          <a:p>
            <a:pPr indent="0" marL="0">
              <a:lnSpc>
                <a:spcPts val="1900"/>
              </a:lnSpc>
              <a:buNone/>
            </a:pPr>
            <a:r>
              <a:rPr lang="en-US" sz="1300" dirty="0">
                <a:solidFill>
                  <a:srgbClr val="9AA7B4"/>
                </a:solidFill>
                <a:latin typeface="Calibri" pitchFamily="34" charset="0"/>
                <a:ea typeface="Calibri" pitchFamily="34" charset="-122"/>
                <a:cs typeface="Calibri" pitchFamily="34" charset="-120"/>
              </a:rPr>
              <a:t>Tout le reste est écrit et prêt. Le dossier complet compte huit documents : plan, annonce, grille de tri des CV, guide d'entretien, plan de diffusion, concept vidéo, sources. Le protocole d'association détaillé sera rédigé plus tard par Hervé et Milène.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Pinede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recrutement - Avocat futur associe</dc:title>
  <dc:subject>PptxGenJS Presentation</dc:subject>
  <dc:creator>Gregory Levy</dc:creator>
  <cp:lastModifiedBy>Gregory Levy</cp:lastModifiedBy>
  <cp:revision>1</cp:revision>
  <dcterms:created xsi:type="dcterms:W3CDTF">2026-09-22T13:37:52Z</dcterms:created>
  <dcterms:modified xsi:type="dcterms:W3CDTF">2026-09-22T13:37:52Z</dcterms:modified>
</cp:coreProperties>
</file>