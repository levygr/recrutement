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séance : que vous compreniez pourquoi ce recrutement est difficile, ce que le dispositif prévoit, et ce que chacun de vous a à faire. Trois décisions sont à prendre aujourd'hui, elles sont en dernière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 nous ne recrutons pas un collaborateur de plus. Tout le dispositif découle de là.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Si le vivier est aussi étroit, publier une annonce et attendre ne produira rien. Deux leviers : élargir le statut proposé, et aller chercher les gens un par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de l'effort, pas du budget. L'approche directe coûte du temps, pas d'argent.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 c'est la demande la plus importante que je vous ferai. Une heure, une liste de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annonce qui promet une association sans en dire les termes attire des candidats qui partiront au troisième entretien, quand ils poseront les vraies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sont pour Hervé. Le protocole est le plus long à écrire, c'est celui à commencer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document est court, deux pages suffisent. Ce qui compte est qu'il existe avant la première annonce.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d'ici, c'est votre partie à tous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candidat consacre environ quatre heures au processus. C'est défendable pour une association, à condition de tenir les délais de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compétence a quatre questions et trois colonnes de comportements observables. Vous ne notez pas à l'intuition, vous cochez ce que vous avez entendu.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ce n'est pas un jugement sur vous. C'est une règle de méthode : on n'évalue pas une compétence qu'on ne possède pas soi-même.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 votre temps hors entretiens : environ cinq heures sur dix semaines.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sur Être orienté client, vous êtes la mieux placée du cabinet. Vous voyez tous les jours comment les clients sont traités.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deux règles coûtent une heure chacun, plus deux heures par finaliste. C'est le prix d'une grille qui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nous décidons aujourd'hui, la prise de poste se situe autour de février ou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tunnel se lit de haut en bas. Si une étape s'écarte de la cible, on corrige à cet endroit précis plutôt que de tout relancer.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ces trois décisions, rien ne part. Avec elles, la diffusion commence la semaine prochaine.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Shape 0"/>
          <p:cNvSpPr/>
          <p:nvPr/>
        </p:nvSpPr>
        <p:spPr>
          <a:xfrm>
            <a:off x="0" y="0"/>
            <a:ext cx="91" cy="91"/>
          </a:xfrm>
          <a:prstGeom prst="rect">
            <a:avLst/>
          </a:prstGeom>
          <a:solidFill>
            <a:srgbClr val="12212E"/>
          </a:solidFill>
          <a:ln/>
        </p:spPr>
      </p:sp>
      <p:sp>
        <p:nvSpPr>
          <p:cNvPr id="3" name="Text 1"/>
          <p:cNvSpPr txBox="1"/>
          <p:nvPr/>
        </p:nvSpPr>
        <p:spPr>
          <a:xfrm>
            <a:off x="594360" y="1417320"/>
            <a:ext cx="11002975" cy="274320"/>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VICTIMES &amp; PRÉJUDICES AVOCATS</a:t>
            </a:r>
            <a:endParaRPr lang="en-US" sz="1200" dirty="0"/>
          </a:p>
        </p:txBody>
      </p:sp>
      <p:sp>
        <p:nvSpPr>
          <p:cNvPr id="4" name="Text 2"/>
          <p:cNvSpPr txBox="1"/>
          <p:nvPr/>
        </p:nvSpPr>
        <p:spPr>
          <a:xfrm>
            <a:off x="594360" y="1828800"/>
            <a:ext cx="10241280" cy="1371600"/>
          </a:xfrm>
          <a:prstGeom prst="rect">
            <a:avLst/>
          </a:prstGeom>
          <a:noFill/>
          <a:ln/>
        </p:spPr>
        <p:txBody>
          <a:bodyPr wrap="square" lIns="0" tIns="0" rIns="0" bIns="0" rtlCol="0" anchor="t"/>
          <a:lstStyle/>
          <a:p>
            <a:pPr indent="0" marL="0">
              <a:buNone/>
            </a:pPr>
            <a:r>
              <a:rPr lang="en-US" sz="5200" b="1" dirty="0">
                <a:solidFill>
                  <a:srgbClr val="FFFFFF"/>
                </a:solidFill>
                <a:latin typeface="Cambria" pitchFamily="34" charset="0"/>
                <a:ea typeface="Cambria" pitchFamily="34" charset="-122"/>
                <a:cs typeface="Cambria" pitchFamily="34" charset="-120"/>
              </a:rPr>
              <a:t>Recruter un futur associé</a:t>
            </a:r>
            <a:endParaRPr lang="en-US" sz="5200" dirty="0"/>
          </a:p>
        </p:txBody>
      </p:sp>
      <p:sp>
        <p:nvSpPr>
          <p:cNvPr id="5" name="Text 3"/>
          <p:cNvSpPr txBox="1"/>
          <p:nvPr/>
        </p:nvSpPr>
        <p:spPr>
          <a:xfrm>
            <a:off x="594360" y="3200400"/>
            <a:ext cx="10241280" cy="411480"/>
          </a:xfrm>
          <a:prstGeom prst="rect">
            <a:avLst/>
          </a:prstGeom>
          <a:noFill/>
          <a:ln/>
        </p:spPr>
        <p:txBody>
          <a:bodyPr wrap="square" lIns="0" tIns="0" rIns="0" bIns="0" rtlCol="0" anchor="ctr"/>
          <a:lstStyle/>
          <a:p>
            <a:pPr indent="0" marL="0">
              <a:buNone/>
            </a:pPr>
            <a:r>
              <a:rPr lang="en-US" sz="1700" dirty="0">
                <a:solidFill>
                  <a:srgbClr val="D6DEE7"/>
                </a:solidFill>
                <a:latin typeface="Calibri" pitchFamily="34" charset="0"/>
                <a:ea typeface="Calibri" pitchFamily="34" charset="-122"/>
                <a:cs typeface="Calibri" pitchFamily="34" charset="-120"/>
              </a:rPr>
              <a:t>Plan de recrutement · Avocat, droit du dommage corporel · Grenoble</a:t>
            </a:r>
            <a:endParaRPr lang="en-US" sz="1700" dirty="0"/>
          </a:p>
        </p:txBody>
      </p:sp>
      <p:sp>
        <p:nvSpPr>
          <p:cNvPr id="6" name="Shape 4"/>
          <p:cNvSpPr/>
          <p:nvPr/>
        </p:nvSpPr>
        <p:spPr>
          <a:xfrm>
            <a:off x="594360" y="3931920"/>
            <a:ext cx="2194560" cy="0"/>
          </a:xfrm>
          <a:prstGeom prst="line">
            <a:avLst/>
          </a:prstGeom>
          <a:noFill/>
          <a:ln w="25400">
            <a:solidFill>
              <a:srgbClr val="E0956B"/>
            </a:solidFill>
            <a:prstDash val="solid"/>
          </a:ln>
        </p:spPr>
      </p:sp>
      <p:sp>
        <p:nvSpPr>
          <p:cNvPr id="7" name="Text 5"/>
          <p:cNvSpPr txBox="1"/>
          <p:nvPr/>
        </p:nvSpPr>
        <p:spPr>
          <a:xfrm>
            <a:off x="594360" y="4206240"/>
            <a:ext cx="5486400" cy="82296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Calibri" pitchFamily="34" charset="0"/>
                <a:ea typeface="Calibri" pitchFamily="34" charset="-122"/>
                <a:cs typeface="Calibri" pitchFamily="34" charset="-120"/>
              </a:rPr>
              <a:t>Pour Hervé Gerbi et Milène Baud</a:t>
            </a:r>
            <a:endParaRPr lang="en-US" sz="1400" dirty="0"/>
          </a:p>
          <a:p>
            <a:pPr indent="0" marL="0">
              <a:lnSpc>
                <a:spcPts val="2200"/>
              </a:lnSpc>
              <a:buNone/>
            </a:pPr>
            <a:r>
              <a:rPr lang="en-US" sz="1400" dirty="0">
                <a:solidFill>
                  <a:srgbClr val="D6DEE7"/>
                </a:solidFill>
                <a:latin typeface="Calibri" pitchFamily="34" charset="0"/>
                <a:ea typeface="Calibri" pitchFamily="34" charset="-122"/>
                <a:cs typeface="Calibri" pitchFamily="34" charset="-120"/>
              </a:rPr>
              <a:t>Présenté par Gregory Levy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POSTE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nous cherchons</a:t>
            </a:r>
            <a:endParaRPr lang="en-US" sz="3300" dirty="0"/>
          </a:p>
        </p:txBody>
      </p:sp>
      <p:sp>
        <p:nvSpPr>
          <p:cNvPr id="4" name="Shape 2"/>
          <p:cNvSpPr/>
          <p:nvPr/>
        </p:nvSpPr>
        <p:spPr>
          <a:xfrm>
            <a:off x="594360" y="1691640"/>
            <a:ext cx="11002975" cy="987552"/>
          </a:xfrm>
          <a:prstGeom prst="roundRect">
            <a:avLst>
              <a:gd name="adj" fmla="val 5556"/>
            </a:avLst>
          </a:prstGeom>
          <a:solidFill>
            <a:srgbClr val="F2F5F8"/>
          </a:solidFill>
          <a:ln/>
        </p:spPr>
      </p:sp>
      <p:sp>
        <p:nvSpPr>
          <p:cNvPr id="5" name="Shape 3"/>
          <p:cNvSpPr/>
          <p:nvPr/>
        </p:nvSpPr>
        <p:spPr>
          <a:xfrm>
            <a:off x="850392" y="1965960"/>
            <a:ext cx="438912" cy="438912"/>
          </a:xfrm>
          <a:prstGeom prst="ellipse">
            <a:avLst/>
          </a:prstGeom>
          <a:solidFill>
            <a:srgbClr val="1F4B7A"/>
          </a:solidFill>
          <a:ln/>
        </p:spPr>
      </p:sp>
      <p:sp>
        <p:nvSpPr>
          <p:cNvPr id="6" name="Text 4"/>
          <p:cNvSpPr txBox="1"/>
          <p:nvPr/>
        </p:nvSpPr>
        <p:spPr>
          <a:xfrm>
            <a:off x="850392" y="19659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463040" y="1847088"/>
            <a:ext cx="3200400" cy="320040"/>
          </a:xfrm>
          <a:prstGeom prst="rect">
            <a:avLst/>
          </a:prstGeom>
          <a:noFill/>
          <a:ln/>
        </p:spPr>
        <p:txBody>
          <a:bodyPr wrap="square" lIns="0" tIns="0" rIns="0" bIns="0" rtlCol="0" anchor="t"/>
          <a:lstStyle/>
          <a:p>
            <a:pPr indent="0" marL="0">
              <a:buNone/>
            </a:pPr>
            <a:r>
              <a:rPr lang="en-US" sz="1500" b="1" dirty="0">
                <a:solidFill>
                  <a:srgbClr val="1F4B7A"/>
                </a:solidFill>
                <a:latin typeface="Calibri" pitchFamily="34" charset="0"/>
                <a:ea typeface="Calibri" pitchFamily="34" charset="-122"/>
                <a:cs typeface="Calibri" pitchFamily="34" charset="-120"/>
              </a:rPr>
              <a:t>Un futur associé</a:t>
            </a:r>
            <a:endParaRPr lang="en-US" sz="1500" dirty="0"/>
          </a:p>
        </p:txBody>
      </p:sp>
      <p:sp>
        <p:nvSpPr>
          <p:cNvPr id="8" name="Text 6"/>
          <p:cNvSpPr txBox="1"/>
          <p:nvPr/>
        </p:nvSpPr>
        <p:spPr>
          <a:xfrm>
            <a:off x="1463040" y="2176272"/>
            <a:ext cx="9814255" cy="411480"/>
          </a:xfrm>
          <a:prstGeom prst="rect">
            <a:avLst/>
          </a:prstGeom>
          <a:noFill/>
          <a:ln/>
        </p:spPr>
        <p:txBody>
          <a:bodyPr wrap="square" lIns="0" tIns="0" rIns="0" bIns="0" rtlCol="0" anchor="t"/>
          <a:lstStyle/>
          <a:p>
            <a:pPr indent="0" marL="0">
              <a:buNone/>
            </a:pPr>
            <a:r>
              <a:rPr lang="en-US" sz="1250" dirty="0">
                <a:solidFill>
                  <a:srgbClr val="5A6673"/>
                </a:solidFill>
                <a:latin typeface="Calibri" pitchFamily="34" charset="0"/>
                <a:ea typeface="Calibri" pitchFamily="34" charset="-122"/>
                <a:cs typeface="Calibri" pitchFamily="34" charset="-120"/>
              </a:rPr>
              <a:t>Pas un collaborateur. L'association est l'objet du recrutement, avec une échéance écrite.</a:t>
            </a:r>
            <a:endParaRPr lang="en-US" sz="1250" dirty="0"/>
          </a:p>
        </p:txBody>
      </p:sp>
      <p:sp>
        <p:nvSpPr>
          <p:cNvPr id="9" name="Shape 7"/>
          <p:cNvSpPr/>
          <p:nvPr/>
        </p:nvSpPr>
        <p:spPr>
          <a:xfrm>
            <a:off x="594360" y="2807208"/>
            <a:ext cx="11002975" cy="987552"/>
          </a:xfrm>
          <a:prstGeom prst="roundRect">
            <a:avLst>
              <a:gd name="adj" fmla="val 5556"/>
            </a:avLst>
          </a:prstGeom>
          <a:solidFill>
            <a:srgbClr val="F2F5F8"/>
          </a:solidFill>
          <a:ln/>
        </p:spPr>
      </p:sp>
      <p:sp>
        <p:nvSpPr>
          <p:cNvPr id="10" name="Shape 8"/>
          <p:cNvSpPr/>
          <p:nvPr/>
        </p:nvSpPr>
        <p:spPr>
          <a:xfrm>
            <a:off x="850392" y="3081528"/>
            <a:ext cx="438912" cy="438912"/>
          </a:xfrm>
          <a:prstGeom prst="ellipse">
            <a:avLst/>
          </a:prstGeom>
          <a:solidFill>
            <a:srgbClr val="1F4B7A"/>
          </a:solidFill>
          <a:ln/>
        </p:spPr>
      </p:sp>
      <p:sp>
        <p:nvSpPr>
          <p:cNvPr id="11" name="Text 9"/>
          <p:cNvSpPr txBox="1"/>
          <p:nvPr/>
        </p:nvSpPr>
        <p:spPr>
          <a:xfrm>
            <a:off x="850392" y="30815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1463040" y="2962656"/>
            <a:ext cx="3200400" cy="320040"/>
          </a:xfrm>
          <a:prstGeom prst="rect">
            <a:avLst/>
          </a:prstGeom>
          <a:noFill/>
          <a:ln/>
        </p:spPr>
        <p:txBody>
          <a:bodyPr wrap="square" lIns="0" tIns="0" rIns="0" bIns="0" rtlCol="0" anchor="t"/>
          <a:lstStyle/>
          <a:p>
            <a:pPr indent="0" marL="0">
              <a:buNone/>
            </a:pPr>
            <a:r>
              <a:rPr lang="en-US" sz="1500" b="1" dirty="0">
                <a:solidFill>
                  <a:srgbClr val="1F4B7A"/>
                </a:solidFill>
                <a:latin typeface="Calibri" pitchFamily="34" charset="0"/>
                <a:ea typeface="Calibri" pitchFamily="34" charset="-122"/>
                <a:cs typeface="Calibri" pitchFamily="34" charset="-120"/>
              </a:rPr>
              <a:t>6 à 12 ans d'exercice</a:t>
            </a:r>
            <a:endParaRPr lang="en-US" sz="1500" dirty="0"/>
          </a:p>
        </p:txBody>
      </p:sp>
      <p:sp>
        <p:nvSpPr>
          <p:cNvPr id="13" name="Text 11"/>
          <p:cNvSpPr txBox="1"/>
          <p:nvPr/>
        </p:nvSpPr>
        <p:spPr>
          <a:xfrm>
            <a:off x="1463040" y="3291840"/>
            <a:ext cx="9814255" cy="411480"/>
          </a:xfrm>
          <a:prstGeom prst="rect">
            <a:avLst/>
          </a:prstGeom>
          <a:noFill/>
          <a:ln/>
        </p:spPr>
        <p:txBody>
          <a:bodyPr wrap="square" lIns="0" tIns="0" rIns="0" bIns="0" rtlCol="0" anchor="t"/>
          <a:lstStyle/>
          <a:p>
            <a:pPr indent="0" marL="0">
              <a:buNone/>
            </a:pPr>
            <a:r>
              <a:rPr lang="en-US" sz="1250" dirty="0">
                <a:solidFill>
                  <a:srgbClr val="5A6673"/>
                </a:solidFill>
                <a:latin typeface="Calibri" pitchFamily="34" charset="0"/>
                <a:ea typeface="Calibri" pitchFamily="34" charset="-122"/>
                <a:cs typeface="Calibri" pitchFamily="34" charset="-120"/>
              </a:rPr>
              <a:t>Assez de pratique pour reprendre un portefeuille, assez d'horizon pour s'associer durablement.</a:t>
            </a:r>
            <a:endParaRPr lang="en-US" sz="1250" dirty="0"/>
          </a:p>
        </p:txBody>
      </p:sp>
      <p:sp>
        <p:nvSpPr>
          <p:cNvPr id="14" name="Shape 12"/>
          <p:cNvSpPr/>
          <p:nvPr/>
        </p:nvSpPr>
        <p:spPr>
          <a:xfrm>
            <a:off x="594360" y="3922776"/>
            <a:ext cx="11002975" cy="987552"/>
          </a:xfrm>
          <a:prstGeom prst="roundRect">
            <a:avLst>
              <a:gd name="adj" fmla="val 5556"/>
            </a:avLst>
          </a:prstGeom>
          <a:solidFill>
            <a:srgbClr val="F2F5F8"/>
          </a:solidFill>
          <a:ln/>
        </p:spPr>
      </p:sp>
      <p:sp>
        <p:nvSpPr>
          <p:cNvPr id="15" name="Shape 13"/>
          <p:cNvSpPr/>
          <p:nvPr/>
        </p:nvSpPr>
        <p:spPr>
          <a:xfrm>
            <a:off x="850392" y="4197096"/>
            <a:ext cx="438912" cy="438912"/>
          </a:xfrm>
          <a:prstGeom prst="ellipse">
            <a:avLst/>
          </a:prstGeom>
          <a:solidFill>
            <a:srgbClr val="1F4B7A"/>
          </a:solidFill>
          <a:ln/>
        </p:spPr>
      </p:sp>
      <p:sp>
        <p:nvSpPr>
          <p:cNvPr id="16" name="Text 14"/>
          <p:cNvSpPr txBox="1"/>
          <p:nvPr/>
        </p:nvSpPr>
        <p:spPr>
          <a:xfrm>
            <a:off x="850392" y="4197096"/>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463040" y="4078224"/>
            <a:ext cx="3200400" cy="320040"/>
          </a:xfrm>
          <a:prstGeom prst="rect">
            <a:avLst/>
          </a:prstGeom>
          <a:noFill/>
          <a:ln/>
        </p:spPr>
        <p:txBody>
          <a:bodyPr wrap="square" lIns="0" tIns="0" rIns="0" bIns="0" rtlCol="0" anchor="t"/>
          <a:lstStyle/>
          <a:p>
            <a:pPr indent="0" marL="0">
              <a:buNone/>
            </a:pPr>
            <a:r>
              <a:rPr lang="en-US" sz="1500" b="1" dirty="0">
                <a:solidFill>
                  <a:srgbClr val="1F4B7A"/>
                </a:solidFill>
                <a:latin typeface="Calibri" pitchFamily="34" charset="0"/>
                <a:ea typeface="Calibri" pitchFamily="34" charset="-122"/>
                <a:cs typeface="Calibri" pitchFamily="34" charset="-120"/>
              </a:rPr>
              <a:t>Dommage corporel, ou matière proche</a:t>
            </a:r>
            <a:endParaRPr lang="en-US" sz="1500" dirty="0"/>
          </a:p>
        </p:txBody>
      </p:sp>
      <p:sp>
        <p:nvSpPr>
          <p:cNvPr id="18" name="Text 16"/>
          <p:cNvSpPr txBox="1"/>
          <p:nvPr/>
        </p:nvSpPr>
        <p:spPr>
          <a:xfrm>
            <a:off x="1463040" y="4407408"/>
            <a:ext cx="9814255" cy="411480"/>
          </a:xfrm>
          <a:prstGeom prst="rect">
            <a:avLst/>
          </a:prstGeom>
          <a:noFill/>
          <a:ln/>
        </p:spPr>
        <p:txBody>
          <a:bodyPr wrap="square" lIns="0" tIns="0" rIns="0" bIns="0" rtlCol="0" anchor="t"/>
          <a:lstStyle/>
          <a:p>
            <a:pPr indent="0" marL="0">
              <a:buNone/>
            </a:pPr>
            <a:r>
              <a:rPr lang="en-US" sz="1250" dirty="0">
                <a:solidFill>
                  <a:srgbClr val="5A6673"/>
                </a:solidFill>
                <a:latin typeface="Calibri" pitchFamily="34" charset="0"/>
                <a:ea typeface="Calibri" pitchFamily="34" charset="-122"/>
                <a:cs typeface="Calibri" pitchFamily="34" charset="-120"/>
              </a:rPr>
              <a:t>Responsabilité civile, assurance, santé, sécurité sociale, droit du travail lésionnel. Nous formons.</a:t>
            </a:r>
            <a:endParaRPr lang="en-US" sz="1250" dirty="0"/>
          </a:p>
        </p:txBody>
      </p:sp>
      <p:sp>
        <p:nvSpPr>
          <p:cNvPr id="19" name="Shape 17"/>
          <p:cNvSpPr/>
          <p:nvPr/>
        </p:nvSpPr>
        <p:spPr>
          <a:xfrm>
            <a:off x="594360" y="5038344"/>
            <a:ext cx="11002975" cy="987552"/>
          </a:xfrm>
          <a:prstGeom prst="roundRect">
            <a:avLst>
              <a:gd name="adj" fmla="val 5556"/>
            </a:avLst>
          </a:prstGeom>
          <a:solidFill>
            <a:srgbClr val="F2F5F8"/>
          </a:solidFill>
          <a:ln/>
        </p:spPr>
      </p:sp>
      <p:sp>
        <p:nvSpPr>
          <p:cNvPr id="20" name="Shape 18"/>
          <p:cNvSpPr/>
          <p:nvPr/>
        </p:nvSpPr>
        <p:spPr>
          <a:xfrm>
            <a:off x="850392" y="5312664"/>
            <a:ext cx="438912" cy="438912"/>
          </a:xfrm>
          <a:prstGeom prst="ellipse">
            <a:avLst/>
          </a:prstGeom>
          <a:solidFill>
            <a:srgbClr val="1F4B7A"/>
          </a:solidFill>
          <a:ln/>
        </p:spPr>
      </p:sp>
      <p:sp>
        <p:nvSpPr>
          <p:cNvPr id="21" name="Text 19"/>
          <p:cNvSpPr txBox="1"/>
          <p:nvPr/>
        </p:nvSpPr>
        <p:spPr>
          <a:xfrm>
            <a:off x="850392" y="5312664"/>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463040" y="5193792"/>
            <a:ext cx="3200400" cy="320040"/>
          </a:xfrm>
          <a:prstGeom prst="rect">
            <a:avLst/>
          </a:prstGeom>
          <a:noFill/>
          <a:ln/>
        </p:spPr>
        <p:txBody>
          <a:bodyPr wrap="square" lIns="0" tIns="0" rIns="0" bIns="0" rtlCol="0" anchor="t"/>
          <a:lstStyle/>
          <a:p>
            <a:pPr indent="0" marL="0">
              <a:buNone/>
            </a:pPr>
            <a:r>
              <a:rPr lang="en-US" sz="1500" b="1" dirty="0">
                <a:solidFill>
                  <a:srgbClr val="1F4B7A"/>
                </a:solidFill>
                <a:latin typeface="Calibri" pitchFamily="34" charset="0"/>
                <a:ea typeface="Calibri" pitchFamily="34" charset="-122"/>
                <a:cs typeface="Calibri" pitchFamily="34" charset="-120"/>
              </a:rPr>
              <a:t>Capable d'apporter</a:t>
            </a:r>
            <a:endParaRPr lang="en-US" sz="1500" dirty="0"/>
          </a:p>
        </p:txBody>
      </p:sp>
      <p:sp>
        <p:nvSpPr>
          <p:cNvPr id="23" name="Text 21"/>
          <p:cNvSpPr txBox="1"/>
          <p:nvPr/>
        </p:nvSpPr>
        <p:spPr>
          <a:xfrm>
            <a:off x="1463040" y="5522976"/>
            <a:ext cx="9814255" cy="411480"/>
          </a:xfrm>
          <a:prstGeom prst="rect">
            <a:avLst/>
          </a:prstGeom>
          <a:noFill/>
          <a:ln/>
        </p:spPr>
        <p:txBody>
          <a:bodyPr wrap="square" lIns="0" tIns="0" rIns="0" bIns="0" rtlCol="0" anchor="t"/>
          <a:lstStyle/>
          <a:p>
            <a:pPr indent="0" marL="0">
              <a:buNone/>
            </a:pPr>
            <a:r>
              <a:rPr lang="en-US" sz="1250" dirty="0">
                <a:solidFill>
                  <a:srgbClr val="5A6673"/>
                </a:solidFill>
                <a:latin typeface="Calibri" pitchFamily="34" charset="0"/>
                <a:ea typeface="Calibri" pitchFamily="34" charset="-122"/>
                <a:cs typeface="Calibri" pitchFamily="34" charset="-120"/>
              </a:rPr>
              <a:t>La technique ne suffit pas. Un associé apporte des dossiers ou n'en est pas un.</a:t>
            </a:r>
            <a:endParaRPr lang="en-US" sz="1250" dirty="0"/>
          </a:p>
        </p:txBody>
      </p:sp>
      <p:sp>
        <p:nvSpPr>
          <p:cNvPr id="24" name="Text 22"/>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02, offre d'emploi.</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MARCHÉ, EN QUATRE CHIFFRES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ce recrutement est difficile</a:t>
            </a:r>
            <a:endParaRPr lang="en-US" sz="3300" dirty="0"/>
          </a:p>
        </p:txBody>
      </p:sp>
      <p:sp>
        <p:nvSpPr>
          <p:cNvPr id="4" name="Shape 2"/>
          <p:cNvSpPr/>
          <p:nvPr/>
        </p:nvSpPr>
        <p:spPr>
          <a:xfrm>
            <a:off x="594360" y="1737360"/>
            <a:ext cx="2545004" cy="2331720"/>
          </a:xfrm>
          <a:prstGeom prst="roundRect">
            <a:avLst>
              <a:gd name="adj" fmla="val 2353"/>
            </a:avLst>
          </a:prstGeom>
          <a:solidFill>
            <a:srgbClr val="F2F5F8"/>
          </a:solidFill>
          <a:ln/>
        </p:spPr>
      </p:sp>
      <p:sp>
        <p:nvSpPr>
          <p:cNvPr id="5" name="Text 3"/>
          <p:cNvSpPr txBox="1"/>
          <p:nvPr/>
        </p:nvSpPr>
        <p:spPr>
          <a:xfrm>
            <a:off x="822960"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77 600</a:t>
            </a:r>
            <a:endParaRPr lang="en-US" sz="4400" dirty="0"/>
          </a:p>
        </p:txBody>
      </p:sp>
      <p:sp>
        <p:nvSpPr>
          <p:cNvPr id="6" name="Text 4"/>
          <p:cNvSpPr txBox="1"/>
          <p:nvPr/>
        </p:nvSpPr>
        <p:spPr>
          <a:xfrm>
            <a:off x="822960"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en France</a:t>
            </a:r>
            <a:endParaRPr lang="en-US" sz="1300" dirty="0"/>
          </a:p>
        </p:txBody>
      </p:sp>
      <p:sp>
        <p:nvSpPr>
          <p:cNvPr id="7" name="Text 5"/>
          <p:cNvSpPr txBox="1"/>
          <p:nvPr/>
        </p:nvSpPr>
        <p:spPr>
          <a:xfrm>
            <a:off x="822960"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Chiffres du ministère de la Justice</a:t>
            </a:r>
            <a:endParaRPr lang="en-US" sz="1050" dirty="0"/>
          </a:p>
        </p:txBody>
      </p:sp>
      <p:sp>
        <p:nvSpPr>
          <p:cNvPr id="8" name="Shape 6"/>
          <p:cNvSpPr/>
          <p:nvPr/>
        </p:nvSpPr>
        <p:spPr>
          <a:xfrm>
            <a:off x="3413684" y="1737360"/>
            <a:ext cx="2545004" cy="2331720"/>
          </a:xfrm>
          <a:prstGeom prst="roundRect">
            <a:avLst>
              <a:gd name="adj" fmla="val 2353"/>
            </a:avLst>
          </a:prstGeom>
          <a:solidFill>
            <a:srgbClr val="FBF1EC"/>
          </a:solidFill>
          <a:ln/>
        </p:spPr>
      </p:sp>
      <p:sp>
        <p:nvSpPr>
          <p:cNvPr id="9" name="Text 7"/>
          <p:cNvSpPr txBox="1"/>
          <p:nvPr/>
        </p:nvSpPr>
        <p:spPr>
          <a:xfrm>
            <a:off x="3642284"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2,5 %</a:t>
            </a:r>
            <a:endParaRPr lang="en-US" sz="4400" dirty="0"/>
          </a:p>
        </p:txBody>
      </p:sp>
      <p:sp>
        <p:nvSpPr>
          <p:cNvPr id="10" name="Text 8"/>
          <p:cNvSpPr txBox="1"/>
          <p:nvPr/>
        </p:nvSpPr>
        <p:spPr>
          <a:xfrm>
            <a:off x="3642284"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exercent sous statut salarié</a:t>
            </a:r>
            <a:endParaRPr lang="en-US" sz="1300" dirty="0"/>
          </a:p>
        </p:txBody>
      </p:sp>
      <p:sp>
        <p:nvSpPr>
          <p:cNvPr id="11" name="Text 9"/>
          <p:cNvSpPr txBox="1"/>
          <p:nvPr/>
        </p:nvSpPr>
        <p:spPr>
          <a:xfrm>
            <a:off x="3642284"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Le statut que nous proposons aujourd'hui</a:t>
            </a:r>
            <a:endParaRPr lang="en-US" sz="1050" dirty="0"/>
          </a:p>
        </p:txBody>
      </p:sp>
      <p:sp>
        <p:nvSpPr>
          <p:cNvPr id="12" name="Shape 10"/>
          <p:cNvSpPr/>
          <p:nvPr/>
        </p:nvSpPr>
        <p:spPr>
          <a:xfrm>
            <a:off x="6233008" y="1737360"/>
            <a:ext cx="2545004" cy="2331720"/>
          </a:xfrm>
          <a:prstGeom prst="roundRect">
            <a:avLst>
              <a:gd name="adj" fmla="val 2353"/>
            </a:avLst>
          </a:prstGeom>
          <a:solidFill>
            <a:srgbClr val="FBF1EC"/>
          </a:solidFill>
          <a:ln/>
        </p:spPr>
      </p:sp>
      <p:sp>
        <p:nvSpPr>
          <p:cNvPr id="13" name="Text 11"/>
          <p:cNvSpPr txBox="1"/>
          <p:nvPr/>
        </p:nvSpPr>
        <p:spPr>
          <a:xfrm>
            <a:off x="6461608"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79</a:t>
            </a:r>
            <a:endParaRPr lang="en-US" sz="4400" dirty="0"/>
          </a:p>
        </p:txBody>
      </p:sp>
      <p:sp>
        <p:nvSpPr>
          <p:cNvPr id="14" name="Text 12"/>
          <p:cNvSpPr txBox="1"/>
          <p:nvPr/>
        </p:nvSpPr>
        <p:spPr>
          <a:xfrm>
            <a:off x="6461608"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spécialistes du dommage corporel au barreau de Paris</a:t>
            </a:r>
            <a:endParaRPr lang="en-US" sz="1300" dirty="0"/>
          </a:p>
        </p:txBody>
      </p:sp>
      <p:sp>
        <p:nvSpPr>
          <p:cNvPr id="15" name="Text 13"/>
          <p:cNvSpPr txBox="1"/>
          <p:nvPr/>
        </p:nvSpPr>
        <p:spPr>
          <a:xfrm>
            <a:off x="6461608"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Sur plus de 33 000 avocats inscrits</a:t>
            </a:r>
            <a:endParaRPr lang="en-US" sz="1050" dirty="0"/>
          </a:p>
        </p:txBody>
      </p:sp>
      <p:sp>
        <p:nvSpPr>
          <p:cNvPr id="16" name="Shape 14"/>
          <p:cNvSpPr/>
          <p:nvPr/>
        </p:nvSpPr>
        <p:spPr>
          <a:xfrm>
            <a:off x="9052331" y="1737360"/>
            <a:ext cx="2545004" cy="2331720"/>
          </a:xfrm>
          <a:prstGeom prst="roundRect">
            <a:avLst>
              <a:gd name="adj" fmla="val 2353"/>
            </a:avLst>
          </a:prstGeom>
          <a:solidFill>
            <a:srgbClr val="F2F5F8"/>
          </a:solidFill>
          <a:ln/>
        </p:spPr>
      </p:sp>
      <p:sp>
        <p:nvSpPr>
          <p:cNvPr id="17" name="Text 15"/>
          <p:cNvSpPr txBox="1"/>
          <p:nvPr/>
        </p:nvSpPr>
        <p:spPr>
          <a:xfrm>
            <a:off x="9280931"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~600</a:t>
            </a:r>
            <a:endParaRPr lang="en-US" sz="4400" dirty="0"/>
          </a:p>
        </p:txBody>
      </p:sp>
      <p:sp>
        <p:nvSpPr>
          <p:cNvPr id="18" name="Text 16"/>
          <p:cNvSpPr txBox="1"/>
          <p:nvPr/>
        </p:nvSpPr>
        <p:spPr>
          <a:xfrm>
            <a:off x="9280931"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au barreau de Grenoble</a:t>
            </a:r>
            <a:endParaRPr lang="en-US" sz="1300" dirty="0"/>
          </a:p>
        </p:txBody>
      </p:sp>
      <p:sp>
        <p:nvSpPr>
          <p:cNvPr id="19" name="Text 17"/>
          <p:cNvSpPr txBox="1"/>
          <p:nvPr/>
        </p:nvSpPr>
        <p:spPr>
          <a:xfrm>
            <a:off x="9280931"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Toutes matières confondues</a:t>
            </a:r>
            <a:endParaRPr lang="en-US" sz="1050" dirty="0"/>
          </a:p>
        </p:txBody>
      </p:sp>
      <p:sp>
        <p:nvSpPr>
          <p:cNvPr id="20" name="Shape 18"/>
          <p:cNvSpPr/>
          <p:nvPr/>
        </p:nvSpPr>
        <p:spPr>
          <a:xfrm>
            <a:off x="594360" y="4343400"/>
            <a:ext cx="11002975" cy="1417320"/>
          </a:xfrm>
          <a:prstGeom prst="roundRect">
            <a:avLst>
              <a:gd name="adj" fmla="val 3871"/>
            </a:avLst>
          </a:prstGeom>
          <a:solidFill>
            <a:srgbClr val="12212E"/>
          </a:solidFill>
          <a:ln/>
        </p:spPr>
      </p:sp>
      <p:sp>
        <p:nvSpPr>
          <p:cNvPr id="21" name="Text 19"/>
          <p:cNvSpPr txBox="1"/>
          <p:nvPr/>
        </p:nvSpPr>
        <p:spPr>
          <a:xfrm>
            <a:off x="960120" y="4553712"/>
            <a:ext cx="10271455" cy="347472"/>
          </a:xfrm>
          <a:prstGeom prst="rect">
            <a:avLst/>
          </a:prstGeom>
          <a:noFill/>
          <a:ln/>
        </p:spPr>
        <p:txBody>
          <a:bodyPr wrap="square" lIns="0" tIns="0" rIns="0" bIns="0" rtlCol="0" anchor="ctr"/>
          <a:lstStyle/>
          <a:p>
            <a:pPr indent="0" marL="0">
              <a:buNone/>
            </a:pPr>
            <a:r>
              <a:rPr lang="en-US" sz="1500" b="1" dirty="0">
                <a:solidFill>
                  <a:srgbClr val="E0956B"/>
                </a:solidFill>
                <a:latin typeface="Calibri" pitchFamily="34" charset="0"/>
                <a:ea typeface="Calibri" pitchFamily="34" charset="-122"/>
                <a:cs typeface="Calibri" pitchFamily="34" charset="-120"/>
              </a:rPr>
              <a:t>Croisez les deux chiffres en orange.</a:t>
            </a:r>
            <a:endParaRPr lang="en-US" sz="1500" dirty="0"/>
          </a:p>
        </p:txBody>
      </p:sp>
      <p:sp>
        <p:nvSpPr>
          <p:cNvPr id="22" name="Text 20"/>
          <p:cNvSpPr txBox="1"/>
          <p:nvPr/>
        </p:nvSpPr>
        <p:spPr>
          <a:xfrm>
            <a:off x="960120" y="4937760"/>
            <a:ext cx="10271455" cy="685800"/>
          </a:xfrm>
          <a:prstGeom prst="rect">
            <a:avLst/>
          </a:prstGeom>
          <a:noFill/>
          <a:ln/>
        </p:spPr>
        <p:txBody>
          <a:bodyPr wrap="square" lIns="0" tIns="0" rIns="0" bIns="0" rtlCol="0" anchor="ctr"/>
          <a:lstStyle/>
          <a:p>
            <a:pPr indent="0" marL="0">
              <a:lnSpc>
                <a:spcPts val="2000"/>
              </a:lnSpc>
              <a:buNone/>
            </a:pPr>
            <a:r>
              <a:rPr lang="en-US" sz="1400" dirty="0">
                <a:solidFill>
                  <a:srgbClr val="D6DEE7"/>
                </a:solidFill>
                <a:latin typeface="Calibri" pitchFamily="34" charset="0"/>
                <a:ea typeface="Calibri" pitchFamily="34" charset="-122"/>
                <a:cs typeface="Calibri" pitchFamily="34" charset="-120"/>
              </a:rPr>
              <a:t>Le nombre de spécialistes du dommage corporel, disponibles, prêts au salariat et intéressés par Grenoble tient sur une main. Ce vivier ne lit pas les annonces, parce qu'il n'est pas en recherche.</a:t>
            </a:r>
            <a:endParaRPr lang="en-US" sz="14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Sources détaillées : fichier SOURCES.md du dossier de recrutement.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LA STRATÉGIE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ces chiffres imposent</a:t>
            </a:r>
            <a:endParaRPr lang="en-US" sz="3300" dirty="0"/>
          </a:p>
        </p:txBody>
      </p:sp>
      <p:sp>
        <p:nvSpPr>
          <p:cNvPr id="4" name="Text 2"/>
          <p:cNvSpPr txBox="1"/>
          <p:nvPr/>
        </p:nvSpPr>
        <p:spPr>
          <a:xfrm>
            <a:off x="594360" y="1645920"/>
            <a:ext cx="11002975" cy="640080"/>
          </a:xfrm>
          <a:prstGeom prst="rect">
            <a:avLst/>
          </a:prstGeom>
          <a:noFill/>
          <a:ln/>
        </p:spPr>
        <p:txBody>
          <a:bodyPr wrap="square" lIns="0" tIns="0" rIns="0" bIns="0" rtlCol="0" anchor="t"/>
          <a:lstStyle/>
          <a:p>
            <a:pPr indent="0" marL="0">
              <a:lnSpc>
                <a:spcPts val="2200"/>
              </a:lnSpc>
              <a:buNone/>
            </a:pPr>
            <a:r>
              <a:rPr lang="en-US" sz="1500" dirty="0">
                <a:solidFill>
                  <a:srgbClr val="5A6673"/>
                </a:solidFill>
                <a:latin typeface="Calibri" pitchFamily="34" charset="0"/>
                <a:ea typeface="Calibri" pitchFamily="34" charset="-122"/>
                <a:cs typeface="Calibri" pitchFamily="34" charset="-120"/>
              </a:rPr>
              <a:t>L'annonce sert à ne pas passer à côté d'un candidat déjà en mouvement, et à donner un point d'atterrissage à notre approche directe. Elle ne produira pas notre futur associé.</a:t>
            </a:r>
            <a:endParaRPr lang="en-US" sz="1500" dirty="0"/>
          </a:p>
        </p:txBody>
      </p:sp>
      <p:sp>
        <p:nvSpPr>
          <p:cNvPr id="5" name="Shape 3"/>
          <p:cNvSpPr/>
          <p:nvPr/>
        </p:nvSpPr>
        <p:spPr>
          <a:xfrm>
            <a:off x="594360" y="2514600"/>
            <a:ext cx="7647219" cy="914400"/>
          </a:xfrm>
          <a:prstGeom prst="rect">
            <a:avLst/>
          </a:prstGeom>
          <a:solidFill>
            <a:srgbClr val="123E6B"/>
          </a:solidFill>
          <a:ln/>
        </p:spPr>
      </p:sp>
      <p:sp>
        <p:nvSpPr>
          <p:cNvPr id="6" name="Text 4"/>
          <p:cNvSpPr txBox="1"/>
          <p:nvPr/>
        </p:nvSpPr>
        <p:spPr>
          <a:xfrm>
            <a:off x="740664" y="2651760"/>
            <a:ext cx="7446051"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70 %</a:t>
            </a:r>
            <a:endParaRPr lang="en-US" sz="3000" dirty="0"/>
          </a:p>
        </p:txBody>
      </p:sp>
      <p:sp>
        <p:nvSpPr>
          <p:cNvPr id="7" name="Text 5"/>
          <p:cNvSpPr txBox="1"/>
          <p:nvPr/>
        </p:nvSpPr>
        <p:spPr>
          <a:xfrm>
            <a:off x="594360" y="3529584"/>
            <a:ext cx="7610643"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Approche directe</a:t>
            </a:r>
            <a:endParaRPr lang="en-US" sz="1400" dirty="0"/>
          </a:p>
        </p:txBody>
      </p:sp>
      <p:sp>
        <p:nvSpPr>
          <p:cNvPr id="8" name="Text 6"/>
          <p:cNvSpPr txBox="1"/>
          <p:nvPr/>
        </p:nvSpPr>
        <p:spPr>
          <a:xfrm>
            <a:off x="594360" y="4041648"/>
            <a:ext cx="7519203"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Nous écrivons nous-mêmes, nominativement, à des avocats identifiés</a:t>
            </a:r>
            <a:endParaRPr lang="en-US" sz="1150" dirty="0"/>
          </a:p>
        </p:txBody>
      </p:sp>
      <p:sp>
        <p:nvSpPr>
          <p:cNvPr id="9" name="Shape 7"/>
          <p:cNvSpPr/>
          <p:nvPr/>
        </p:nvSpPr>
        <p:spPr>
          <a:xfrm>
            <a:off x="8296443" y="2514600"/>
            <a:ext cx="2145731" cy="914400"/>
          </a:xfrm>
          <a:prstGeom prst="rect">
            <a:avLst/>
          </a:prstGeom>
          <a:solidFill>
            <a:srgbClr val="2E6DA8"/>
          </a:solidFill>
          <a:ln/>
        </p:spPr>
      </p:sp>
      <p:sp>
        <p:nvSpPr>
          <p:cNvPr id="10" name="Text 8"/>
          <p:cNvSpPr txBox="1"/>
          <p:nvPr/>
        </p:nvSpPr>
        <p:spPr>
          <a:xfrm>
            <a:off x="8442747" y="2651760"/>
            <a:ext cx="1944563"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20 %</a:t>
            </a:r>
            <a:endParaRPr lang="en-US" sz="3000" dirty="0"/>
          </a:p>
        </p:txBody>
      </p:sp>
      <p:sp>
        <p:nvSpPr>
          <p:cNvPr id="11" name="Text 9"/>
          <p:cNvSpPr txBox="1"/>
          <p:nvPr/>
        </p:nvSpPr>
        <p:spPr>
          <a:xfrm>
            <a:off x="8296443" y="3529584"/>
            <a:ext cx="2109155"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Réseau et prescription</a:t>
            </a:r>
            <a:endParaRPr lang="en-US" sz="1400" dirty="0"/>
          </a:p>
        </p:txBody>
      </p:sp>
      <p:sp>
        <p:nvSpPr>
          <p:cNvPr id="12" name="Text 10"/>
          <p:cNvSpPr txBox="1"/>
          <p:nvPr/>
        </p:nvSpPr>
        <p:spPr>
          <a:xfrm>
            <a:off x="8296443" y="4041648"/>
            <a:ext cx="2017715"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Barreaux, confrères, médecins de recours, associations</a:t>
            </a:r>
            <a:endParaRPr lang="en-US" sz="1150" dirty="0"/>
          </a:p>
        </p:txBody>
      </p:sp>
      <p:sp>
        <p:nvSpPr>
          <p:cNvPr id="13" name="Shape 11"/>
          <p:cNvSpPr/>
          <p:nvPr/>
        </p:nvSpPr>
        <p:spPr>
          <a:xfrm>
            <a:off x="10497038" y="2514600"/>
            <a:ext cx="1045434" cy="914400"/>
          </a:xfrm>
          <a:prstGeom prst="rect">
            <a:avLst/>
          </a:prstGeom>
          <a:solidFill>
            <a:srgbClr val="7FA9D0"/>
          </a:solidFill>
          <a:ln/>
        </p:spPr>
      </p:sp>
      <p:sp>
        <p:nvSpPr>
          <p:cNvPr id="14" name="Text 12"/>
          <p:cNvSpPr txBox="1"/>
          <p:nvPr/>
        </p:nvSpPr>
        <p:spPr>
          <a:xfrm>
            <a:off x="10643342" y="2651760"/>
            <a:ext cx="844266"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10 %</a:t>
            </a:r>
            <a:endParaRPr lang="en-US" sz="2200" dirty="0"/>
          </a:p>
        </p:txBody>
      </p:sp>
      <p:sp>
        <p:nvSpPr>
          <p:cNvPr id="15" name="Text 13"/>
          <p:cNvSpPr txBox="1"/>
          <p:nvPr/>
        </p:nvSpPr>
        <p:spPr>
          <a:xfrm>
            <a:off x="10497038" y="3529584"/>
            <a:ext cx="1008858"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Diffusion d'annonce</a:t>
            </a:r>
            <a:endParaRPr lang="en-US" sz="1400" dirty="0"/>
          </a:p>
        </p:txBody>
      </p:sp>
      <p:sp>
        <p:nvSpPr>
          <p:cNvPr id="16" name="Text 14"/>
          <p:cNvSpPr txBox="1"/>
          <p:nvPr/>
        </p:nvSpPr>
        <p:spPr>
          <a:xfrm>
            <a:off x="10497038" y="4041648"/>
            <a:ext cx="91741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Job boards spécialisés et généralistes</a:t>
            </a:r>
            <a:endParaRPr lang="en-US" sz="1150" dirty="0"/>
          </a:p>
        </p:txBody>
      </p:sp>
      <p:sp>
        <p:nvSpPr>
          <p:cNvPr id="17" name="Shape 15"/>
          <p:cNvSpPr/>
          <p:nvPr/>
        </p:nvSpPr>
        <p:spPr>
          <a:xfrm>
            <a:off x="594360" y="4956048"/>
            <a:ext cx="11002975" cy="1097280"/>
          </a:xfrm>
          <a:prstGeom prst="roundRect">
            <a:avLst>
              <a:gd name="adj" fmla="val 5000"/>
            </a:avLst>
          </a:prstGeom>
          <a:solidFill>
            <a:srgbClr val="FBF1EC"/>
          </a:solidFill>
          <a:ln/>
        </p:spPr>
      </p:sp>
      <p:sp>
        <p:nvSpPr>
          <p:cNvPr id="18" name="Text 16"/>
          <p:cNvSpPr txBox="1"/>
          <p:nvPr/>
        </p:nvSpPr>
        <p:spPr>
          <a:xfrm>
            <a:off x="914400" y="5102352"/>
            <a:ext cx="4572000" cy="274320"/>
          </a:xfrm>
          <a:prstGeom prst="rect">
            <a:avLst/>
          </a:prstGeom>
          <a:noFill/>
          <a:ln/>
        </p:spPr>
        <p:txBody>
          <a:bodyPr wrap="square" lIns="0" tIns="0" rIns="0" bIns="0" rtlCol="0" anchor="ctr"/>
          <a:lstStyle/>
          <a:p>
            <a:pPr indent="0" marL="0">
              <a:buNone/>
            </a:pPr>
            <a:r>
              <a:rPr lang="en-US" sz="1300" b="1" dirty="0">
                <a:solidFill>
                  <a:srgbClr val="B05F3A"/>
                </a:solidFill>
                <a:latin typeface="Calibri" pitchFamily="34" charset="0"/>
                <a:ea typeface="Calibri" pitchFamily="34" charset="-122"/>
                <a:cs typeface="Calibri" pitchFamily="34" charset="-120"/>
              </a:rPr>
              <a:t>Conséquence sur le statut</a:t>
            </a:r>
            <a:endParaRPr lang="en-US" sz="1300" dirty="0"/>
          </a:p>
        </p:txBody>
      </p:sp>
      <p:sp>
        <p:nvSpPr>
          <p:cNvPr id="19" name="Text 17"/>
          <p:cNvSpPr txBox="1"/>
          <p:nvPr/>
        </p:nvSpPr>
        <p:spPr>
          <a:xfrm>
            <a:off x="914400" y="5394960"/>
            <a:ext cx="10362895" cy="548640"/>
          </a:xfrm>
          <a:prstGeom prst="rect">
            <a:avLst/>
          </a:prstGeom>
          <a:noFill/>
          <a:ln/>
        </p:spPr>
        <p:txBody>
          <a:bodyPr wrap="square" lIns="0" tIns="0" rIns="0" bIns="0" rtlCol="0" anchor="t"/>
          <a:lstStyle/>
          <a:p>
            <a:pPr indent="0" marL="0">
              <a:lnSpc>
                <a:spcPts val="1800"/>
              </a:lnSpc>
              <a:buNone/>
            </a:pPr>
            <a:r>
              <a:rPr lang="en-US" sz="1300" dirty="0">
                <a:solidFill>
                  <a:srgbClr val="12212E"/>
                </a:solidFill>
                <a:latin typeface="Calibri" pitchFamily="34" charset="0"/>
                <a:ea typeface="Calibri" pitchFamily="34" charset="-122"/>
                <a:cs typeface="Calibri" pitchFamily="34" charset="-120"/>
              </a:rPr>
              <a:t>Le salariat représente 2,5 % de la profession. En le posant comme seul statut possible, nous écartons les habitudes de 97,5 % du marché. Ouvrir la collaboration libérale ne coûte rien et élargit le vivier.</a:t>
            </a:r>
            <a:endParaRPr lang="en-US" sz="130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05, plan de diffusion.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APPROCHE DIRECTE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Notre meilleur fichier est déjà ici</a:t>
            </a:r>
            <a:endParaRPr lang="en-US" sz="3300" dirty="0"/>
          </a:p>
        </p:txBody>
      </p:sp>
      <p:sp>
        <p:nvSpPr>
          <p:cNvPr id="4" name="Shape 2"/>
          <p:cNvSpPr/>
          <p:nvPr/>
        </p:nvSpPr>
        <p:spPr>
          <a:xfrm>
            <a:off x="594360" y="1645920"/>
            <a:ext cx="11002975" cy="1600200"/>
          </a:xfrm>
          <a:prstGeom prst="roundRect">
            <a:avLst>
              <a:gd name="adj" fmla="val 3429"/>
            </a:avLst>
          </a:prstGeom>
          <a:solidFill>
            <a:srgbClr val="12212E"/>
          </a:solidFill>
          <a:ln/>
        </p:spPr>
      </p:sp>
      <p:sp>
        <p:nvSpPr>
          <p:cNvPr id="5" name="Text 3"/>
          <p:cNvSpPr txBox="1"/>
          <p:nvPr/>
        </p:nvSpPr>
        <p:spPr>
          <a:xfrm>
            <a:off x="1005840" y="1810512"/>
            <a:ext cx="10180015" cy="713232"/>
          </a:xfrm>
          <a:prstGeom prst="rect">
            <a:avLst/>
          </a:prstGeom>
          <a:noFill/>
          <a:ln/>
        </p:spPr>
        <p:txBody>
          <a:bodyPr wrap="square" lIns="0" tIns="0" rIns="0" bIns="0" rtlCol="0" anchor="t"/>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Les avocats qu'Hervé Gerbi a affrontés en expertise et à l'audience depuis dix ans.</a:t>
            </a:r>
            <a:endParaRPr lang="en-US" sz="2100" dirty="0"/>
          </a:p>
        </p:txBody>
      </p:sp>
      <p:sp>
        <p:nvSpPr>
          <p:cNvPr id="6" name="Text 4"/>
          <p:cNvSpPr txBox="1"/>
          <p:nvPr/>
        </p:nvSpPr>
        <p:spPr>
          <a:xfrm>
            <a:off x="1005840" y="2505456"/>
            <a:ext cx="10180015" cy="621792"/>
          </a:xfrm>
          <a:prstGeom prst="rect">
            <a:avLst/>
          </a:prstGeom>
          <a:noFill/>
          <a:ln/>
        </p:spPr>
        <p:txBody>
          <a:bodyPr wrap="square" lIns="0" tIns="0" rIns="0" bIns="0" rtlCol="0" anchor="t"/>
          <a:lstStyle/>
          <a:p>
            <a:pPr indent="0" marL="0">
              <a:lnSpc>
                <a:spcPts val="1900"/>
              </a:lnSpc>
              <a:buNone/>
            </a:pPr>
            <a:r>
              <a:rPr lang="en-US" sz="1350" dirty="0">
                <a:solidFill>
                  <a:srgbClr val="D6DEE7"/>
                </a:solidFill>
                <a:latin typeface="Calibri" pitchFamily="34" charset="0"/>
                <a:ea typeface="Calibri" pitchFamily="34" charset="-122"/>
                <a:cs typeface="Calibri" pitchFamily="34" charset="-120"/>
              </a:rPr>
              <a:t>Il sait déjà lesquels sont bons, lesquels tiennent un dossier, lesquels parlent correctement aux victimes d'en face. Une heure de son temps pour dresser cette liste vaut plus que tout le budget de diffusion.</a:t>
            </a:r>
            <a:endParaRPr lang="en-US" sz="1350" dirty="0"/>
          </a:p>
        </p:txBody>
      </p:sp>
      <p:sp>
        <p:nvSpPr>
          <p:cNvPr id="7" name="Text 5"/>
          <p:cNvSpPr txBox="1"/>
          <p:nvPr/>
        </p:nvSpPr>
        <p:spPr>
          <a:xfrm>
            <a:off x="594360" y="3429000"/>
            <a:ext cx="11002975" cy="274320"/>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Les autres sources, toutes publiques et gratuites</a:t>
            </a:r>
            <a:endParaRPr lang="en-US" sz="1300" dirty="0"/>
          </a:p>
        </p:txBody>
      </p:sp>
      <p:sp>
        <p:nvSpPr>
          <p:cNvPr id="8" name="Shape 6"/>
          <p:cNvSpPr/>
          <p:nvPr/>
        </p:nvSpPr>
        <p:spPr>
          <a:xfrm>
            <a:off x="594360" y="3794760"/>
            <a:ext cx="5364328" cy="987552"/>
          </a:xfrm>
          <a:prstGeom prst="roundRect">
            <a:avLst>
              <a:gd name="adj" fmla="val 5556"/>
            </a:avLst>
          </a:prstGeom>
          <a:solidFill>
            <a:srgbClr val="F2F5F8"/>
          </a:solidFill>
          <a:ln/>
        </p:spPr>
      </p:sp>
      <p:sp>
        <p:nvSpPr>
          <p:cNvPr id="9" name="Text 7"/>
          <p:cNvSpPr txBox="1"/>
          <p:nvPr/>
        </p:nvSpPr>
        <p:spPr>
          <a:xfrm>
            <a:off x="822960"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Plateforme de spécialisation du CNB</a:t>
            </a:r>
            <a:endParaRPr lang="en-US" sz="1350" dirty="0"/>
          </a:p>
        </p:txBody>
      </p:sp>
      <p:sp>
        <p:nvSpPr>
          <p:cNvPr id="10" name="Text 8"/>
          <p:cNvSpPr txBox="1"/>
          <p:nvPr/>
        </p:nvSpPr>
        <p:spPr>
          <a:xfrm>
            <a:off x="822960"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L'annuaire officiel des titulaires du certificat en dommage corporel, filtrable par région</a:t>
            </a:r>
            <a:endParaRPr lang="en-US" sz="1150" dirty="0"/>
          </a:p>
        </p:txBody>
      </p:sp>
      <p:sp>
        <p:nvSpPr>
          <p:cNvPr id="11" name="Shape 9"/>
          <p:cNvSpPr/>
          <p:nvPr/>
        </p:nvSpPr>
        <p:spPr>
          <a:xfrm>
            <a:off x="6233008" y="3794760"/>
            <a:ext cx="5364328" cy="987552"/>
          </a:xfrm>
          <a:prstGeom prst="roundRect">
            <a:avLst>
              <a:gd name="adj" fmla="val 5556"/>
            </a:avLst>
          </a:prstGeom>
          <a:solidFill>
            <a:srgbClr val="F2F5F8"/>
          </a:solidFill>
          <a:ln/>
        </p:spPr>
      </p:sp>
      <p:sp>
        <p:nvSpPr>
          <p:cNvPr id="12" name="Text 10"/>
          <p:cNvSpPr txBox="1"/>
          <p:nvPr/>
        </p:nvSpPr>
        <p:spPr>
          <a:xfrm>
            <a:off x="6461608"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ANADAVI</a:t>
            </a:r>
            <a:endParaRPr lang="en-US" sz="1350" dirty="0"/>
          </a:p>
        </p:txBody>
      </p:sp>
      <p:sp>
        <p:nvSpPr>
          <p:cNvPr id="13" name="Text 11"/>
          <p:cNvSpPr txBox="1"/>
          <p:nvPr/>
        </p:nvSpPr>
        <p:spPr>
          <a:xfrm>
            <a:off x="6461608"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L'association ne liste que les titulaires de la spécialité. Le vivier le plus dense du quart sud-est</a:t>
            </a:r>
            <a:endParaRPr lang="en-US" sz="1150" dirty="0"/>
          </a:p>
        </p:txBody>
      </p:sp>
      <p:sp>
        <p:nvSpPr>
          <p:cNvPr id="14" name="Shape 12"/>
          <p:cNvSpPr/>
          <p:nvPr/>
        </p:nvSpPr>
        <p:spPr>
          <a:xfrm>
            <a:off x="594360" y="4892040"/>
            <a:ext cx="5364328" cy="987552"/>
          </a:xfrm>
          <a:prstGeom prst="roundRect">
            <a:avLst>
              <a:gd name="adj" fmla="val 5556"/>
            </a:avLst>
          </a:prstGeom>
          <a:solidFill>
            <a:srgbClr val="F2F5F8"/>
          </a:solidFill>
          <a:ln/>
        </p:spPr>
      </p:sp>
      <p:sp>
        <p:nvSpPr>
          <p:cNvPr id="15" name="Text 13"/>
          <p:cNvSpPr txBox="1"/>
          <p:nvPr/>
        </p:nvSpPr>
        <p:spPr>
          <a:xfrm>
            <a:off x="822960"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Annuaires des barreaux</a:t>
            </a:r>
            <a:endParaRPr lang="en-US" sz="1350" dirty="0"/>
          </a:p>
        </p:txBody>
      </p:sp>
      <p:sp>
        <p:nvSpPr>
          <p:cNvPr id="16" name="Text 14"/>
          <p:cNvSpPr txBox="1"/>
          <p:nvPr/>
        </p:nvSpPr>
        <p:spPr>
          <a:xfrm>
            <a:off x="822960"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Lyon, Chambéry, Annecy, Valence, Saint-Étienne, Clermont-Ferrand</a:t>
            </a:r>
            <a:endParaRPr lang="en-US" sz="1150" dirty="0"/>
          </a:p>
        </p:txBody>
      </p:sp>
      <p:sp>
        <p:nvSpPr>
          <p:cNvPr id="17" name="Shape 15"/>
          <p:cNvSpPr/>
          <p:nvPr/>
        </p:nvSpPr>
        <p:spPr>
          <a:xfrm>
            <a:off x="6233008" y="4892040"/>
            <a:ext cx="5364328" cy="987552"/>
          </a:xfrm>
          <a:prstGeom prst="roundRect">
            <a:avLst>
              <a:gd name="adj" fmla="val 5556"/>
            </a:avLst>
          </a:prstGeom>
          <a:solidFill>
            <a:srgbClr val="F2F5F8"/>
          </a:solidFill>
          <a:ln/>
        </p:spPr>
      </p:sp>
      <p:sp>
        <p:nvSpPr>
          <p:cNvPr id="18" name="Text 16"/>
          <p:cNvSpPr txBox="1"/>
          <p:nvPr/>
        </p:nvSpPr>
        <p:spPr>
          <a:xfrm>
            <a:off x="6461608"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LinkedIn</a:t>
            </a:r>
            <a:endParaRPr lang="en-US" sz="1350" dirty="0"/>
          </a:p>
        </p:txBody>
      </p:sp>
      <p:sp>
        <p:nvSpPr>
          <p:cNvPr id="19" name="Text 17"/>
          <p:cNvSpPr txBox="1"/>
          <p:nvPr/>
        </p:nvSpPr>
        <p:spPr>
          <a:xfrm>
            <a:off x="6461608"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seul canal qui montre l'ancienneté au poste, donc le moment favorable</a:t>
            </a:r>
            <a:endParaRPr lang="en-US" sz="115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Objectif : 60 à 80 noms qualifiés. Deux à trois jours de travail.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01</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qui bloque aujourd'hui</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Rien ne part en diffusion tant que ces points ne sont pas tranchés.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ARBITRAGES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Trois décisions bloquent le lancement</a:t>
            </a:r>
            <a:endParaRPr lang="en-US" sz="3300" dirty="0"/>
          </a:p>
        </p:txBody>
      </p:sp>
      <p:sp>
        <p:nvSpPr>
          <p:cNvPr id="4" name="Shape 2"/>
          <p:cNvSpPr/>
          <p:nvPr/>
        </p:nvSpPr>
        <p:spPr>
          <a:xfrm>
            <a:off x="594360" y="1737360"/>
            <a:ext cx="11002975" cy="1143000"/>
          </a:xfrm>
          <a:prstGeom prst="roundRect">
            <a:avLst>
              <a:gd name="adj" fmla="val 4800"/>
            </a:avLst>
          </a:prstGeom>
          <a:solidFill>
            <a:srgbClr val="FBF1EC"/>
          </a:solidFill>
          <a:ln/>
        </p:spPr>
      </p:sp>
      <p:sp>
        <p:nvSpPr>
          <p:cNvPr id="5" name="Shape 3"/>
          <p:cNvSpPr/>
          <p:nvPr/>
        </p:nvSpPr>
        <p:spPr>
          <a:xfrm>
            <a:off x="868680" y="2066544"/>
            <a:ext cx="502920" cy="502920"/>
          </a:xfrm>
          <a:prstGeom prst="ellipse">
            <a:avLst/>
          </a:prstGeom>
          <a:solidFill>
            <a:srgbClr val="B05F3A"/>
          </a:solidFill>
          <a:ln/>
        </p:spPr>
      </p:sp>
      <p:sp>
        <p:nvSpPr>
          <p:cNvPr id="6" name="Text 4"/>
          <p:cNvSpPr txBox="1"/>
          <p:nvPr/>
        </p:nvSpPr>
        <p:spPr>
          <a:xfrm>
            <a:off x="868680" y="206654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554480" y="192024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Le protocole d'association</a:t>
            </a:r>
            <a:endParaRPr lang="en-US" sz="1900" dirty="0"/>
          </a:p>
        </p:txBody>
      </p:sp>
      <p:sp>
        <p:nvSpPr>
          <p:cNvPr id="8" name="Text 6"/>
          <p:cNvSpPr txBox="1"/>
          <p:nvPr/>
        </p:nvSpPr>
        <p:spPr>
          <a:xfrm>
            <a:off x="1554480" y="228600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Écrit, avant la publication de l'annonce. C'est le cœur de l'offre et c'est aujourd'hui le point le plus flou.</a:t>
            </a:r>
            <a:endParaRPr lang="en-US" sz="1250" dirty="0"/>
          </a:p>
        </p:txBody>
      </p:sp>
      <p:sp>
        <p:nvSpPr>
          <p:cNvPr id="9" name="Text 7"/>
          <p:cNvSpPr txBox="1"/>
          <p:nvPr/>
        </p:nvSpPr>
        <p:spPr>
          <a:xfrm>
            <a:off x="9768535" y="193852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10" name="Shape 8"/>
          <p:cNvSpPr/>
          <p:nvPr/>
        </p:nvSpPr>
        <p:spPr>
          <a:xfrm>
            <a:off x="594360" y="3017520"/>
            <a:ext cx="11002975" cy="1143000"/>
          </a:xfrm>
          <a:prstGeom prst="roundRect">
            <a:avLst>
              <a:gd name="adj" fmla="val 4800"/>
            </a:avLst>
          </a:prstGeom>
          <a:solidFill>
            <a:srgbClr val="FBF1EC"/>
          </a:solidFill>
          <a:ln/>
        </p:spPr>
      </p:sp>
      <p:sp>
        <p:nvSpPr>
          <p:cNvPr id="11" name="Shape 9"/>
          <p:cNvSpPr/>
          <p:nvPr/>
        </p:nvSpPr>
        <p:spPr>
          <a:xfrm>
            <a:off x="868680" y="3346704"/>
            <a:ext cx="502920" cy="502920"/>
          </a:xfrm>
          <a:prstGeom prst="ellipse">
            <a:avLst/>
          </a:prstGeom>
          <a:solidFill>
            <a:srgbClr val="B05F3A"/>
          </a:solidFill>
          <a:ln/>
        </p:spPr>
      </p:sp>
      <p:sp>
        <p:nvSpPr>
          <p:cNvPr id="12" name="Text 10"/>
          <p:cNvSpPr txBox="1"/>
          <p:nvPr/>
        </p:nvSpPr>
        <p:spPr>
          <a:xfrm>
            <a:off x="868680" y="334670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554480" y="320040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Le statut proposé</a:t>
            </a:r>
            <a:endParaRPr lang="en-US" sz="1900" dirty="0"/>
          </a:p>
        </p:txBody>
      </p:sp>
      <p:sp>
        <p:nvSpPr>
          <p:cNvPr id="14" name="Text 12"/>
          <p:cNvSpPr txBox="1"/>
          <p:nvPr/>
        </p:nvSpPr>
        <p:spPr>
          <a:xfrm>
            <a:off x="1554480" y="356616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Salariat seul, ou salariat et collaboration libérale au choix du candidat.</a:t>
            </a:r>
            <a:endParaRPr lang="en-US" sz="1250" dirty="0"/>
          </a:p>
        </p:txBody>
      </p:sp>
      <p:sp>
        <p:nvSpPr>
          <p:cNvPr id="15" name="Text 13"/>
          <p:cNvSpPr txBox="1"/>
          <p:nvPr/>
        </p:nvSpPr>
        <p:spPr>
          <a:xfrm>
            <a:off x="9768535" y="321868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16" name="Shape 14"/>
          <p:cNvSpPr/>
          <p:nvPr/>
        </p:nvSpPr>
        <p:spPr>
          <a:xfrm>
            <a:off x="594360" y="4297680"/>
            <a:ext cx="11002975" cy="1143000"/>
          </a:xfrm>
          <a:prstGeom prst="roundRect">
            <a:avLst>
              <a:gd name="adj" fmla="val 4800"/>
            </a:avLst>
          </a:prstGeom>
          <a:solidFill>
            <a:srgbClr val="FBF1EC"/>
          </a:solidFill>
          <a:ln/>
        </p:spPr>
      </p:sp>
      <p:sp>
        <p:nvSpPr>
          <p:cNvPr id="17" name="Shape 15"/>
          <p:cNvSpPr/>
          <p:nvPr/>
        </p:nvSpPr>
        <p:spPr>
          <a:xfrm>
            <a:off x="868680" y="4626864"/>
            <a:ext cx="502920" cy="502920"/>
          </a:xfrm>
          <a:prstGeom prst="ellipse">
            <a:avLst/>
          </a:prstGeom>
          <a:solidFill>
            <a:srgbClr val="B05F3A"/>
          </a:solidFill>
          <a:ln/>
        </p:spPr>
      </p:sp>
      <p:sp>
        <p:nvSpPr>
          <p:cNvPr id="18" name="Text 16"/>
          <p:cNvSpPr txBox="1"/>
          <p:nvPr/>
        </p:nvSpPr>
        <p:spPr>
          <a:xfrm>
            <a:off x="868680" y="4626864"/>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554480" y="4480560"/>
            <a:ext cx="5943600" cy="329184"/>
          </a:xfrm>
          <a:prstGeom prst="rect">
            <a:avLst/>
          </a:prstGeom>
          <a:noFill/>
          <a:ln/>
        </p:spPr>
        <p:txBody>
          <a:bodyPr wrap="square" lIns="0" tIns="0" rIns="0" bIns="0" rtlCol="0" anchor="ctr"/>
          <a:lstStyle/>
          <a:p>
            <a:pPr indent="0" marL="0">
              <a:buNone/>
            </a:pPr>
            <a:r>
              <a:rPr lang="en-US" sz="1900" b="1" dirty="0">
                <a:solidFill>
                  <a:srgbClr val="12212E"/>
                </a:solidFill>
                <a:latin typeface="Cambria" pitchFamily="34" charset="0"/>
                <a:ea typeface="Cambria" pitchFamily="34" charset="-122"/>
                <a:cs typeface="Cambria" pitchFamily="34" charset="-120"/>
              </a:rPr>
              <a:t>La fourchette de rémunération</a:t>
            </a:r>
            <a:endParaRPr lang="en-US" sz="1900" dirty="0"/>
          </a:p>
        </p:txBody>
      </p:sp>
      <p:sp>
        <p:nvSpPr>
          <p:cNvPr id="20" name="Text 18"/>
          <p:cNvSpPr txBox="1"/>
          <p:nvPr/>
        </p:nvSpPr>
        <p:spPr>
          <a:xfrm>
            <a:off x="1554480" y="4846320"/>
            <a:ext cx="8076895" cy="502920"/>
          </a:xfrm>
          <a:prstGeom prst="rect">
            <a:avLst/>
          </a:prstGeom>
          <a:noFill/>
          <a:ln/>
        </p:spPr>
        <p:txBody>
          <a:bodyPr wrap="square" lIns="0" tIns="0" rIns="0" bIns="0" rtlCol="0" anchor="ctr"/>
          <a:lstStyle/>
          <a:p>
            <a:pPr indent="0" marL="0">
              <a:lnSpc>
                <a:spcPts val="1700"/>
              </a:lnSpc>
              <a:buNone/>
            </a:pPr>
            <a:r>
              <a:rPr lang="en-US" sz="1250" dirty="0">
                <a:solidFill>
                  <a:srgbClr val="5A6673"/>
                </a:solidFill>
                <a:latin typeface="Calibri" pitchFamily="34" charset="0"/>
                <a:ea typeface="Calibri" pitchFamily="34" charset="-122"/>
                <a:cs typeface="Calibri" pitchFamily="34" charset="-120"/>
              </a:rPr>
              <a:t>À afficher dans l'annonce. Sur un marché de candidats passifs, son absence est une friction gratuite.</a:t>
            </a:r>
            <a:endParaRPr lang="en-US" sz="1250" dirty="0"/>
          </a:p>
        </p:txBody>
      </p:sp>
      <p:sp>
        <p:nvSpPr>
          <p:cNvPr id="21" name="Text 19"/>
          <p:cNvSpPr txBox="1"/>
          <p:nvPr/>
        </p:nvSpPr>
        <p:spPr>
          <a:xfrm>
            <a:off x="9768535" y="4498848"/>
            <a:ext cx="160020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Hervé Gerbi</a:t>
            </a:r>
            <a:endParaRPr lang="en-US" sz="1100" dirty="0"/>
          </a:p>
        </p:txBody>
      </p:sp>
      <p:sp>
        <p:nvSpPr>
          <p:cNvPr id="22" name="Text 20"/>
          <p:cNvSpPr txBox="1"/>
          <p:nvPr/>
        </p:nvSpPr>
        <p:spPr>
          <a:xfrm>
            <a:off x="594360" y="5715000"/>
            <a:ext cx="11002975" cy="502920"/>
          </a:xfrm>
          <a:prstGeom prst="rect">
            <a:avLst/>
          </a:prstGeom>
          <a:noFill/>
          <a:ln/>
        </p:spPr>
        <p:txBody>
          <a:bodyPr wrap="square" lIns="0" tIns="0" rIns="0" bIns="0" rtlCol="0" anchor="t"/>
          <a:lstStyle/>
          <a:p>
            <a:pPr indent="0" marL="0">
              <a:lnSpc>
                <a:spcPts val="1700"/>
              </a:lnSpc>
              <a:buNone/>
            </a:pPr>
            <a:r>
              <a:rPr lang="en-US" sz="1200" dirty="0">
                <a:solidFill>
                  <a:srgbClr val="5A6673"/>
                </a:solidFill>
                <a:latin typeface="Calibri" pitchFamily="34" charset="0"/>
                <a:ea typeface="Calibri" pitchFamily="34" charset="-122"/>
                <a:cs typeface="Calibri" pitchFamily="34" charset="-120"/>
              </a:rPr>
              <a:t>Cinq autres décisions suivent : périmètre Grenoble ou Grenoble et Annecy, place du droit du travail, ordre des entretiens, prise de poste, vidéo de marque employeur.</a:t>
            </a:r>
            <a:endParaRPr lang="en-US" sz="12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01, point 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DÉCISION 1</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Le protocole d'association : cinq réponses</a:t>
            </a:r>
            <a:endParaRPr lang="en-US" sz="3300" dirty="0"/>
          </a:p>
        </p:txBody>
      </p:sp>
      <p:sp>
        <p:nvSpPr>
          <p:cNvPr id="4" name="Text 2"/>
          <p:cNvSpPr txBox="1"/>
          <p:nvPr/>
        </p:nvSpPr>
        <p:spPr>
          <a:xfrm>
            <a:off x="594360" y="1645920"/>
            <a:ext cx="11002975" cy="594360"/>
          </a:xfrm>
          <a:prstGeom prst="rect">
            <a:avLst/>
          </a:prstGeom>
          <a:noFill/>
          <a:ln/>
        </p:spPr>
        <p:txBody>
          <a:bodyPr wrap="square" lIns="0" tIns="0" rIns="0" bIns="0" rtlCol="0" anchor="t"/>
          <a:lstStyle/>
          <a:p>
            <a:pPr indent="0" marL="0">
              <a:lnSpc>
                <a:spcPts val="2100"/>
              </a:lnSpc>
              <a:buNone/>
            </a:pPr>
            <a:r>
              <a:rPr lang="en-US" sz="1450" dirty="0">
                <a:solidFill>
                  <a:srgbClr val="5A6673"/>
                </a:solidFill>
                <a:latin typeface="Calibri" pitchFamily="34" charset="0"/>
                <a:ea typeface="Calibri" pitchFamily="34" charset="-122"/>
                <a:cs typeface="Calibri" pitchFamily="34" charset="-120"/>
              </a:rPr>
              <a:t>Un avocat de six à dix ans a déjà vu une promesse d'association s'évaporer, chez lui ou chez un confrère. Il jugera notre sérieux sur notre capacité à répondre précisément à ces cinq questions.</a:t>
            </a:r>
            <a:endParaRPr lang="en-US" sz="1450" dirty="0"/>
          </a:p>
        </p:txBody>
      </p:sp>
      <p:sp>
        <p:nvSpPr>
          <p:cNvPr id="5" name="Shape 3"/>
          <p:cNvSpPr/>
          <p:nvPr/>
        </p:nvSpPr>
        <p:spPr>
          <a:xfrm>
            <a:off x="594360" y="2377440"/>
            <a:ext cx="5364328" cy="932688"/>
          </a:xfrm>
          <a:prstGeom prst="roundRect">
            <a:avLst>
              <a:gd name="adj" fmla="val 5882"/>
            </a:avLst>
          </a:prstGeom>
          <a:solidFill>
            <a:srgbClr val="F2F5F8"/>
          </a:solidFill>
          <a:ln/>
        </p:spPr>
      </p:sp>
      <p:sp>
        <p:nvSpPr>
          <p:cNvPr id="6" name="Shape 4"/>
          <p:cNvSpPr/>
          <p:nvPr/>
        </p:nvSpPr>
        <p:spPr>
          <a:xfrm>
            <a:off x="795528" y="2633472"/>
            <a:ext cx="420624" cy="420624"/>
          </a:xfrm>
          <a:prstGeom prst="ellipse">
            <a:avLst/>
          </a:prstGeom>
          <a:solidFill>
            <a:srgbClr val="1F4B7A"/>
          </a:solidFill>
          <a:ln/>
        </p:spPr>
      </p:sp>
      <p:sp>
        <p:nvSpPr>
          <p:cNvPr id="7" name="Text 5"/>
          <p:cNvSpPr txBox="1"/>
          <p:nvPr/>
        </p:nvSpPr>
        <p:spPr>
          <a:xfrm>
            <a:off x="795528" y="263347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71600" y="2505456"/>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À quelle échéance ?</a:t>
            </a:r>
            <a:endParaRPr lang="en-US" sz="1400" dirty="0"/>
          </a:p>
        </p:txBody>
      </p:sp>
      <p:sp>
        <p:nvSpPr>
          <p:cNvPr id="9" name="Text 7"/>
          <p:cNvSpPr txBox="1"/>
          <p:nvPr/>
        </p:nvSpPr>
        <p:spPr>
          <a:xfrm>
            <a:off x="1371600" y="2816352"/>
            <a:ext cx="4358488" cy="411480"/>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Une date, pas une intention. 24 à 36 mois est crédible et vérifiable.</a:t>
            </a:r>
            <a:endParaRPr lang="en-US" sz="1150" dirty="0"/>
          </a:p>
        </p:txBody>
      </p:sp>
      <p:sp>
        <p:nvSpPr>
          <p:cNvPr id="10" name="Shape 8"/>
          <p:cNvSpPr/>
          <p:nvPr/>
        </p:nvSpPr>
        <p:spPr>
          <a:xfrm>
            <a:off x="6233008" y="2377440"/>
            <a:ext cx="5364328" cy="932688"/>
          </a:xfrm>
          <a:prstGeom prst="roundRect">
            <a:avLst>
              <a:gd name="adj" fmla="val 5882"/>
            </a:avLst>
          </a:prstGeom>
          <a:solidFill>
            <a:srgbClr val="F2F5F8"/>
          </a:solidFill>
          <a:ln/>
        </p:spPr>
      </p:sp>
      <p:sp>
        <p:nvSpPr>
          <p:cNvPr id="11" name="Shape 9"/>
          <p:cNvSpPr/>
          <p:nvPr/>
        </p:nvSpPr>
        <p:spPr>
          <a:xfrm>
            <a:off x="6434176" y="2633472"/>
            <a:ext cx="420624" cy="420624"/>
          </a:xfrm>
          <a:prstGeom prst="ellipse">
            <a:avLst/>
          </a:prstGeom>
          <a:solidFill>
            <a:srgbClr val="1F4B7A"/>
          </a:solidFill>
          <a:ln/>
        </p:spPr>
      </p:sp>
      <p:sp>
        <p:nvSpPr>
          <p:cNvPr id="12" name="Text 10"/>
          <p:cNvSpPr txBox="1"/>
          <p:nvPr/>
        </p:nvSpPr>
        <p:spPr>
          <a:xfrm>
            <a:off x="6434176" y="263347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7010248" y="2505456"/>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Sur quels critères ?</a:t>
            </a:r>
            <a:endParaRPr lang="en-US" sz="1400" dirty="0"/>
          </a:p>
        </p:txBody>
      </p:sp>
      <p:sp>
        <p:nvSpPr>
          <p:cNvPr id="14" name="Text 12"/>
          <p:cNvSpPr txBox="1"/>
          <p:nvPr/>
        </p:nvSpPr>
        <p:spPr>
          <a:xfrm>
            <a:off x="7010248" y="2816352"/>
            <a:ext cx="4358488" cy="411480"/>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Trois à cinq critères observables, connus dès l'entrée.</a:t>
            </a:r>
            <a:endParaRPr lang="en-US" sz="1150" dirty="0"/>
          </a:p>
        </p:txBody>
      </p:sp>
      <p:sp>
        <p:nvSpPr>
          <p:cNvPr id="15" name="Shape 13"/>
          <p:cNvSpPr/>
          <p:nvPr/>
        </p:nvSpPr>
        <p:spPr>
          <a:xfrm>
            <a:off x="594360" y="3456432"/>
            <a:ext cx="5364328" cy="932688"/>
          </a:xfrm>
          <a:prstGeom prst="roundRect">
            <a:avLst>
              <a:gd name="adj" fmla="val 5882"/>
            </a:avLst>
          </a:prstGeom>
          <a:solidFill>
            <a:srgbClr val="F2F5F8"/>
          </a:solidFill>
          <a:ln/>
        </p:spPr>
      </p:sp>
      <p:sp>
        <p:nvSpPr>
          <p:cNvPr id="16" name="Shape 14"/>
          <p:cNvSpPr/>
          <p:nvPr/>
        </p:nvSpPr>
        <p:spPr>
          <a:xfrm>
            <a:off x="795528" y="3712464"/>
            <a:ext cx="420624" cy="420624"/>
          </a:xfrm>
          <a:prstGeom prst="ellipse">
            <a:avLst/>
          </a:prstGeom>
          <a:solidFill>
            <a:srgbClr val="1F4B7A"/>
          </a:solidFill>
          <a:ln/>
        </p:spPr>
      </p:sp>
      <p:sp>
        <p:nvSpPr>
          <p:cNvPr id="17" name="Text 15"/>
          <p:cNvSpPr txBox="1"/>
          <p:nvPr/>
        </p:nvSpPr>
        <p:spPr>
          <a:xfrm>
            <a:off x="795528" y="37124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71600" y="3584448"/>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À quel prix ?</a:t>
            </a:r>
            <a:endParaRPr lang="en-US" sz="1400" dirty="0"/>
          </a:p>
        </p:txBody>
      </p:sp>
      <p:sp>
        <p:nvSpPr>
          <p:cNvPr id="19" name="Text 17"/>
          <p:cNvSpPr txBox="1"/>
          <p:nvPr/>
        </p:nvSpPr>
        <p:spPr>
          <a:xfrm>
            <a:off x="1371600" y="3895344"/>
            <a:ext cx="4358488" cy="411480"/>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Valorisation des parts, montant indicatif, financement, échelonnement.</a:t>
            </a:r>
            <a:endParaRPr lang="en-US" sz="1150" dirty="0"/>
          </a:p>
        </p:txBody>
      </p:sp>
      <p:sp>
        <p:nvSpPr>
          <p:cNvPr id="20" name="Shape 18"/>
          <p:cNvSpPr/>
          <p:nvPr/>
        </p:nvSpPr>
        <p:spPr>
          <a:xfrm>
            <a:off x="6233008" y="3456432"/>
            <a:ext cx="5364328" cy="932688"/>
          </a:xfrm>
          <a:prstGeom prst="roundRect">
            <a:avLst>
              <a:gd name="adj" fmla="val 5882"/>
            </a:avLst>
          </a:prstGeom>
          <a:solidFill>
            <a:srgbClr val="F2F5F8"/>
          </a:solidFill>
          <a:ln/>
        </p:spPr>
      </p:sp>
      <p:sp>
        <p:nvSpPr>
          <p:cNvPr id="21" name="Shape 19"/>
          <p:cNvSpPr/>
          <p:nvPr/>
        </p:nvSpPr>
        <p:spPr>
          <a:xfrm>
            <a:off x="6434176" y="3712464"/>
            <a:ext cx="420624" cy="420624"/>
          </a:xfrm>
          <a:prstGeom prst="ellipse">
            <a:avLst/>
          </a:prstGeom>
          <a:solidFill>
            <a:srgbClr val="1F4B7A"/>
          </a:solidFill>
          <a:ln/>
        </p:spPr>
      </p:sp>
      <p:sp>
        <p:nvSpPr>
          <p:cNvPr id="22" name="Text 20"/>
          <p:cNvSpPr txBox="1"/>
          <p:nvPr/>
        </p:nvSpPr>
        <p:spPr>
          <a:xfrm>
            <a:off x="6434176" y="37124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7010248" y="3584448"/>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Quelle part de capital ?</a:t>
            </a:r>
            <a:endParaRPr lang="en-US" sz="1400" dirty="0"/>
          </a:p>
        </p:txBody>
      </p:sp>
      <p:sp>
        <p:nvSpPr>
          <p:cNvPr id="24" name="Text 22"/>
          <p:cNvSpPr txBox="1"/>
          <p:nvPr/>
        </p:nvSpPr>
        <p:spPr>
          <a:xfrm>
            <a:off x="7010248" y="3895344"/>
            <a:ext cx="4358488" cy="411480"/>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Et avec quels droits de vote.</a:t>
            </a:r>
            <a:endParaRPr lang="en-US" sz="1150" dirty="0"/>
          </a:p>
        </p:txBody>
      </p:sp>
      <p:sp>
        <p:nvSpPr>
          <p:cNvPr id="25" name="Shape 23"/>
          <p:cNvSpPr/>
          <p:nvPr/>
        </p:nvSpPr>
        <p:spPr>
          <a:xfrm>
            <a:off x="594360" y="4535424"/>
            <a:ext cx="5364328" cy="932688"/>
          </a:xfrm>
          <a:prstGeom prst="roundRect">
            <a:avLst>
              <a:gd name="adj" fmla="val 5882"/>
            </a:avLst>
          </a:prstGeom>
          <a:solidFill>
            <a:srgbClr val="F2F5F8"/>
          </a:solidFill>
          <a:ln/>
        </p:spPr>
      </p:sp>
      <p:sp>
        <p:nvSpPr>
          <p:cNvPr id="26" name="Shape 24"/>
          <p:cNvSpPr/>
          <p:nvPr/>
        </p:nvSpPr>
        <p:spPr>
          <a:xfrm>
            <a:off x="795528" y="4791456"/>
            <a:ext cx="420624" cy="420624"/>
          </a:xfrm>
          <a:prstGeom prst="ellipse">
            <a:avLst/>
          </a:prstGeom>
          <a:solidFill>
            <a:srgbClr val="1F4B7A"/>
          </a:solidFill>
          <a:ln/>
        </p:spPr>
      </p:sp>
      <p:sp>
        <p:nvSpPr>
          <p:cNvPr id="27" name="Text 25"/>
          <p:cNvSpPr txBox="1"/>
          <p:nvPr/>
        </p:nvSpPr>
        <p:spPr>
          <a:xfrm>
            <a:off x="795528" y="479145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8" name="Text 26"/>
          <p:cNvSpPr txBox="1"/>
          <p:nvPr/>
        </p:nvSpPr>
        <p:spPr>
          <a:xfrm>
            <a:off x="1371600" y="4663440"/>
            <a:ext cx="435848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Et si cela n'aboutit pas ?</a:t>
            </a:r>
            <a:endParaRPr lang="en-US" sz="1400" dirty="0"/>
          </a:p>
        </p:txBody>
      </p:sp>
      <p:sp>
        <p:nvSpPr>
          <p:cNvPr id="29" name="Text 27"/>
          <p:cNvSpPr txBox="1"/>
          <p:nvPr/>
        </p:nvSpPr>
        <p:spPr>
          <a:xfrm>
            <a:off x="1371600" y="4974336"/>
            <a:ext cx="4358488" cy="411480"/>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Clause de rendez-vous, préavis, conditions de sortie.</a:t>
            </a:r>
            <a:endParaRPr lang="en-US" sz="1150" dirty="0"/>
          </a:p>
        </p:txBody>
      </p:sp>
      <p:sp>
        <p:nvSpPr>
          <p:cNvPr id="30" name="Shape 28"/>
          <p:cNvSpPr/>
          <p:nvPr/>
        </p:nvSpPr>
        <p:spPr>
          <a:xfrm>
            <a:off x="6233008" y="4535424"/>
            <a:ext cx="5364328" cy="932688"/>
          </a:xfrm>
          <a:prstGeom prst="roundRect">
            <a:avLst>
              <a:gd name="adj" fmla="val 5882"/>
            </a:avLst>
          </a:prstGeom>
          <a:solidFill>
            <a:srgbClr val="12212E"/>
          </a:solidFill>
          <a:ln/>
        </p:spPr>
      </p:sp>
      <p:sp>
        <p:nvSpPr>
          <p:cNvPr id="31" name="Text 29"/>
          <p:cNvSpPr txBox="1"/>
          <p:nvPr/>
        </p:nvSpPr>
        <p:spPr>
          <a:xfrm>
            <a:off x="6461608" y="4700016"/>
            <a:ext cx="4907128" cy="640080"/>
          </a:xfrm>
          <a:prstGeom prst="rect">
            <a:avLst/>
          </a:prstGeom>
          <a:noFill/>
          <a:ln/>
        </p:spPr>
        <p:txBody>
          <a:bodyPr wrap="square" lIns="0" tIns="0" rIns="0" bIns="0" rtlCol="0" anchor="ctr"/>
          <a:lstStyle/>
          <a:p>
            <a:pPr indent="0" marL="0">
              <a:lnSpc>
                <a:spcPts val="1600"/>
              </a:lnSpc>
              <a:buNone/>
            </a:pPr>
            <a:r>
              <a:rPr lang="en-US" sz="1200" dirty="0">
                <a:solidFill>
                  <a:srgbClr val="D6DEE7"/>
                </a:solidFill>
                <a:latin typeface="Calibri" pitchFamily="34" charset="0"/>
                <a:ea typeface="Calibri" pitchFamily="34" charset="-122"/>
                <a:cs typeface="Calibri" pitchFamily="34" charset="-120"/>
              </a:rPr>
              <a:t>Tant que ces réponses n'existent pas par écrit, nous ne vendons pas une association. Nous vendons un poste avec une carotte, et le marché le sentira.</a:t>
            </a:r>
            <a:endParaRPr lang="en-US" sz="1200" dirty="0"/>
          </a:p>
        </p:txBody>
      </p:sp>
      <p:sp>
        <p:nvSpPr>
          <p:cNvPr id="32" name="Text 3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 protocole est remis au candidat à l'étape 4, protocole en main.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02</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 dispositif d'évaluation</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Quatre étapes, six compétences, et le rôle de chacun.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PARCOURS CANDIDAT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Quatre étapes, un intervieweur par étape</a:t>
            </a:r>
            <a:endParaRPr lang="en-US" sz="3300" dirty="0"/>
          </a:p>
        </p:txBody>
      </p:sp>
      <p:sp>
        <p:nvSpPr>
          <p:cNvPr id="4" name="Text 2"/>
          <p:cNvSpPr txBox="1"/>
          <p:nvPr/>
        </p:nvSpPr>
        <p:spPr>
          <a:xfrm>
            <a:off x="594360" y="1627632"/>
            <a:ext cx="11002975" cy="274320"/>
          </a:xfrm>
          <a:prstGeom prst="rect">
            <a:avLst/>
          </a:prstGeom>
          <a:noFill/>
          <a:ln/>
        </p:spPr>
        <p:txBody>
          <a:bodyPr wrap="square" lIns="0" tIns="0" rIns="0" bIns="0" rtlCol="0" anchor="t"/>
          <a:lstStyle/>
          <a:p>
            <a:pPr indent="0" marL="0">
              <a:buNone/>
            </a:pPr>
            <a:r>
              <a:rPr lang="en-US" sz="1300" dirty="0">
                <a:solidFill>
                  <a:srgbClr val="5A6673"/>
                </a:solidFill>
                <a:latin typeface="Calibri" pitchFamily="34" charset="0"/>
                <a:ea typeface="Calibri" pitchFamily="34" charset="-122"/>
                <a:cs typeface="Calibri" pitchFamily="34" charset="-120"/>
              </a:rPr>
              <a:t>Tri des CV sur 100 points, seuil à 70. Puis :</a:t>
            </a:r>
            <a:endParaRPr lang="en-US" sz="1300" dirty="0"/>
          </a:p>
        </p:txBody>
      </p:sp>
      <p:sp>
        <p:nvSpPr>
          <p:cNvPr id="5" name="Shape 3"/>
          <p:cNvSpPr/>
          <p:nvPr/>
        </p:nvSpPr>
        <p:spPr>
          <a:xfrm>
            <a:off x="594360" y="2011680"/>
            <a:ext cx="2579294" cy="3200400"/>
          </a:xfrm>
          <a:prstGeom prst="roundRect">
            <a:avLst>
              <a:gd name="adj" fmla="val 2127"/>
            </a:avLst>
          </a:prstGeom>
          <a:solidFill>
            <a:srgbClr val="F2F5F8"/>
          </a:solidFill>
          <a:ln/>
        </p:spPr>
      </p:sp>
      <p:sp>
        <p:nvSpPr>
          <p:cNvPr id="6" name="Shape 4"/>
          <p:cNvSpPr/>
          <p:nvPr/>
        </p:nvSpPr>
        <p:spPr>
          <a:xfrm>
            <a:off x="822960" y="2212848"/>
            <a:ext cx="457200" cy="457200"/>
          </a:xfrm>
          <a:prstGeom prst="ellipse">
            <a:avLst/>
          </a:prstGeom>
          <a:solidFill>
            <a:srgbClr val="1F4B7A"/>
          </a:solidFill>
          <a:ln/>
        </p:spPr>
      </p:sp>
      <p:sp>
        <p:nvSpPr>
          <p:cNvPr id="7" name="Text 5"/>
          <p:cNvSpPr txBox="1"/>
          <p:nvPr/>
        </p:nvSpPr>
        <p:spPr>
          <a:xfrm>
            <a:off x="822960"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22960"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Téléphone</a:t>
            </a:r>
            <a:endParaRPr lang="en-US" sz="1700" dirty="0"/>
          </a:p>
        </p:txBody>
      </p:sp>
      <p:sp>
        <p:nvSpPr>
          <p:cNvPr id="9" name="Text 7"/>
          <p:cNvSpPr txBox="1"/>
          <p:nvPr/>
        </p:nvSpPr>
        <p:spPr>
          <a:xfrm>
            <a:off x="822960"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0" name="Text 8"/>
          <p:cNvSpPr txBox="1"/>
          <p:nvPr/>
        </p:nvSpPr>
        <p:spPr>
          <a:xfrm>
            <a:off x="822960"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30 min</a:t>
            </a:r>
            <a:endParaRPr lang="en-US" sz="1100" dirty="0"/>
          </a:p>
        </p:txBody>
      </p:sp>
      <p:sp>
        <p:nvSpPr>
          <p:cNvPr id="11" name="Text 9"/>
          <p:cNvSpPr txBox="1"/>
          <p:nvPr/>
        </p:nvSpPr>
        <p:spPr>
          <a:xfrm>
            <a:off x="822960"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Pré-qualification. Trois questions techniques consignées mot à mot, relues par Hervé Gerbi.</a:t>
            </a:r>
            <a:endParaRPr lang="en-US" sz="1100" dirty="0"/>
          </a:p>
        </p:txBody>
      </p:sp>
      <p:sp>
        <p:nvSpPr>
          <p:cNvPr id="12" name="Shape 10"/>
          <p:cNvSpPr/>
          <p:nvPr/>
        </p:nvSpPr>
        <p:spPr>
          <a:xfrm>
            <a:off x="3402254" y="2011680"/>
            <a:ext cx="2579294" cy="3200400"/>
          </a:xfrm>
          <a:prstGeom prst="roundRect">
            <a:avLst>
              <a:gd name="adj" fmla="val 2127"/>
            </a:avLst>
          </a:prstGeom>
          <a:solidFill>
            <a:srgbClr val="F2F5F8"/>
          </a:solidFill>
          <a:ln/>
        </p:spPr>
      </p:sp>
      <p:sp>
        <p:nvSpPr>
          <p:cNvPr id="13" name="Shape 11"/>
          <p:cNvSpPr/>
          <p:nvPr/>
        </p:nvSpPr>
        <p:spPr>
          <a:xfrm>
            <a:off x="3630854" y="2212848"/>
            <a:ext cx="457200" cy="457200"/>
          </a:xfrm>
          <a:prstGeom prst="ellipse">
            <a:avLst/>
          </a:prstGeom>
          <a:solidFill>
            <a:srgbClr val="1F4B7A"/>
          </a:solidFill>
          <a:ln/>
        </p:spPr>
      </p:sp>
      <p:sp>
        <p:nvSpPr>
          <p:cNvPr id="14" name="Text 12"/>
          <p:cNvSpPr txBox="1"/>
          <p:nvPr/>
        </p:nvSpPr>
        <p:spPr>
          <a:xfrm>
            <a:off x="3630854"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30854"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Valeurs</a:t>
            </a:r>
            <a:endParaRPr lang="en-US" sz="1700" dirty="0"/>
          </a:p>
        </p:txBody>
      </p:sp>
      <p:sp>
        <p:nvSpPr>
          <p:cNvPr id="16" name="Text 14"/>
          <p:cNvSpPr txBox="1"/>
          <p:nvPr/>
        </p:nvSpPr>
        <p:spPr>
          <a:xfrm>
            <a:off x="3630854"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7" name="Text 15"/>
          <p:cNvSpPr txBox="1"/>
          <p:nvPr/>
        </p:nvSpPr>
        <p:spPr>
          <a:xfrm>
            <a:off x="3630854"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60 min</a:t>
            </a:r>
            <a:endParaRPr lang="en-US" sz="1100" dirty="0"/>
          </a:p>
        </p:txBody>
      </p:sp>
      <p:sp>
        <p:nvSpPr>
          <p:cNvPr id="18" name="Text 16"/>
          <p:cNvSpPr txBox="1"/>
          <p:nvPr/>
        </p:nvSpPr>
        <p:spPr>
          <a:xfrm>
            <a:off x="3630854"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Expertise, humanité, justice, réparation. Cinq mises en situation où deux valeurs s'opposent.</a:t>
            </a:r>
            <a:endParaRPr lang="en-US" sz="1100" dirty="0"/>
          </a:p>
        </p:txBody>
      </p:sp>
      <p:sp>
        <p:nvSpPr>
          <p:cNvPr id="19" name="Shape 17"/>
          <p:cNvSpPr/>
          <p:nvPr/>
        </p:nvSpPr>
        <p:spPr>
          <a:xfrm>
            <a:off x="6210148" y="2011680"/>
            <a:ext cx="2579294" cy="3200400"/>
          </a:xfrm>
          <a:prstGeom prst="roundRect">
            <a:avLst>
              <a:gd name="adj" fmla="val 2127"/>
            </a:avLst>
          </a:prstGeom>
          <a:solidFill>
            <a:srgbClr val="F2F5F8"/>
          </a:solidFill>
          <a:ln/>
        </p:spPr>
      </p:sp>
      <p:sp>
        <p:nvSpPr>
          <p:cNvPr id="20" name="Shape 18"/>
          <p:cNvSpPr/>
          <p:nvPr/>
        </p:nvSpPr>
        <p:spPr>
          <a:xfrm>
            <a:off x="6438748" y="2212848"/>
            <a:ext cx="457200" cy="457200"/>
          </a:xfrm>
          <a:prstGeom prst="ellipse">
            <a:avLst/>
          </a:prstGeom>
          <a:solidFill>
            <a:srgbClr val="1F4B7A"/>
          </a:solidFill>
          <a:ln/>
        </p:spPr>
      </p:sp>
      <p:sp>
        <p:nvSpPr>
          <p:cNvPr id="21" name="Text 19"/>
          <p:cNvSpPr txBox="1"/>
          <p:nvPr/>
        </p:nvSpPr>
        <p:spPr>
          <a:xfrm>
            <a:off x="6438748"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txBox="1"/>
          <p:nvPr/>
        </p:nvSpPr>
        <p:spPr>
          <a:xfrm>
            <a:off x="6438748"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Compétences métier</a:t>
            </a:r>
            <a:endParaRPr lang="en-US" sz="1700" dirty="0"/>
          </a:p>
        </p:txBody>
      </p:sp>
      <p:sp>
        <p:nvSpPr>
          <p:cNvPr id="23" name="Text 21"/>
          <p:cNvSpPr txBox="1"/>
          <p:nvPr/>
        </p:nvSpPr>
        <p:spPr>
          <a:xfrm>
            <a:off x="6438748"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Milène Baud</a:t>
            </a:r>
            <a:endParaRPr lang="en-US" sz="1200" dirty="0"/>
          </a:p>
        </p:txBody>
      </p:sp>
      <p:sp>
        <p:nvSpPr>
          <p:cNvPr id="24" name="Text 22"/>
          <p:cNvSpPr txBox="1"/>
          <p:nvPr/>
        </p:nvSpPr>
        <p:spPr>
          <a:xfrm>
            <a:off x="6438748"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60 min</a:t>
            </a:r>
            <a:endParaRPr lang="en-US" sz="1100" dirty="0"/>
          </a:p>
        </p:txBody>
      </p:sp>
      <p:sp>
        <p:nvSpPr>
          <p:cNvPr id="25" name="Text 23"/>
          <p:cNvSpPr txBox="1"/>
          <p:nvPr/>
        </p:nvSpPr>
        <p:spPr>
          <a:xfrm>
            <a:off x="6438748"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Gérer la complexité. Être orienté client. Être résilient.</a:t>
            </a:r>
            <a:endParaRPr lang="en-US" sz="1100" dirty="0"/>
          </a:p>
        </p:txBody>
      </p:sp>
      <p:sp>
        <p:nvSpPr>
          <p:cNvPr id="26" name="Shape 24"/>
          <p:cNvSpPr/>
          <p:nvPr/>
        </p:nvSpPr>
        <p:spPr>
          <a:xfrm>
            <a:off x="9018041" y="2011680"/>
            <a:ext cx="2579294" cy="3200400"/>
          </a:xfrm>
          <a:prstGeom prst="roundRect">
            <a:avLst>
              <a:gd name="adj" fmla="val 2127"/>
            </a:avLst>
          </a:prstGeom>
          <a:solidFill>
            <a:srgbClr val="12212E"/>
          </a:solidFill>
          <a:ln/>
        </p:spPr>
      </p:sp>
      <p:sp>
        <p:nvSpPr>
          <p:cNvPr id="27" name="Shape 25"/>
          <p:cNvSpPr/>
          <p:nvPr/>
        </p:nvSpPr>
        <p:spPr>
          <a:xfrm>
            <a:off x="9246641" y="2212848"/>
            <a:ext cx="457200" cy="457200"/>
          </a:xfrm>
          <a:prstGeom prst="ellipse">
            <a:avLst/>
          </a:prstGeom>
          <a:solidFill>
            <a:srgbClr val="B05F3A"/>
          </a:solidFill>
          <a:ln/>
        </p:spPr>
      </p:sp>
      <p:sp>
        <p:nvSpPr>
          <p:cNvPr id="28" name="Text 26"/>
          <p:cNvSpPr txBox="1"/>
          <p:nvPr/>
        </p:nvSpPr>
        <p:spPr>
          <a:xfrm>
            <a:off x="9246641"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9246641" y="2834640"/>
            <a:ext cx="2122094" cy="566928"/>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Compétences et association</a:t>
            </a:r>
            <a:endParaRPr lang="en-US" sz="1700" dirty="0"/>
          </a:p>
        </p:txBody>
      </p:sp>
      <p:sp>
        <p:nvSpPr>
          <p:cNvPr id="30" name="Text 28"/>
          <p:cNvSpPr txBox="1"/>
          <p:nvPr/>
        </p:nvSpPr>
        <p:spPr>
          <a:xfrm>
            <a:off x="9246641" y="3456432"/>
            <a:ext cx="2122094" cy="256032"/>
          </a:xfrm>
          <a:prstGeom prst="rect">
            <a:avLst/>
          </a:prstGeom>
          <a:noFill/>
          <a:ln/>
        </p:spPr>
        <p:txBody>
          <a:bodyPr wrap="square" lIns="0" tIns="0" rIns="0" bIns="0" rtlCol="0" anchor="ctr"/>
          <a:lstStyle/>
          <a:p>
            <a:pPr indent="0" marL="0">
              <a:buNone/>
            </a:pPr>
            <a:r>
              <a:rPr lang="en-US" sz="1200" b="1" dirty="0">
                <a:solidFill>
                  <a:srgbClr val="E0956B"/>
                </a:solidFill>
                <a:latin typeface="Calibri" pitchFamily="34" charset="0"/>
                <a:ea typeface="Calibri" pitchFamily="34" charset="-122"/>
                <a:cs typeface="Calibri" pitchFamily="34" charset="-120"/>
              </a:rPr>
              <a:t>Hervé Gerbi</a:t>
            </a:r>
            <a:endParaRPr lang="en-US" sz="1200" dirty="0"/>
          </a:p>
        </p:txBody>
      </p:sp>
      <p:sp>
        <p:nvSpPr>
          <p:cNvPr id="31" name="Text 29"/>
          <p:cNvSpPr txBox="1"/>
          <p:nvPr/>
        </p:nvSpPr>
        <p:spPr>
          <a:xfrm>
            <a:off x="9246641" y="3712464"/>
            <a:ext cx="2122094" cy="237744"/>
          </a:xfrm>
          <a:prstGeom prst="rect">
            <a:avLst/>
          </a:prstGeom>
          <a:noFill/>
          <a:ln/>
        </p:spPr>
        <p:txBody>
          <a:bodyPr wrap="square" lIns="0" tIns="0" rIns="0" bIns="0" rtlCol="0" anchor="ctr"/>
          <a:lstStyle/>
          <a:p>
            <a:pPr indent="0" marL="0">
              <a:buNone/>
            </a:pPr>
            <a:r>
              <a:rPr lang="en-US" sz="1100" dirty="0">
                <a:solidFill>
                  <a:srgbClr val="9AA7B4"/>
                </a:solidFill>
                <a:latin typeface="Calibri" pitchFamily="34" charset="0"/>
                <a:ea typeface="Calibri" pitchFamily="34" charset="-122"/>
                <a:cs typeface="Calibri" pitchFamily="34" charset="-120"/>
              </a:rPr>
              <a:t>90 min</a:t>
            </a:r>
            <a:endParaRPr lang="en-US" sz="1100" dirty="0"/>
          </a:p>
        </p:txBody>
      </p:sp>
      <p:sp>
        <p:nvSpPr>
          <p:cNvPr id="32" name="Text 30"/>
          <p:cNvSpPr txBox="1"/>
          <p:nvPr/>
        </p:nvSpPr>
        <p:spPr>
          <a:xfrm>
            <a:off x="9246641"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D6DEE7"/>
                </a:solidFill>
                <a:latin typeface="Calibri" pitchFamily="34" charset="0"/>
                <a:ea typeface="Calibri" pitchFamily="34" charset="-122"/>
                <a:cs typeface="Calibri" pitchFamily="34" charset="-120"/>
              </a:rPr>
              <a:t>Expertise fonctionnelle. Courage. Réseaux. Esprit stratégique. Remise du protocole.</a:t>
            </a:r>
            <a:endParaRPr lang="en-US" sz="1100" dirty="0"/>
          </a:p>
        </p:txBody>
      </p:sp>
      <p:sp>
        <p:nvSpPr>
          <p:cNvPr id="33" name="Shape 31"/>
          <p:cNvSpPr/>
          <p:nvPr/>
        </p:nvSpPr>
        <p:spPr>
          <a:xfrm>
            <a:off x="594360" y="5394960"/>
            <a:ext cx="11002975" cy="685800"/>
          </a:xfrm>
          <a:prstGeom prst="roundRect">
            <a:avLst>
              <a:gd name="adj" fmla="val 8000"/>
            </a:avLst>
          </a:prstGeom>
          <a:solidFill>
            <a:srgbClr val="FBF1EC"/>
          </a:solidFill>
          <a:ln/>
        </p:spPr>
      </p:sp>
      <p:sp>
        <p:nvSpPr>
          <p:cNvPr id="34" name="Text 32"/>
          <p:cNvSpPr txBox="1"/>
          <p:nvPr/>
        </p:nvSpPr>
        <p:spPr>
          <a:xfrm>
            <a:off x="914400" y="5559552"/>
            <a:ext cx="10362895" cy="384048"/>
          </a:xfrm>
          <a:prstGeom prst="rect">
            <a:avLst/>
          </a:prstGeom>
          <a:noFill/>
          <a:ln/>
        </p:spPr>
        <p:txBody>
          <a:bodyPr wrap="square" lIns="0" tIns="0" rIns="0" bIns="0" rtlCol="0" anchor="ctr"/>
          <a:lstStyle/>
          <a:p>
            <a:pPr indent="0" marL="0">
              <a:buNone/>
            </a:pPr>
            <a:r>
              <a:rPr lang="en-US" sz="1300" dirty="0">
                <a:solidFill>
                  <a:srgbClr val="12212E"/>
                </a:solidFill>
                <a:latin typeface="Calibri" pitchFamily="34" charset="0"/>
                <a:ea typeface="Calibri" pitchFamily="34" charset="-122"/>
                <a:cs typeface="Calibri" pitchFamily="34" charset="-120"/>
              </a:rPr>
              <a:t>Les étapes 3 et 4 se tiennent le même jour. Nous répondons au candidat sous cinq jours ouvrés après chaque étape.</a:t>
            </a:r>
            <a:endParaRPr lang="en-US" sz="1300" dirty="0"/>
          </a:p>
        </p:txBody>
      </p:sp>
      <p:sp>
        <p:nvSpPr>
          <p:cNvPr id="35" name="Text 3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guide pour les entretiens.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RÉFÉRENTIEL KORN FERRY LEADERSHIP ARCHITECT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Six compétences, et ce que chacune protège</a:t>
            </a:r>
            <a:endParaRPr lang="en-US" sz="3300" dirty="0"/>
          </a:p>
        </p:txBody>
      </p:sp>
      <p:sp>
        <p:nvSpPr>
          <p:cNvPr id="4" name="Shape 2"/>
          <p:cNvSpPr/>
          <p:nvPr/>
        </p:nvSpPr>
        <p:spPr>
          <a:xfrm>
            <a:off x="594360" y="1783080"/>
            <a:ext cx="3496970" cy="1737360"/>
          </a:xfrm>
          <a:prstGeom prst="roundRect">
            <a:avLst>
              <a:gd name="adj" fmla="val 3158"/>
            </a:avLst>
          </a:prstGeom>
          <a:solidFill>
            <a:srgbClr val="F2F5F8"/>
          </a:solidFill>
          <a:ln/>
        </p:spPr>
      </p:sp>
      <p:sp>
        <p:nvSpPr>
          <p:cNvPr id="5" name="Text 3"/>
          <p:cNvSpPr txBox="1"/>
          <p:nvPr/>
        </p:nvSpPr>
        <p:spPr>
          <a:xfrm>
            <a:off x="822960" y="196596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a:t>
            </a:r>
            <a:endParaRPr lang="en-US" sz="950" dirty="0"/>
          </a:p>
        </p:txBody>
      </p:sp>
      <p:sp>
        <p:nvSpPr>
          <p:cNvPr id="6" name="Text 4"/>
          <p:cNvSpPr txBox="1"/>
          <p:nvPr/>
        </p:nvSpPr>
        <p:spPr>
          <a:xfrm>
            <a:off x="822960" y="220370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Gérer la complexité</a:t>
            </a:r>
            <a:endParaRPr lang="en-US" sz="1700" dirty="0"/>
          </a:p>
        </p:txBody>
      </p:sp>
      <p:sp>
        <p:nvSpPr>
          <p:cNvPr id="7" name="Text 5"/>
          <p:cNvSpPr txBox="1"/>
          <p:nvPr/>
        </p:nvSpPr>
        <p:spPr>
          <a:xfrm>
            <a:off x="822960" y="278892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Le cœur technique du dossier corporel : pièces médicales, expertises contradictoires, chiffrage</a:t>
            </a:r>
            <a:endParaRPr lang="en-US" sz="1150" dirty="0"/>
          </a:p>
        </p:txBody>
      </p:sp>
      <p:sp>
        <p:nvSpPr>
          <p:cNvPr id="8" name="Shape 6"/>
          <p:cNvSpPr/>
          <p:nvPr/>
        </p:nvSpPr>
        <p:spPr>
          <a:xfrm>
            <a:off x="4347362" y="1783080"/>
            <a:ext cx="3496970" cy="1737360"/>
          </a:xfrm>
          <a:prstGeom prst="roundRect">
            <a:avLst>
              <a:gd name="adj" fmla="val 3158"/>
            </a:avLst>
          </a:prstGeom>
          <a:solidFill>
            <a:srgbClr val="F2F5F8"/>
          </a:solidFill>
          <a:ln/>
        </p:spPr>
      </p:sp>
      <p:sp>
        <p:nvSpPr>
          <p:cNvPr id="9" name="Text 7"/>
          <p:cNvSpPr txBox="1"/>
          <p:nvPr/>
        </p:nvSpPr>
        <p:spPr>
          <a:xfrm>
            <a:off x="4575962" y="196596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a:t>
            </a:r>
            <a:endParaRPr lang="en-US" sz="950" dirty="0"/>
          </a:p>
        </p:txBody>
      </p:sp>
      <p:sp>
        <p:nvSpPr>
          <p:cNvPr id="10" name="Text 8"/>
          <p:cNvSpPr txBox="1"/>
          <p:nvPr/>
        </p:nvSpPr>
        <p:spPr>
          <a:xfrm>
            <a:off x="4575962" y="220370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Être orienté client</a:t>
            </a:r>
            <a:endParaRPr lang="en-US" sz="1700" dirty="0"/>
          </a:p>
        </p:txBody>
      </p:sp>
      <p:sp>
        <p:nvSpPr>
          <p:cNvPr id="11" name="Text 9"/>
          <p:cNvSpPr txBox="1"/>
          <p:nvPr/>
        </p:nvSpPr>
        <p:spPr>
          <a:xfrm>
            <a:off x="4575962" y="278892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La relation avec la victime et ses proches, qui est notre positionnement même</a:t>
            </a:r>
            <a:endParaRPr lang="en-US" sz="1150" dirty="0"/>
          </a:p>
        </p:txBody>
      </p:sp>
      <p:sp>
        <p:nvSpPr>
          <p:cNvPr id="12" name="Shape 10"/>
          <p:cNvSpPr/>
          <p:nvPr/>
        </p:nvSpPr>
        <p:spPr>
          <a:xfrm>
            <a:off x="7432853" y="1965960"/>
            <a:ext cx="182880" cy="182880"/>
          </a:xfrm>
          <a:prstGeom prst="ellipse">
            <a:avLst/>
          </a:prstGeom>
          <a:solidFill>
            <a:srgbClr val="B05F3A"/>
          </a:solidFill>
          <a:ln/>
        </p:spPr>
      </p:sp>
      <p:sp>
        <p:nvSpPr>
          <p:cNvPr id="13" name="Shape 11"/>
          <p:cNvSpPr/>
          <p:nvPr/>
        </p:nvSpPr>
        <p:spPr>
          <a:xfrm>
            <a:off x="8100365" y="1783080"/>
            <a:ext cx="3496970" cy="1737360"/>
          </a:xfrm>
          <a:prstGeom prst="roundRect">
            <a:avLst>
              <a:gd name="adj" fmla="val 3158"/>
            </a:avLst>
          </a:prstGeom>
          <a:solidFill>
            <a:srgbClr val="F2F5F8"/>
          </a:solidFill>
          <a:ln/>
        </p:spPr>
      </p:sp>
      <p:sp>
        <p:nvSpPr>
          <p:cNvPr id="14" name="Text 12"/>
          <p:cNvSpPr txBox="1"/>
          <p:nvPr/>
        </p:nvSpPr>
        <p:spPr>
          <a:xfrm>
            <a:off x="8328965" y="196596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a:t>
            </a:r>
            <a:endParaRPr lang="en-US" sz="950" dirty="0"/>
          </a:p>
        </p:txBody>
      </p:sp>
      <p:sp>
        <p:nvSpPr>
          <p:cNvPr id="15" name="Text 13"/>
          <p:cNvSpPr txBox="1"/>
          <p:nvPr/>
        </p:nvSpPr>
        <p:spPr>
          <a:xfrm>
            <a:off x="8328965" y="220370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Être résilient</a:t>
            </a:r>
            <a:endParaRPr lang="en-US" sz="1700" dirty="0"/>
          </a:p>
        </p:txBody>
      </p:sp>
      <p:sp>
        <p:nvSpPr>
          <p:cNvPr id="16" name="Text 14"/>
          <p:cNvSpPr txBox="1"/>
          <p:nvPr/>
        </p:nvSpPr>
        <p:spPr>
          <a:xfrm>
            <a:off x="8328965" y="278892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La durée des dossiers et la charge émotionnelle, première cause de décrochage dans la matière</a:t>
            </a:r>
            <a:endParaRPr lang="en-US" sz="1150" dirty="0"/>
          </a:p>
        </p:txBody>
      </p:sp>
      <p:sp>
        <p:nvSpPr>
          <p:cNvPr id="17" name="Shape 15"/>
          <p:cNvSpPr/>
          <p:nvPr/>
        </p:nvSpPr>
        <p:spPr>
          <a:xfrm>
            <a:off x="594360" y="3703320"/>
            <a:ext cx="3496970" cy="1737360"/>
          </a:xfrm>
          <a:prstGeom prst="roundRect">
            <a:avLst>
              <a:gd name="adj" fmla="val 3158"/>
            </a:avLst>
          </a:prstGeom>
          <a:solidFill>
            <a:srgbClr val="F2F5F8"/>
          </a:solidFill>
          <a:ln/>
        </p:spPr>
      </p:sp>
      <p:sp>
        <p:nvSpPr>
          <p:cNvPr id="18" name="Text 16"/>
          <p:cNvSpPr txBox="1"/>
          <p:nvPr/>
        </p:nvSpPr>
        <p:spPr>
          <a:xfrm>
            <a:off x="822960" y="388620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a:t>
            </a:r>
            <a:endParaRPr lang="en-US" sz="950" dirty="0"/>
          </a:p>
        </p:txBody>
      </p:sp>
      <p:sp>
        <p:nvSpPr>
          <p:cNvPr id="19" name="Text 17"/>
          <p:cNvSpPr txBox="1"/>
          <p:nvPr/>
        </p:nvSpPr>
        <p:spPr>
          <a:xfrm>
            <a:off x="822960" y="412394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Faire preuve de courage</a:t>
            </a:r>
            <a:endParaRPr lang="en-US" sz="1700" dirty="0"/>
          </a:p>
        </p:txBody>
      </p:sp>
      <p:sp>
        <p:nvSpPr>
          <p:cNvPr id="20" name="Text 18"/>
          <p:cNvSpPr txBox="1"/>
          <p:nvPr/>
        </p:nvSpPr>
        <p:spPr>
          <a:xfrm>
            <a:off x="822960" y="470916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La capacité à contredire un client, un expert, et son futur associé</a:t>
            </a:r>
            <a:endParaRPr lang="en-US" sz="1150" dirty="0"/>
          </a:p>
        </p:txBody>
      </p:sp>
      <p:sp>
        <p:nvSpPr>
          <p:cNvPr id="21" name="Shape 19"/>
          <p:cNvSpPr/>
          <p:nvPr/>
        </p:nvSpPr>
        <p:spPr>
          <a:xfrm>
            <a:off x="4347362" y="3703320"/>
            <a:ext cx="3496970" cy="1737360"/>
          </a:xfrm>
          <a:prstGeom prst="roundRect">
            <a:avLst>
              <a:gd name="adj" fmla="val 3158"/>
            </a:avLst>
          </a:prstGeom>
          <a:solidFill>
            <a:srgbClr val="F2F5F8"/>
          </a:solidFill>
          <a:ln/>
        </p:spPr>
      </p:sp>
      <p:sp>
        <p:nvSpPr>
          <p:cNvPr id="22" name="Text 20"/>
          <p:cNvSpPr txBox="1"/>
          <p:nvPr/>
        </p:nvSpPr>
        <p:spPr>
          <a:xfrm>
            <a:off x="4575962" y="388620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a:t>
            </a:r>
            <a:endParaRPr lang="en-US" sz="950" dirty="0"/>
          </a:p>
        </p:txBody>
      </p:sp>
      <p:sp>
        <p:nvSpPr>
          <p:cNvPr id="23" name="Text 21"/>
          <p:cNvSpPr txBox="1"/>
          <p:nvPr/>
        </p:nvSpPr>
        <p:spPr>
          <a:xfrm>
            <a:off x="4575962" y="412394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Créer des réseaux</a:t>
            </a:r>
            <a:endParaRPr lang="en-US" sz="1700" dirty="0"/>
          </a:p>
        </p:txBody>
      </p:sp>
      <p:sp>
        <p:nvSpPr>
          <p:cNvPr id="24" name="Text 22"/>
          <p:cNvSpPr txBox="1"/>
          <p:nvPr/>
        </p:nvSpPr>
        <p:spPr>
          <a:xfrm>
            <a:off x="4575962" y="470916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L'apport d'affaires, condition économique réelle de l'association</a:t>
            </a:r>
            <a:endParaRPr lang="en-US" sz="1150" dirty="0"/>
          </a:p>
        </p:txBody>
      </p:sp>
      <p:sp>
        <p:nvSpPr>
          <p:cNvPr id="25" name="Shape 23"/>
          <p:cNvSpPr/>
          <p:nvPr/>
        </p:nvSpPr>
        <p:spPr>
          <a:xfrm>
            <a:off x="7432853" y="3886200"/>
            <a:ext cx="182880" cy="182880"/>
          </a:xfrm>
          <a:prstGeom prst="ellipse">
            <a:avLst/>
          </a:prstGeom>
          <a:solidFill>
            <a:srgbClr val="B05F3A"/>
          </a:solidFill>
          <a:ln/>
        </p:spPr>
      </p:sp>
      <p:sp>
        <p:nvSpPr>
          <p:cNvPr id="26" name="Shape 24"/>
          <p:cNvSpPr/>
          <p:nvPr/>
        </p:nvSpPr>
        <p:spPr>
          <a:xfrm>
            <a:off x="8100365" y="3703320"/>
            <a:ext cx="3496970" cy="1737360"/>
          </a:xfrm>
          <a:prstGeom prst="roundRect">
            <a:avLst>
              <a:gd name="adj" fmla="val 3158"/>
            </a:avLst>
          </a:prstGeom>
          <a:solidFill>
            <a:srgbClr val="F2F5F8"/>
          </a:solidFill>
          <a:ln/>
        </p:spPr>
      </p:sp>
      <p:sp>
        <p:nvSpPr>
          <p:cNvPr id="27" name="Text 25"/>
          <p:cNvSpPr txBox="1"/>
          <p:nvPr/>
        </p:nvSpPr>
        <p:spPr>
          <a:xfrm>
            <a:off x="8328965" y="3886200"/>
            <a:ext cx="303977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a:t>
            </a:r>
            <a:endParaRPr lang="en-US" sz="950" dirty="0"/>
          </a:p>
        </p:txBody>
      </p:sp>
      <p:sp>
        <p:nvSpPr>
          <p:cNvPr id="28" name="Text 26"/>
          <p:cNvSpPr txBox="1"/>
          <p:nvPr/>
        </p:nvSpPr>
        <p:spPr>
          <a:xfrm>
            <a:off x="8328965" y="4123944"/>
            <a:ext cx="3039770"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Faire preuve d'esprit stratégique</a:t>
            </a:r>
            <a:endParaRPr lang="en-US" sz="1700" dirty="0"/>
          </a:p>
        </p:txBody>
      </p:sp>
      <p:sp>
        <p:nvSpPr>
          <p:cNvPr id="29" name="Text 27"/>
          <p:cNvSpPr txBox="1"/>
          <p:nvPr/>
        </p:nvSpPr>
        <p:spPr>
          <a:xfrm>
            <a:off x="8328965" y="4709160"/>
            <a:ext cx="3039770" cy="621792"/>
          </a:xfrm>
          <a:prstGeom prst="rect">
            <a:avLst/>
          </a:prstGeom>
          <a:noFill/>
          <a:ln/>
        </p:spPr>
        <p:txBody>
          <a:bodyPr wrap="square" lIns="0" tIns="0" rIns="0" bIns="0" rtlCol="0" anchor="t"/>
          <a:lstStyle/>
          <a:p>
            <a:pPr indent="0" marL="0">
              <a:lnSpc>
                <a:spcPts val="1500"/>
              </a:lnSpc>
              <a:buNone/>
            </a:pPr>
            <a:r>
              <a:rPr lang="en-US" sz="1150" dirty="0">
                <a:solidFill>
                  <a:srgbClr val="5A6673"/>
                </a:solidFill>
                <a:latin typeface="Calibri" pitchFamily="34" charset="0"/>
                <a:ea typeface="Calibri" pitchFamily="34" charset="-122"/>
                <a:cs typeface="Calibri" pitchFamily="34" charset="-120"/>
              </a:rPr>
              <a:t>La projection dans le cabinet, pas seulement dans son propre portefeuille</a:t>
            </a:r>
            <a:endParaRPr lang="en-US" sz="1150" dirty="0"/>
          </a:p>
        </p:txBody>
      </p:sp>
      <p:sp>
        <p:nvSpPr>
          <p:cNvPr id="30" name="Shape 28"/>
          <p:cNvSpPr/>
          <p:nvPr/>
        </p:nvSpPr>
        <p:spPr>
          <a:xfrm>
            <a:off x="594360" y="5705856"/>
            <a:ext cx="146304" cy="146304"/>
          </a:xfrm>
          <a:prstGeom prst="ellipse">
            <a:avLst/>
          </a:prstGeom>
          <a:solidFill>
            <a:srgbClr val="B05F3A"/>
          </a:solidFill>
          <a:ln/>
        </p:spPr>
      </p:sp>
      <p:sp>
        <p:nvSpPr>
          <p:cNvPr id="31" name="Text 29"/>
          <p:cNvSpPr txBox="1"/>
          <p:nvPr/>
        </p:nvSpPr>
        <p:spPr>
          <a:xfrm>
            <a:off x="868680" y="5623560"/>
            <a:ext cx="10728655" cy="365760"/>
          </a:xfrm>
          <a:prstGeom prst="rect">
            <a:avLst/>
          </a:prstGeom>
          <a:noFill/>
          <a:ln/>
        </p:spPr>
        <p:txBody>
          <a:bodyPr wrap="square" lIns="0" tIns="0" rIns="0" bIns="0" rtlCol="0" anchor="ctr"/>
          <a:lstStyle/>
          <a:p>
            <a:pPr indent="0" marL="0">
              <a:buNone/>
            </a:pPr>
            <a:r>
              <a:rPr lang="en-US" sz="1250" b="1" dirty="0">
                <a:solidFill>
                  <a:srgbClr val="12212E"/>
                </a:solidFill>
                <a:latin typeface="Calibri" pitchFamily="34" charset="0"/>
                <a:ea typeface="Calibri" pitchFamily="34" charset="-122"/>
                <a:cs typeface="Calibri" pitchFamily="34" charset="-120"/>
              </a:rPr>
              <a:t>Une note de 1 sur ces compétences, ou sur le bloc Expertise fonctionnelle, arrête le processus. Elles ne se rattrapent pas par la formation.</a:t>
            </a:r>
            <a:endParaRPr lang="en-US" sz="1250" dirty="0"/>
          </a:p>
        </p:txBody>
      </p:sp>
      <p:sp>
        <p:nvSpPr>
          <p:cNvPr id="32" name="Text 3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Six compétences retenues sur les trente-huit du référentiel.</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CORRECTION DU DISPOSITIF</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l'expertise technique est évaluée par Hervé</a:t>
            </a:r>
            <a:endParaRPr lang="en-US" sz="3300" dirty="0"/>
          </a:p>
        </p:txBody>
      </p:sp>
      <p:sp>
        <p:nvSpPr>
          <p:cNvPr id="4" name="Shape 2"/>
          <p:cNvSpPr/>
          <p:nvPr/>
        </p:nvSpPr>
        <p:spPr>
          <a:xfrm>
            <a:off x="594360" y="1737360"/>
            <a:ext cx="5318608" cy="2286000"/>
          </a:xfrm>
          <a:prstGeom prst="roundRect">
            <a:avLst>
              <a:gd name="adj" fmla="val 2400"/>
            </a:avLst>
          </a:prstGeom>
          <a:solidFill>
            <a:srgbClr val="F2F5F8"/>
          </a:solidFill>
          <a:ln/>
        </p:spPr>
      </p:sp>
      <p:sp>
        <p:nvSpPr>
          <p:cNvPr id="5" name="Text 3"/>
          <p:cNvSpPr txBox="1"/>
          <p:nvPr/>
        </p:nvSpPr>
        <p:spPr>
          <a:xfrm>
            <a:off x="868680" y="1938528"/>
            <a:ext cx="4769968" cy="310896"/>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Ce que Milène peut évaluer</a:t>
            </a:r>
            <a:endParaRPr lang="en-US" sz="1400" dirty="0"/>
          </a:p>
        </p:txBody>
      </p:sp>
      <p:sp>
        <p:nvSpPr>
          <p:cNvPr id="6" name="Text 4"/>
          <p:cNvSpPr txBox="1"/>
          <p:nvPr/>
        </p:nvSpPr>
        <p:spPr>
          <a:xfrm>
            <a:off x="868680"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Les trois compétences de l'étape 3 sont comportementales.</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La méthode note l'approche décrite par le candidat, les étapes qu'il a suivies et ce qu'il en a tiré. Pas l'exactitude juridique de sa conclusion.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Sur Être orienté client, l'office manager est même le meilleur observateur du cabinet : elle voit chaque jour comment les clients sont réellement traités.</a:t>
            </a:r>
            <a:endParaRPr lang="en-US" sz="1250" dirty="0"/>
          </a:p>
        </p:txBody>
      </p:sp>
      <p:sp>
        <p:nvSpPr>
          <p:cNvPr id="7" name="Shape 5"/>
          <p:cNvSpPr/>
          <p:nvPr/>
        </p:nvSpPr>
        <p:spPr>
          <a:xfrm>
            <a:off x="6278728" y="1737360"/>
            <a:ext cx="5318608" cy="2286000"/>
          </a:xfrm>
          <a:prstGeom prst="roundRect">
            <a:avLst>
              <a:gd name="adj" fmla="val 2400"/>
            </a:avLst>
          </a:prstGeom>
          <a:solidFill>
            <a:srgbClr val="FBF1EC"/>
          </a:solidFill>
          <a:ln/>
        </p:spPr>
      </p:sp>
      <p:sp>
        <p:nvSpPr>
          <p:cNvPr id="8" name="Text 6"/>
          <p:cNvSpPr txBox="1"/>
          <p:nvPr/>
        </p:nvSpPr>
        <p:spPr>
          <a:xfrm>
            <a:off x="6553048" y="1938528"/>
            <a:ext cx="4769968" cy="310896"/>
          </a:xfrm>
          <a:prstGeom prst="rect">
            <a:avLst/>
          </a:prstGeom>
          <a:noFill/>
          <a:ln/>
        </p:spPr>
        <p:txBody>
          <a:bodyPr wrap="square" lIns="0" tIns="0" rIns="0" bIns="0" rtlCol="0" anchor="ctr"/>
          <a:lstStyle/>
          <a:p>
            <a:pPr indent="0" marL="0">
              <a:buNone/>
            </a:pPr>
            <a:r>
              <a:rPr lang="en-US" sz="1400" b="1" dirty="0">
                <a:solidFill>
                  <a:srgbClr val="B05F3A"/>
                </a:solidFill>
                <a:latin typeface="Calibri" pitchFamily="34" charset="0"/>
                <a:ea typeface="Calibri" pitchFamily="34" charset="-122"/>
                <a:cs typeface="Calibri" pitchFamily="34" charset="-120"/>
              </a:rPr>
              <a:t>Ce qu'elle ne peut pas évaluer</a:t>
            </a:r>
            <a:endParaRPr lang="en-US" sz="1400" dirty="0"/>
          </a:p>
        </p:txBody>
      </p:sp>
      <p:sp>
        <p:nvSpPr>
          <p:cNvPr id="9" name="Text 7"/>
          <p:cNvSpPr txBox="1"/>
          <p:nvPr/>
        </p:nvSpPr>
        <p:spPr>
          <a:xfrm>
            <a:off x="6553048"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L'expertise fonctionnelle est le seul bloc qui exige de l'intervieweur qu'il maîtrise la matière.</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Savoir si un candidat lit correctement un rapport d'expertise médicale, s'il chiffre un poste de préjudice selon la bonne méthode, si son arbitrage entre transaction et contentieux tient : cela suppose de connaître la réponse.</a:t>
            </a:r>
            <a:endParaRPr lang="en-US" sz="1250" dirty="0"/>
          </a:p>
        </p:txBody>
      </p:sp>
      <p:sp>
        <p:nvSpPr>
          <p:cNvPr id="10" name="Shape 8"/>
          <p:cNvSpPr/>
          <p:nvPr/>
        </p:nvSpPr>
        <p:spPr>
          <a:xfrm>
            <a:off x="594360" y="4251960"/>
            <a:ext cx="11002975" cy="1051560"/>
          </a:xfrm>
          <a:prstGeom prst="roundRect">
            <a:avLst>
              <a:gd name="adj" fmla="val 5217"/>
            </a:avLst>
          </a:prstGeom>
          <a:solidFill>
            <a:srgbClr val="12212E"/>
          </a:solidFill>
          <a:ln/>
        </p:spPr>
      </p:sp>
      <p:sp>
        <p:nvSpPr>
          <p:cNvPr id="11" name="Text 9"/>
          <p:cNvSpPr txBox="1"/>
          <p:nvPr/>
        </p:nvSpPr>
        <p:spPr>
          <a:xfrm>
            <a:off x="1005840" y="4480560"/>
            <a:ext cx="10180015" cy="640080"/>
          </a:xfrm>
          <a:prstGeom prst="rect">
            <a:avLst/>
          </a:prstGeom>
          <a:noFill/>
          <a:ln/>
        </p:spPr>
        <p:txBody>
          <a:bodyPr wrap="square" lIns="0" tIns="0" rIns="0" bIns="0" rtlCol="0" anchor="t"/>
          <a:lstStyle/>
          <a:p>
            <a:pPr indent="0" marL="0">
              <a:lnSpc>
                <a:spcPts val="2400"/>
              </a:lnSpc>
              <a:buNone/>
            </a:pPr>
            <a:r>
              <a:rPr lang="en-US" sz="1600" b="1" dirty="0">
                <a:solidFill>
                  <a:srgbClr val="FFFFFF"/>
                </a:solidFill>
                <a:latin typeface="Cambria" pitchFamily="34" charset="0"/>
                <a:ea typeface="Cambria" pitchFamily="34" charset="-122"/>
                <a:cs typeface="Cambria" pitchFamily="34" charset="-120"/>
              </a:rPr>
              <a:t>Une note produite par quelqu'un qui ne peut pas juger du fond n'est pas une évaluation prudente. C'est une évaluation fausse habillée en méthode, et c'est plus dangereux qu'une absence de note.</a:t>
            </a:r>
            <a:endParaRPr lang="en-US" sz="1600" dirty="0"/>
          </a:p>
        </p:txBody>
      </p:sp>
      <p:sp>
        <p:nvSpPr>
          <p:cNvPr id="12" name="Text 10"/>
          <p:cNvSpPr txBox="1"/>
          <p:nvPr/>
        </p:nvSpPr>
        <p:spPr>
          <a:xfrm>
            <a:off x="594360" y="5486400"/>
            <a:ext cx="11002975" cy="64008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 bloc est donc passé à l'étape 4. L'étape 4 monte à 90 minutes, l'étape 3 descend à 60. Et l'étape 1 gagne trois questions techniques consignées mot à mot, qu'Hervé relit en dix minutes, pour ne pas découvrir un problème technique au quatrième entretien.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Hervé, ce que le plan attend de vous</a:t>
            </a:r>
            <a:endParaRPr lang="en-US" sz="3300" dirty="0"/>
          </a:p>
        </p:txBody>
      </p:sp>
      <p:sp>
        <p:nvSpPr>
          <p:cNvPr id="4" name="Shape 2"/>
          <p:cNvSpPr/>
          <p:nvPr/>
        </p:nvSpPr>
        <p:spPr>
          <a:xfrm>
            <a:off x="594360" y="1737360"/>
            <a:ext cx="11002975" cy="786384"/>
          </a:xfrm>
          <a:prstGeom prst="roundRect">
            <a:avLst>
              <a:gd name="adj" fmla="val 6977"/>
            </a:avLst>
          </a:prstGeom>
          <a:solidFill>
            <a:srgbClr val="F2F5F8"/>
          </a:solidFill>
          <a:ln/>
        </p:spPr>
      </p:sp>
      <p:sp>
        <p:nvSpPr>
          <p:cNvPr id="5" name="Text 3"/>
          <p:cNvSpPr txBox="1"/>
          <p:nvPr/>
        </p:nvSpPr>
        <p:spPr>
          <a:xfrm>
            <a:off x="868680" y="1865376"/>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Avant le lancement</a:t>
            </a:r>
            <a:endParaRPr lang="en-US" sz="1300" dirty="0"/>
          </a:p>
        </p:txBody>
      </p:sp>
      <p:sp>
        <p:nvSpPr>
          <p:cNvPr id="6" name="Text 4"/>
          <p:cNvSpPr txBox="1"/>
          <p:nvPr/>
        </p:nvSpPr>
        <p:spPr>
          <a:xfrm>
            <a:off x="3429000" y="1865376"/>
            <a:ext cx="6339535" cy="548640"/>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Écrire le protocole d'association, cinq réponses. Trancher le statut et la fourchette de rémunération.</a:t>
            </a:r>
            <a:endParaRPr lang="en-US" sz="1200" dirty="0"/>
          </a:p>
        </p:txBody>
      </p:sp>
      <p:sp>
        <p:nvSpPr>
          <p:cNvPr id="7" name="Text 5"/>
          <p:cNvSpPr txBox="1"/>
          <p:nvPr/>
        </p:nvSpPr>
        <p:spPr>
          <a:xfrm>
            <a:off x="9814255" y="1865376"/>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2 à 3 heures</a:t>
            </a:r>
            <a:endParaRPr lang="en-US" sz="1100" dirty="0"/>
          </a:p>
        </p:txBody>
      </p:sp>
      <p:sp>
        <p:nvSpPr>
          <p:cNvPr id="8" name="Shape 6"/>
          <p:cNvSpPr/>
          <p:nvPr/>
        </p:nvSpPr>
        <p:spPr>
          <a:xfrm>
            <a:off x="594360" y="2633472"/>
            <a:ext cx="11002975" cy="786384"/>
          </a:xfrm>
          <a:prstGeom prst="roundRect">
            <a:avLst>
              <a:gd name="adj" fmla="val 6977"/>
            </a:avLst>
          </a:prstGeom>
          <a:solidFill>
            <a:srgbClr val="F2F5F8"/>
          </a:solidFill>
          <a:ln/>
        </p:spPr>
      </p:sp>
      <p:sp>
        <p:nvSpPr>
          <p:cNvPr id="9" name="Text 7"/>
          <p:cNvSpPr txBox="1"/>
          <p:nvPr/>
        </p:nvSpPr>
        <p:spPr>
          <a:xfrm>
            <a:off x="868680" y="2761488"/>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Semaine 1</a:t>
            </a:r>
            <a:endParaRPr lang="en-US" sz="1300" dirty="0"/>
          </a:p>
        </p:txBody>
      </p:sp>
      <p:sp>
        <p:nvSpPr>
          <p:cNvPr id="10" name="Text 8"/>
          <p:cNvSpPr txBox="1"/>
          <p:nvPr/>
        </p:nvSpPr>
        <p:spPr>
          <a:xfrm>
            <a:off x="3429000" y="2761488"/>
            <a:ext cx="6339535" cy="548640"/>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Dresser la liste des avocats que vous avez affrontés et que vous jugez bons. Signer les courriers aux bâtonniers.</a:t>
            </a:r>
            <a:endParaRPr lang="en-US" sz="1200" dirty="0"/>
          </a:p>
        </p:txBody>
      </p:sp>
      <p:sp>
        <p:nvSpPr>
          <p:cNvPr id="11" name="Text 9"/>
          <p:cNvSpPr txBox="1"/>
          <p:nvPr/>
        </p:nvSpPr>
        <p:spPr>
          <a:xfrm>
            <a:off x="9814255" y="2761488"/>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1 heure + signatures</a:t>
            </a:r>
            <a:endParaRPr lang="en-US" sz="1100" dirty="0"/>
          </a:p>
        </p:txBody>
      </p:sp>
      <p:sp>
        <p:nvSpPr>
          <p:cNvPr id="12" name="Shape 10"/>
          <p:cNvSpPr/>
          <p:nvPr/>
        </p:nvSpPr>
        <p:spPr>
          <a:xfrm>
            <a:off x="594360" y="3529584"/>
            <a:ext cx="11002975" cy="786384"/>
          </a:xfrm>
          <a:prstGeom prst="roundRect">
            <a:avLst>
              <a:gd name="adj" fmla="val 6977"/>
            </a:avLst>
          </a:prstGeom>
          <a:solidFill>
            <a:srgbClr val="F2F5F8"/>
          </a:solidFill>
          <a:ln/>
        </p:spPr>
      </p:sp>
      <p:sp>
        <p:nvSpPr>
          <p:cNvPr id="13" name="Text 11"/>
          <p:cNvSpPr txBox="1"/>
          <p:nvPr/>
        </p:nvSpPr>
        <p:spPr>
          <a:xfrm>
            <a:off x="868680" y="3657600"/>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À chaque candidat</a:t>
            </a:r>
            <a:endParaRPr lang="en-US" sz="1300" dirty="0"/>
          </a:p>
        </p:txBody>
      </p:sp>
      <p:sp>
        <p:nvSpPr>
          <p:cNvPr id="14" name="Text 12"/>
          <p:cNvSpPr txBox="1"/>
          <p:nvPr/>
        </p:nvSpPr>
        <p:spPr>
          <a:xfrm>
            <a:off x="3429000" y="3657600"/>
            <a:ext cx="6339535" cy="548640"/>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Relire les trois réponses techniques consignées à l'étape 1 et rendre un avis.</a:t>
            </a:r>
            <a:endParaRPr lang="en-US" sz="1200" dirty="0"/>
          </a:p>
        </p:txBody>
      </p:sp>
      <p:sp>
        <p:nvSpPr>
          <p:cNvPr id="15" name="Text 13"/>
          <p:cNvSpPr txBox="1"/>
          <p:nvPr/>
        </p:nvSpPr>
        <p:spPr>
          <a:xfrm>
            <a:off x="9814255" y="3657600"/>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10 minutes</a:t>
            </a:r>
            <a:endParaRPr lang="en-US" sz="1100" dirty="0"/>
          </a:p>
        </p:txBody>
      </p:sp>
      <p:sp>
        <p:nvSpPr>
          <p:cNvPr id="16" name="Shape 14"/>
          <p:cNvSpPr/>
          <p:nvPr/>
        </p:nvSpPr>
        <p:spPr>
          <a:xfrm>
            <a:off x="594360" y="4425696"/>
            <a:ext cx="11002975" cy="786384"/>
          </a:xfrm>
          <a:prstGeom prst="roundRect">
            <a:avLst>
              <a:gd name="adj" fmla="val 6977"/>
            </a:avLst>
          </a:prstGeom>
          <a:solidFill>
            <a:srgbClr val="F2F5F8"/>
          </a:solidFill>
          <a:ln/>
        </p:spPr>
      </p:sp>
      <p:sp>
        <p:nvSpPr>
          <p:cNvPr id="17" name="Text 15"/>
          <p:cNvSpPr txBox="1"/>
          <p:nvPr/>
        </p:nvSpPr>
        <p:spPr>
          <a:xfrm>
            <a:off x="868680" y="4553712"/>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Semaine 4</a:t>
            </a:r>
            <a:endParaRPr lang="en-US" sz="1300" dirty="0"/>
          </a:p>
        </p:txBody>
      </p:sp>
      <p:sp>
        <p:nvSpPr>
          <p:cNvPr id="18" name="Text 16"/>
          <p:cNvSpPr txBox="1"/>
          <p:nvPr/>
        </p:nvSpPr>
        <p:spPr>
          <a:xfrm>
            <a:off x="3429000" y="4553712"/>
            <a:ext cx="6339535" cy="548640"/>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Une heure de calibration avec Gregory et Milène sur la grille de notation.</a:t>
            </a:r>
            <a:endParaRPr lang="en-US" sz="1200" dirty="0"/>
          </a:p>
        </p:txBody>
      </p:sp>
      <p:sp>
        <p:nvSpPr>
          <p:cNvPr id="19" name="Text 17"/>
          <p:cNvSpPr txBox="1"/>
          <p:nvPr/>
        </p:nvSpPr>
        <p:spPr>
          <a:xfrm>
            <a:off x="9814255" y="4553712"/>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1 heure</a:t>
            </a:r>
            <a:endParaRPr lang="en-US" sz="1100" dirty="0"/>
          </a:p>
        </p:txBody>
      </p:sp>
      <p:sp>
        <p:nvSpPr>
          <p:cNvPr id="20" name="Shape 18"/>
          <p:cNvSpPr/>
          <p:nvPr/>
        </p:nvSpPr>
        <p:spPr>
          <a:xfrm>
            <a:off x="594360" y="5321808"/>
            <a:ext cx="11002975" cy="786384"/>
          </a:xfrm>
          <a:prstGeom prst="roundRect">
            <a:avLst>
              <a:gd name="adj" fmla="val 6977"/>
            </a:avLst>
          </a:prstGeom>
          <a:solidFill>
            <a:srgbClr val="F2F5F8"/>
          </a:solidFill>
          <a:ln/>
        </p:spPr>
      </p:sp>
      <p:sp>
        <p:nvSpPr>
          <p:cNvPr id="21" name="Text 19"/>
          <p:cNvSpPr txBox="1"/>
          <p:nvPr/>
        </p:nvSpPr>
        <p:spPr>
          <a:xfrm>
            <a:off x="868680" y="5449824"/>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Étape 4</a:t>
            </a:r>
            <a:endParaRPr lang="en-US" sz="1300" dirty="0"/>
          </a:p>
        </p:txBody>
      </p:sp>
      <p:sp>
        <p:nvSpPr>
          <p:cNvPr id="22" name="Text 20"/>
          <p:cNvSpPr txBox="1"/>
          <p:nvPr/>
        </p:nvSpPr>
        <p:spPr>
          <a:xfrm>
            <a:off x="3429000" y="5449824"/>
            <a:ext cx="6339535" cy="548640"/>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Conduire l'entretien de 90 minutes. Contredire délibérément le candidat une fois, sur un point où il a raison, et regarder ce qu'il fait.</a:t>
            </a:r>
            <a:endParaRPr lang="en-US" sz="1200" dirty="0"/>
          </a:p>
        </p:txBody>
      </p:sp>
      <p:sp>
        <p:nvSpPr>
          <p:cNvPr id="23" name="Text 21"/>
          <p:cNvSpPr txBox="1"/>
          <p:nvPr/>
        </p:nvSpPr>
        <p:spPr>
          <a:xfrm>
            <a:off x="9814255" y="5449824"/>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90 min par finaliste</a:t>
            </a:r>
            <a:endParaRPr lang="en-US" sz="1100" dirty="0"/>
          </a:p>
        </p:txBody>
      </p:sp>
      <p:sp>
        <p:nvSpPr>
          <p:cNvPr id="24" name="Text 22"/>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Vous ne rencontrez le candidat qu'une fois, avant de décider de vous associer pour vingt ans. Les notes des trois étapes précédentes vous parviennent avant, par écrit.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Milène, ce que le plan attend de vous</a:t>
            </a:r>
            <a:endParaRPr lang="en-US" sz="3300" dirty="0"/>
          </a:p>
        </p:txBody>
      </p:sp>
      <p:sp>
        <p:nvSpPr>
          <p:cNvPr id="4" name="Shape 2"/>
          <p:cNvSpPr/>
          <p:nvPr/>
        </p:nvSpPr>
        <p:spPr>
          <a:xfrm>
            <a:off x="594360" y="1783080"/>
            <a:ext cx="11002975" cy="868680"/>
          </a:xfrm>
          <a:prstGeom prst="roundRect">
            <a:avLst>
              <a:gd name="adj" fmla="val 6316"/>
            </a:avLst>
          </a:prstGeom>
          <a:solidFill>
            <a:srgbClr val="F2F5F8"/>
          </a:solidFill>
          <a:ln/>
        </p:spPr>
      </p:sp>
      <p:sp>
        <p:nvSpPr>
          <p:cNvPr id="5" name="Text 3"/>
          <p:cNvSpPr txBox="1"/>
          <p:nvPr/>
        </p:nvSpPr>
        <p:spPr>
          <a:xfrm>
            <a:off x="868680" y="1947672"/>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Semaine 4</a:t>
            </a:r>
            <a:endParaRPr lang="en-US" sz="1300" dirty="0"/>
          </a:p>
        </p:txBody>
      </p:sp>
      <p:sp>
        <p:nvSpPr>
          <p:cNvPr id="6" name="Text 4"/>
          <p:cNvSpPr txBox="1"/>
          <p:nvPr/>
        </p:nvSpPr>
        <p:spPr>
          <a:xfrm>
            <a:off x="3429000" y="1947672"/>
            <a:ext cx="6339535" cy="566928"/>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Une heure de calibration avec Gregory et Hervé sur la grille de notation.</a:t>
            </a:r>
            <a:endParaRPr lang="en-US" sz="1200" dirty="0"/>
          </a:p>
        </p:txBody>
      </p:sp>
      <p:sp>
        <p:nvSpPr>
          <p:cNvPr id="7" name="Text 5"/>
          <p:cNvSpPr txBox="1"/>
          <p:nvPr/>
        </p:nvSpPr>
        <p:spPr>
          <a:xfrm>
            <a:off x="9814255" y="1947672"/>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1 heure</a:t>
            </a:r>
            <a:endParaRPr lang="en-US" sz="1100" dirty="0"/>
          </a:p>
        </p:txBody>
      </p:sp>
      <p:sp>
        <p:nvSpPr>
          <p:cNvPr id="8" name="Shape 6"/>
          <p:cNvSpPr/>
          <p:nvPr/>
        </p:nvSpPr>
        <p:spPr>
          <a:xfrm>
            <a:off x="594360" y="2761488"/>
            <a:ext cx="11002975" cy="868680"/>
          </a:xfrm>
          <a:prstGeom prst="roundRect">
            <a:avLst>
              <a:gd name="adj" fmla="val 6316"/>
            </a:avLst>
          </a:prstGeom>
          <a:solidFill>
            <a:srgbClr val="F2F5F8"/>
          </a:solidFill>
          <a:ln/>
        </p:spPr>
      </p:sp>
      <p:sp>
        <p:nvSpPr>
          <p:cNvPr id="9" name="Text 7"/>
          <p:cNvSpPr txBox="1"/>
          <p:nvPr/>
        </p:nvSpPr>
        <p:spPr>
          <a:xfrm>
            <a:off x="868680" y="2926080"/>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Étape 3</a:t>
            </a:r>
            <a:endParaRPr lang="en-US" sz="1300" dirty="0"/>
          </a:p>
        </p:txBody>
      </p:sp>
      <p:sp>
        <p:nvSpPr>
          <p:cNvPr id="10" name="Text 8"/>
          <p:cNvSpPr txBox="1"/>
          <p:nvPr/>
        </p:nvSpPr>
        <p:spPr>
          <a:xfrm>
            <a:off x="3429000" y="2926080"/>
            <a:ext cx="6339535" cy="566928"/>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Conduire l'entretien de 60 minutes sur trois compétences : gérer la complexité, être orienté client, être résilient.</a:t>
            </a:r>
            <a:endParaRPr lang="en-US" sz="1200" dirty="0"/>
          </a:p>
        </p:txBody>
      </p:sp>
      <p:sp>
        <p:nvSpPr>
          <p:cNvPr id="11" name="Text 9"/>
          <p:cNvSpPr txBox="1"/>
          <p:nvPr/>
        </p:nvSpPr>
        <p:spPr>
          <a:xfrm>
            <a:off x="9814255" y="2926080"/>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60 min par candidat</a:t>
            </a:r>
            <a:endParaRPr lang="en-US" sz="1100" dirty="0"/>
          </a:p>
        </p:txBody>
      </p:sp>
      <p:sp>
        <p:nvSpPr>
          <p:cNvPr id="12" name="Shape 10"/>
          <p:cNvSpPr/>
          <p:nvPr/>
        </p:nvSpPr>
        <p:spPr>
          <a:xfrm>
            <a:off x="594360" y="3739896"/>
            <a:ext cx="11002975" cy="868680"/>
          </a:xfrm>
          <a:prstGeom prst="roundRect">
            <a:avLst>
              <a:gd name="adj" fmla="val 6316"/>
            </a:avLst>
          </a:prstGeom>
          <a:solidFill>
            <a:srgbClr val="F2F5F8"/>
          </a:solidFill>
          <a:ln/>
        </p:spPr>
      </p:sp>
      <p:sp>
        <p:nvSpPr>
          <p:cNvPr id="13" name="Text 11"/>
          <p:cNvSpPr txBox="1"/>
          <p:nvPr/>
        </p:nvSpPr>
        <p:spPr>
          <a:xfrm>
            <a:off x="868680" y="3904488"/>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Étape 4, finalistes</a:t>
            </a:r>
            <a:endParaRPr lang="en-US" sz="1300" dirty="0"/>
          </a:p>
        </p:txBody>
      </p:sp>
      <p:sp>
        <p:nvSpPr>
          <p:cNvPr id="14" name="Text 12"/>
          <p:cNvSpPr txBox="1"/>
          <p:nvPr/>
        </p:nvSpPr>
        <p:spPr>
          <a:xfrm>
            <a:off x="3429000" y="3904488"/>
            <a:ext cx="6339535" cy="566928"/>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Assister en observatrice silencieuse à l'entretien d'Hervé. Ne poser aucune question. Noter seule.</a:t>
            </a:r>
            <a:endParaRPr lang="en-US" sz="1200" dirty="0"/>
          </a:p>
        </p:txBody>
      </p:sp>
      <p:sp>
        <p:nvSpPr>
          <p:cNvPr id="15" name="Text 13"/>
          <p:cNvSpPr txBox="1"/>
          <p:nvPr/>
        </p:nvSpPr>
        <p:spPr>
          <a:xfrm>
            <a:off x="9814255" y="3904488"/>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90 min par finaliste</a:t>
            </a:r>
            <a:endParaRPr lang="en-US" sz="1100" dirty="0"/>
          </a:p>
        </p:txBody>
      </p:sp>
      <p:sp>
        <p:nvSpPr>
          <p:cNvPr id="16" name="Shape 14"/>
          <p:cNvSpPr/>
          <p:nvPr/>
        </p:nvSpPr>
        <p:spPr>
          <a:xfrm>
            <a:off x="594360" y="4718304"/>
            <a:ext cx="11002975" cy="868680"/>
          </a:xfrm>
          <a:prstGeom prst="roundRect">
            <a:avLst>
              <a:gd name="adj" fmla="val 6316"/>
            </a:avLst>
          </a:prstGeom>
          <a:solidFill>
            <a:srgbClr val="F2F5F8"/>
          </a:solidFill>
          <a:ln/>
        </p:spPr>
      </p:sp>
      <p:sp>
        <p:nvSpPr>
          <p:cNvPr id="17" name="Text 15"/>
          <p:cNvSpPr txBox="1"/>
          <p:nvPr/>
        </p:nvSpPr>
        <p:spPr>
          <a:xfrm>
            <a:off x="868680" y="4882896"/>
            <a:ext cx="237744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Réunion de décision</a:t>
            </a:r>
            <a:endParaRPr lang="en-US" sz="1300" dirty="0"/>
          </a:p>
        </p:txBody>
      </p:sp>
      <p:sp>
        <p:nvSpPr>
          <p:cNvPr id="18" name="Text 16"/>
          <p:cNvSpPr txBox="1"/>
          <p:nvPr/>
        </p:nvSpPr>
        <p:spPr>
          <a:xfrm>
            <a:off x="3429000" y="4882896"/>
            <a:ext cx="6339535" cy="566928"/>
          </a:xfrm>
          <a:prstGeom prst="rect">
            <a:avLst/>
          </a:prstGeom>
          <a:noFill/>
          <a:ln/>
        </p:spPr>
        <p:txBody>
          <a:bodyPr wrap="square" lIns="0" tIns="0" rIns="0" bIns="0" rtlCol="0" anchor="t"/>
          <a:lstStyle/>
          <a:p>
            <a:pPr indent="0" marL="0">
              <a:lnSpc>
                <a:spcPts val="1600"/>
              </a:lnSpc>
              <a:buNone/>
            </a:pPr>
            <a:r>
              <a:rPr lang="en-US" sz="1200" dirty="0">
                <a:solidFill>
                  <a:srgbClr val="12212E"/>
                </a:solidFill>
                <a:latin typeface="Calibri" pitchFamily="34" charset="0"/>
                <a:ea typeface="Calibri" pitchFamily="34" charset="-122"/>
                <a:cs typeface="Calibri" pitchFamily="34" charset="-120"/>
              </a:rPr>
              <a:t>Donner votre note et votre recommandation avant toute discussion.</a:t>
            </a:r>
            <a:endParaRPr lang="en-US" sz="1200" dirty="0"/>
          </a:p>
        </p:txBody>
      </p:sp>
      <p:sp>
        <p:nvSpPr>
          <p:cNvPr id="19" name="Text 17"/>
          <p:cNvSpPr txBox="1"/>
          <p:nvPr/>
        </p:nvSpPr>
        <p:spPr>
          <a:xfrm>
            <a:off x="9814255" y="4882896"/>
            <a:ext cx="155448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1 heure</a:t>
            </a:r>
            <a:endParaRPr lang="en-US" sz="1100" dirty="0"/>
          </a:p>
        </p:txBody>
      </p:sp>
      <p:sp>
        <p:nvSpPr>
          <p:cNvPr id="20" name="Shape 18"/>
          <p:cNvSpPr/>
          <p:nvPr/>
        </p:nvSpPr>
        <p:spPr>
          <a:xfrm>
            <a:off x="594360" y="5532120"/>
            <a:ext cx="11002975" cy="685800"/>
          </a:xfrm>
          <a:prstGeom prst="roundRect">
            <a:avLst>
              <a:gd name="adj" fmla="val 8000"/>
            </a:avLst>
          </a:prstGeom>
          <a:solidFill>
            <a:srgbClr val="12212E"/>
          </a:solidFill>
          <a:ln/>
        </p:spPr>
      </p:sp>
      <p:sp>
        <p:nvSpPr>
          <p:cNvPr id="21" name="Text 19"/>
          <p:cNvSpPr txBox="1"/>
          <p:nvPr/>
        </p:nvSpPr>
        <p:spPr>
          <a:xfrm>
            <a:off x="960120" y="5687568"/>
            <a:ext cx="10271455" cy="41148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Vous n'avez pas à juger le droit. Vous notez ce que le candidat a fait, comment il s'y est pris, et ce qu'il en a tiré. Le guide vous donne les questions et les comportements à observer.</a:t>
            </a:r>
            <a:endParaRPr lang="en-US" sz="1300" dirty="0"/>
          </a:p>
        </p:txBody>
      </p:sp>
      <p:sp>
        <p:nvSpPr>
          <p:cNvPr id="22" name="Text 2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 guide d'entretien vous est remis imprimé avant le premier candidat.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NOTATION</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Deux règles qui rendent la grille fiable</a:t>
            </a:r>
            <a:endParaRPr lang="en-US" sz="3300" dirty="0"/>
          </a:p>
        </p:txBody>
      </p:sp>
      <p:sp>
        <p:nvSpPr>
          <p:cNvPr id="4" name="Text 2"/>
          <p:cNvSpPr txBox="1"/>
          <p:nvPr/>
        </p:nvSpPr>
        <p:spPr>
          <a:xfrm>
            <a:off x="594360" y="1645920"/>
            <a:ext cx="11002975" cy="548640"/>
          </a:xfrm>
          <a:prstGeom prst="rect">
            <a:avLst/>
          </a:prstGeom>
          <a:noFill/>
          <a:ln/>
        </p:spPr>
        <p:txBody>
          <a:bodyPr wrap="square" lIns="0" tIns="0" rIns="0" bIns="0" rtlCol="0" anchor="t"/>
          <a:lstStyle/>
          <a:p>
            <a:pPr indent="0" marL="0">
              <a:lnSpc>
                <a:spcPts val="2000"/>
              </a:lnSpc>
              <a:buNone/>
            </a:pPr>
            <a:r>
              <a:rPr lang="en-US" sz="1400" dirty="0">
                <a:solidFill>
                  <a:srgbClr val="5A6673"/>
                </a:solidFill>
                <a:latin typeface="Calibri" pitchFamily="34" charset="0"/>
                <a:ea typeface="Calibri" pitchFamily="34" charset="-122"/>
                <a:cs typeface="Calibri" pitchFamily="34" charset="-120"/>
              </a:rPr>
              <a:t>Le dispositif ne compte qu'un intervieweur par étape. Un entretien noté par une seule personne mesure autant l'intervieweur que le candidat, et rien ne permet de faire la part des deux.</a:t>
            </a:r>
            <a:endParaRPr lang="en-US" sz="1400" dirty="0"/>
          </a:p>
        </p:txBody>
      </p:sp>
      <p:sp>
        <p:nvSpPr>
          <p:cNvPr id="5" name="Shape 3"/>
          <p:cNvSpPr/>
          <p:nvPr/>
        </p:nvSpPr>
        <p:spPr>
          <a:xfrm>
            <a:off x="594360" y="2286000"/>
            <a:ext cx="5318608" cy="3017520"/>
          </a:xfrm>
          <a:prstGeom prst="roundRect">
            <a:avLst>
              <a:gd name="adj" fmla="val 1818"/>
            </a:avLst>
          </a:prstGeom>
          <a:solidFill>
            <a:srgbClr val="F2F5F8"/>
          </a:solidFill>
          <a:ln/>
        </p:spPr>
      </p:sp>
      <p:sp>
        <p:nvSpPr>
          <p:cNvPr id="6" name="Shape 4"/>
          <p:cNvSpPr/>
          <p:nvPr/>
        </p:nvSpPr>
        <p:spPr>
          <a:xfrm>
            <a:off x="868680" y="2514600"/>
            <a:ext cx="457200" cy="457200"/>
          </a:xfrm>
          <a:prstGeom prst="ellipse">
            <a:avLst/>
          </a:prstGeom>
          <a:solidFill>
            <a:srgbClr val="1F4B7A"/>
          </a:solidFill>
          <a:ln/>
        </p:spPr>
      </p:sp>
      <p:sp>
        <p:nvSpPr>
          <p:cNvPr id="7" name="Text 5"/>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68680"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Calibration préalable</a:t>
            </a:r>
            <a:endParaRPr lang="en-US" sz="2000" dirty="0"/>
          </a:p>
        </p:txBody>
      </p:sp>
      <p:sp>
        <p:nvSpPr>
          <p:cNvPr id="9" name="Text 7"/>
          <p:cNvSpPr txBox="1"/>
          <p:nvPr/>
        </p:nvSpPr>
        <p:spPr>
          <a:xfrm>
            <a:off x="868680"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Une heure, tous les trois ensemble, avant le premier candidat. Chacun note un même cas fictif, seul, puis on compare.</a:t>
            </a:r>
            <a:endParaRPr lang="en-US" sz="1250" dirty="0"/>
          </a:p>
        </p:txBody>
      </p:sp>
      <p:sp>
        <p:nvSpPr>
          <p:cNvPr id="10" name="Text 8"/>
          <p:cNvSpPr txBox="1"/>
          <p:nvPr/>
        </p:nvSpPr>
        <p:spPr>
          <a:xfrm>
            <a:off x="868680"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L'objectif n'est pas de tomber d'accord sur la note. Il est de voir où nos échelles divergent. Sans cette heure, un 3 de Milène ne vaut pas un 3 d'Hervé.</a:t>
            </a:r>
            <a:endParaRPr lang="en-US" sz="1150" dirty="0"/>
          </a:p>
        </p:txBody>
      </p:sp>
      <p:sp>
        <p:nvSpPr>
          <p:cNvPr id="11" name="Text 9"/>
          <p:cNvSpPr txBox="1"/>
          <p:nvPr/>
        </p:nvSpPr>
        <p:spPr>
          <a:xfrm>
            <a:off x="4221328"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 4</a:t>
            </a:r>
            <a:endParaRPr lang="en-US" sz="1100" dirty="0"/>
          </a:p>
        </p:txBody>
      </p:sp>
      <p:sp>
        <p:nvSpPr>
          <p:cNvPr id="12" name="Shape 10"/>
          <p:cNvSpPr/>
          <p:nvPr/>
        </p:nvSpPr>
        <p:spPr>
          <a:xfrm>
            <a:off x="6278728" y="2286000"/>
            <a:ext cx="5318608" cy="3017520"/>
          </a:xfrm>
          <a:prstGeom prst="roundRect">
            <a:avLst>
              <a:gd name="adj" fmla="val 1818"/>
            </a:avLst>
          </a:prstGeom>
          <a:solidFill>
            <a:srgbClr val="F2F5F8"/>
          </a:solidFill>
          <a:ln/>
        </p:spPr>
      </p:sp>
      <p:sp>
        <p:nvSpPr>
          <p:cNvPr id="13" name="Shape 11"/>
          <p:cNvSpPr/>
          <p:nvPr/>
        </p:nvSpPr>
        <p:spPr>
          <a:xfrm>
            <a:off x="6553048" y="2514600"/>
            <a:ext cx="457200" cy="457200"/>
          </a:xfrm>
          <a:prstGeom prst="ellipse">
            <a:avLst/>
          </a:prstGeom>
          <a:solidFill>
            <a:srgbClr val="1F4B7A"/>
          </a:solidFill>
          <a:ln/>
        </p:spPr>
      </p:sp>
      <p:sp>
        <p:nvSpPr>
          <p:cNvPr id="14" name="Text 12"/>
          <p:cNvSpPr txBox="1"/>
          <p:nvPr/>
        </p:nvSpPr>
        <p:spPr>
          <a:xfrm>
            <a:off x="6553048"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553048"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Second observateur</a:t>
            </a:r>
            <a:endParaRPr lang="en-US" sz="2000" dirty="0"/>
          </a:p>
        </p:txBody>
      </p:sp>
      <p:sp>
        <p:nvSpPr>
          <p:cNvPr id="16" name="Text 14"/>
          <p:cNvSpPr txBox="1"/>
          <p:nvPr/>
        </p:nvSpPr>
        <p:spPr>
          <a:xfrm>
            <a:off x="6553048"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Sur les deux ou trois finalistes seulement. Gregory observe l'étape 3, Milène observe l'étape 4. Aucune question, notation indépendante.</a:t>
            </a:r>
            <a:endParaRPr lang="en-US" sz="1250" dirty="0"/>
          </a:p>
        </p:txBody>
      </p:sp>
      <p:sp>
        <p:nvSpPr>
          <p:cNvPr id="17" name="Text 15"/>
          <p:cNvSpPr txBox="1"/>
          <p:nvPr/>
        </p:nvSpPr>
        <p:spPr>
          <a:xfrm>
            <a:off x="6553048"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Un écart d'un point se range. Un écart de deux points ou plus ne se moyenne pas : il remonte tel quel à la réunion de décision.</a:t>
            </a:r>
            <a:endParaRPr lang="en-US" sz="1150" dirty="0"/>
          </a:p>
        </p:txBody>
      </p:sp>
      <p:sp>
        <p:nvSpPr>
          <p:cNvPr id="18" name="Text 16"/>
          <p:cNvSpPr txBox="1"/>
          <p:nvPr/>
        </p:nvSpPr>
        <p:spPr>
          <a:xfrm>
            <a:off x="9905695"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Semaines 7 et 8</a:t>
            </a:r>
            <a:endParaRPr lang="en-US" sz="1100" dirty="0"/>
          </a:p>
        </p:txBody>
      </p:sp>
      <p:sp>
        <p:nvSpPr>
          <p:cNvPr id="19" name="Shape 17"/>
          <p:cNvSpPr/>
          <p:nvPr/>
        </p:nvSpPr>
        <p:spPr>
          <a:xfrm>
            <a:off x="594360" y="5486400"/>
            <a:ext cx="11002975" cy="731520"/>
          </a:xfrm>
          <a:prstGeom prst="roundRect">
            <a:avLst>
              <a:gd name="adj" fmla="val 7500"/>
            </a:avLst>
          </a:prstGeom>
          <a:solidFill>
            <a:srgbClr val="FBF1EC"/>
          </a:solidFill>
          <a:ln/>
        </p:spPr>
      </p:sp>
      <p:sp>
        <p:nvSpPr>
          <p:cNvPr id="20" name="Text 18"/>
          <p:cNvSpPr txBox="1"/>
          <p:nvPr/>
        </p:nvSpPr>
        <p:spPr>
          <a:xfrm>
            <a:off x="914400" y="5650992"/>
            <a:ext cx="10362895" cy="438912"/>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Le second intervieweur est annoncé au candidat dans le message de convocation, avec son nom et sa fonction. C'est une obligation de l'article L1221-8 du code du travail, et c'est aussi la correction élémentaire.</a:t>
            </a:r>
            <a:endParaRPr lang="en-US" sz="1250" dirty="0"/>
          </a:p>
        </p:txBody>
      </p:sp>
      <p:sp>
        <p:nvSpPr>
          <p:cNvPr id="21" name="Text 1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section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Dix à quatorze semaines jusqu'à la signature</a:t>
            </a:r>
            <a:endParaRPr lang="en-US" sz="3300" dirty="0"/>
          </a:p>
        </p:txBody>
      </p:sp>
      <p:sp>
        <p:nvSpPr>
          <p:cNvPr id="4" name="Shape 2"/>
          <p:cNvSpPr/>
          <p:nvPr/>
        </p:nvSpPr>
        <p:spPr>
          <a:xfrm>
            <a:off x="594360" y="1828800"/>
            <a:ext cx="1279360" cy="384048"/>
          </a:xfrm>
          <a:prstGeom prst="rect">
            <a:avLst/>
          </a:prstGeom>
          <a:solidFill>
            <a:srgbClr val="123E6B"/>
          </a:solidFill>
          <a:ln/>
        </p:spPr>
      </p:sp>
      <p:sp>
        <p:nvSpPr>
          <p:cNvPr id="5" name="Text 3"/>
          <p:cNvSpPr txBox="1"/>
          <p:nvPr/>
        </p:nvSpPr>
        <p:spPr>
          <a:xfrm>
            <a:off x="594360"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S0</a:t>
            </a:r>
            <a:endParaRPr lang="en-US" sz="1300" dirty="0"/>
          </a:p>
        </p:txBody>
      </p:sp>
      <p:sp>
        <p:nvSpPr>
          <p:cNvPr id="6" name="Text 4"/>
          <p:cNvSpPr txBox="1"/>
          <p:nvPr/>
        </p:nvSpPr>
        <p:spPr>
          <a:xfrm>
            <a:off x="594360"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Arbitrages et protocole d'association</a:t>
            </a:r>
            <a:endParaRPr lang="en-US" sz="1100" dirty="0"/>
          </a:p>
        </p:txBody>
      </p:sp>
      <p:sp>
        <p:nvSpPr>
          <p:cNvPr id="7" name="Text 5"/>
          <p:cNvSpPr txBox="1"/>
          <p:nvPr/>
        </p:nvSpPr>
        <p:spPr>
          <a:xfrm>
            <a:off x="594360"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8" name="Shape 6"/>
          <p:cNvSpPr/>
          <p:nvPr/>
        </p:nvSpPr>
        <p:spPr>
          <a:xfrm>
            <a:off x="1983448" y="1828800"/>
            <a:ext cx="1279360" cy="384048"/>
          </a:xfrm>
          <a:prstGeom prst="rect">
            <a:avLst/>
          </a:prstGeom>
          <a:solidFill>
            <a:srgbClr val="123E6B"/>
          </a:solidFill>
          <a:ln/>
        </p:spPr>
      </p:sp>
      <p:sp>
        <p:nvSpPr>
          <p:cNvPr id="9" name="Text 7"/>
          <p:cNvSpPr txBox="1"/>
          <p:nvPr/>
        </p:nvSpPr>
        <p:spPr>
          <a:xfrm>
            <a:off x="1983448"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a:t>
            </a:r>
            <a:endParaRPr lang="en-US" sz="1300" dirty="0"/>
          </a:p>
        </p:txBody>
      </p:sp>
      <p:sp>
        <p:nvSpPr>
          <p:cNvPr id="10" name="Text 8"/>
          <p:cNvSpPr txBox="1"/>
          <p:nvPr/>
        </p:nvSpPr>
        <p:spPr>
          <a:xfrm>
            <a:off x="1983448"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Publication, courriers aux bâtonniers, liste de chasse</a:t>
            </a:r>
            <a:endParaRPr lang="en-US" sz="1100" dirty="0"/>
          </a:p>
        </p:txBody>
      </p:sp>
      <p:sp>
        <p:nvSpPr>
          <p:cNvPr id="11" name="Text 9"/>
          <p:cNvSpPr txBox="1"/>
          <p:nvPr/>
        </p:nvSpPr>
        <p:spPr>
          <a:xfrm>
            <a:off x="1983448"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2" name="Shape 10"/>
          <p:cNvSpPr/>
          <p:nvPr/>
        </p:nvSpPr>
        <p:spPr>
          <a:xfrm>
            <a:off x="3372536" y="1828800"/>
            <a:ext cx="1279360" cy="384048"/>
          </a:xfrm>
          <a:prstGeom prst="rect">
            <a:avLst/>
          </a:prstGeom>
          <a:solidFill>
            <a:srgbClr val="123E6B"/>
          </a:solidFill>
          <a:ln/>
        </p:spPr>
      </p:sp>
      <p:sp>
        <p:nvSpPr>
          <p:cNvPr id="13" name="Text 11"/>
          <p:cNvSpPr txBox="1"/>
          <p:nvPr/>
        </p:nvSpPr>
        <p:spPr>
          <a:xfrm>
            <a:off x="3372536"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S2-S4</a:t>
            </a:r>
            <a:endParaRPr lang="en-US" sz="1300" dirty="0"/>
          </a:p>
        </p:txBody>
      </p:sp>
      <p:sp>
        <p:nvSpPr>
          <p:cNvPr id="14" name="Text 12"/>
          <p:cNvSpPr txBox="1"/>
          <p:nvPr/>
        </p:nvSpPr>
        <p:spPr>
          <a:xfrm>
            <a:off x="3372536"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Trois cycles d'approche directe, 60 à 80 messages</a:t>
            </a:r>
            <a:endParaRPr lang="en-US" sz="1100" dirty="0"/>
          </a:p>
        </p:txBody>
      </p:sp>
      <p:sp>
        <p:nvSpPr>
          <p:cNvPr id="15" name="Text 13"/>
          <p:cNvSpPr txBox="1"/>
          <p:nvPr/>
        </p:nvSpPr>
        <p:spPr>
          <a:xfrm>
            <a:off x="3372536"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6" name="Shape 14"/>
          <p:cNvSpPr/>
          <p:nvPr/>
        </p:nvSpPr>
        <p:spPr>
          <a:xfrm>
            <a:off x="4761624" y="1828800"/>
            <a:ext cx="1279360" cy="384048"/>
          </a:xfrm>
          <a:prstGeom prst="rect">
            <a:avLst/>
          </a:prstGeom>
          <a:solidFill>
            <a:srgbClr val="B05F3A"/>
          </a:solidFill>
          <a:ln/>
        </p:spPr>
      </p:sp>
      <p:sp>
        <p:nvSpPr>
          <p:cNvPr id="17" name="Text 15"/>
          <p:cNvSpPr txBox="1"/>
          <p:nvPr/>
        </p:nvSpPr>
        <p:spPr>
          <a:xfrm>
            <a:off x="4761624"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S4</a:t>
            </a:r>
            <a:endParaRPr lang="en-US" sz="1300" dirty="0"/>
          </a:p>
        </p:txBody>
      </p:sp>
      <p:sp>
        <p:nvSpPr>
          <p:cNvPr id="18" name="Text 16"/>
          <p:cNvSpPr txBox="1"/>
          <p:nvPr/>
        </p:nvSpPr>
        <p:spPr>
          <a:xfrm>
            <a:off x="4761624"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Heure de calibration sur la grille</a:t>
            </a:r>
            <a:endParaRPr lang="en-US" sz="1100" dirty="0"/>
          </a:p>
        </p:txBody>
      </p:sp>
      <p:sp>
        <p:nvSpPr>
          <p:cNvPr id="19" name="Text 17"/>
          <p:cNvSpPr txBox="1"/>
          <p:nvPr/>
        </p:nvSpPr>
        <p:spPr>
          <a:xfrm>
            <a:off x="4761624"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0" name="Shape 18"/>
          <p:cNvSpPr/>
          <p:nvPr/>
        </p:nvSpPr>
        <p:spPr>
          <a:xfrm>
            <a:off x="6150712" y="1828800"/>
            <a:ext cx="1279360" cy="384048"/>
          </a:xfrm>
          <a:prstGeom prst="rect">
            <a:avLst/>
          </a:prstGeom>
          <a:solidFill>
            <a:srgbClr val="123E6B"/>
          </a:solidFill>
          <a:ln/>
        </p:spPr>
      </p:sp>
      <p:sp>
        <p:nvSpPr>
          <p:cNvPr id="21" name="Text 19"/>
          <p:cNvSpPr txBox="1"/>
          <p:nvPr/>
        </p:nvSpPr>
        <p:spPr>
          <a:xfrm>
            <a:off x="6150712"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S3-S6</a:t>
            </a:r>
            <a:endParaRPr lang="en-US" sz="1300" dirty="0"/>
          </a:p>
        </p:txBody>
      </p:sp>
      <p:sp>
        <p:nvSpPr>
          <p:cNvPr id="22" name="Text 20"/>
          <p:cNvSpPr txBox="1"/>
          <p:nvPr/>
        </p:nvSpPr>
        <p:spPr>
          <a:xfrm>
            <a:off x="6150712"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Tri des CV et entretiens téléphoniques au fil de l'eau</a:t>
            </a:r>
            <a:endParaRPr lang="en-US" sz="1100" dirty="0"/>
          </a:p>
        </p:txBody>
      </p:sp>
      <p:sp>
        <p:nvSpPr>
          <p:cNvPr id="23" name="Text 21"/>
          <p:cNvSpPr txBox="1"/>
          <p:nvPr/>
        </p:nvSpPr>
        <p:spPr>
          <a:xfrm>
            <a:off x="6150712"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24" name="Shape 22"/>
          <p:cNvSpPr/>
          <p:nvPr/>
        </p:nvSpPr>
        <p:spPr>
          <a:xfrm>
            <a:off x="7539799" y="1828800"/>
            <a:ext cx="1279360" cy="384048"/>
          </a:xfrm>
          <a:prstGeom prst="rect">
            <a:avLst/>
          </a:prstGeom>
          <a:solidFill>
            <a:srgbClr val="B05F3A"/>
          </a:solidFill>
          <a:ln/>
        </p:spPr>
      </p:sp>
      <p:sp>
        <p:nvSpPr>
          <p:cNvPr id="25" name="Text 23"/>
          <p:cNvSpPr txBox="1"/>
          <p:nvPr/>
        </p:nvSpPr>
        <p:spPr>
          <a:xfrm>
            <a:off x="7539799"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S5-S8</a:t>
            </a:r>
            <a:endParaRPr lang="en-US" sz="1300" dirty="0"/>
          </a:p>
        </p:txBody>
      </p:sp>
      <p:sp>
        <p:nvSpPr>
          <p:cNvPr id="26" name="Text 24"/>
          <p:cNvSpPr txBox="1"/>
          <p:nvPr/>
        </p:nvSpPr>
        <p:spPr>
          <a:xfrm>
            <a:off x="7539799"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Entretiens valeurs, métier et association</a:t>
            </a:r>
            <a:endParaRPr lang="en-US" sz="1100" dirty="0"/>
          </a:p>
        </p:txBody>
      </p:sp>
      <p:sp>
        <p:nvSpPr>
          <p:cNvPr id="27" name="Text 25"/>
          <p:cNvSpPr txBox="1"/>
          <p:nvPr/>
        </p:nvSpPr>
        <p:spPr>
          <a:xfrm>
            <a:off x="7539799"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8" name="Shape 26"/>
          <p:cNvSpPr/>
          <p:nvPr/>
        </p:nvSpPr>
        <p:spPr>
          <a:xfrm>
            <a:off x="8928887" y="1828800"/>
            <a:ext cx="1279360" cy="384048"/>
          </a:xfrm>
          <a:prstGeom prst="rect">
            <a:avLst/>
          </a:prstGeom>
          <a:solidFill>
            <a:srgbClr val="123E6B"/>
          </a:solidFill>
          <a:ln/>
        </p:spPr>
      </p:sp>
      <p:sp>
        <p:nvSpPr>
          <p:cNvPr id="29" name="Text 27"/>
          <p:cNvSpPr txBox="1"/>
          <p:nvPr/>
        </p:nvSpPr>
        <p:spPr>
          <a:xfrm>
            <a:off x="8928887"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S9</a:t>
            </a:r>
            <a:endParaRPr lang="en-US" sz="1300" dirty="0"/>
          </a:p>
        </p:txBody>
      </p:sp>
      <p:sp>
        <p:nvSpPr>
          <p:cNvPr id="30" name="Text 28"/>
          <p:cNvSpPr txBox="1"/>
          <p:nvPr/>
        </p:nvSpPr>
        <p:spPr>
          <a:xfrm>
            <a:off x="8928887"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Prise de références et décision</a:t>
            </a:r>
            <a:endParaRPr lang="en-US" sz="1100" dirty="0"/>
          </a:p>
        </p:txBody>
      </p:sp>
      <p:sp>
        <p:nvSpPr>
          <p:cNvPr id="31" name="Text 29"/>
          <p:cNvSpPr txBox="1"/>
          <p:nvPr/>
        </p:nvSpPr>
        <p:spPr>
          <a:xfrm>
            <a:off x="8928887"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32" name="Shape 30"/>
          <p:cNvSpPr/>
          <p:nvPr/>
        </p:nvSpPr>
        <p:spPr>
          <a:xfrm>
            <a:off x="10317975" y="1828800"/>
            <a:ext cx="1279360" cy="384048"/>
          </a:xfrm>
          <a:prstGeom prst="rect">
            <a:avLst/>
          </a:prstGeom>
          <a:solidFill>
            <a:srgbClr val="123E6B"/>
          </a:solidFill>
          <a:ln/>
        </p:spPr>
      </p:sp>
      <p:sp>
        <p:nvSpPr>
          <p:cNvPr id="33" name="Text 31"/>
          <p:cNvSpPr txBox="1"/>
          <p:nvPr/>
        </p:nvSpPr>
        <p:spPr>
          <a:xfrm>
            <a:off x="10317975"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S10</a:t>
            </a:r>
            <a:endParaRPr lang="en-US" sz="1300" dirty="0"/>
          </a:p>
        </p:txBody>
      </p:sp>
      <p:sp>
        <p:nvSpPr>
          <p:cNvPr id="34" name="Text 32"/>
          <p:cNvSpPr txBox="1"/>
          <p:nvPr/>
        </p:nvSpPr>
        <p:spPr>
          <a:xfrm>
            <a:off x="10317975"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Proposition et signature</a:t>
            </a:r>
            <a:endParaRPr lang="en-US" sz="1100" dirty="0"/>
          </a:p>
        </p:txBody>
      </p:sp>
      <p:sp>
        <p:nvSpPr>
          <p:cNvPr id="35" name="Text 33"/>
          <p:cNvSpPr txBox="1"/>
          <p:nvPr/>
        </p:nvSpPr>
        <p:spPr>
          <a:xfrm>
            <a:off x="10317975"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a:t>
            </a:r>
            <a:endParaRPr lang="en-US" sz="1000" dirty="0"/>
          </a:p>
        </p:txBody>
      </p:sp>
      <p:sp>
        <p:nvSpPr>
          <p:cNvPr id="36" name="Shape 34"/>
          <p:cNvSpPr/>
          <p:nvPr/>
        </p:nvSpPr>
        <p:spPr>
          <a:xfrm>
            <a:off x="594360" y="4434840"/>
            <a:ext cx="11002975" cy="1371600"/>
          </a:xfrm>
          <a:prstGeom prst="roundRect">
            <a:avLst>
              <a:gd name="adj" fmla="val 4000"/>
            </a:avLst>
          </a:prstGeom>
          <a:solidFill>
            <a:srgbClr val="F2F5F8"/>
          </a:solidFill>
          <a:ln/>
        </p:spPr>
      </p:sp>
      <p:sp>
        <p:nvSpPr>
          <p:cNvPr id="37" name="Text 35"/>
          <p:cNvSpPr txBox="1"/>
          <p:nvPr/>
        </p:nvSpPr>
        <p:spPr>
          <a:xfrm>
            <a:off x="914400" y="4617720"/>
            <a:ext cx="457200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Puis le préavis du candidat</a:t>
            </a:r>
            <a:endParaRPr lang="en-US" sz="1300" dirty="0"/>
          </a:p>
        </p:txBody>
      </p:sp>
      <p:sp>
        <p:nvSpPr>
          <p:cNvPr id="38" name="Text 36"/>
          <p:cNvSpPr txBox="1"/>
          <p:nvPr/>
        </p:nvSpPr>
        <p:spPr>
          <a:xfrm>
            <a:off x="914400" y="4937760"/>
            <a:ext cx="10362895" cy="7315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Trois mois en général pour un avocat salarié, selon contrat pour un collaborateur libéral. Prise de poste réaliste : quatre à six mois après le lancement. L'annonce actuelle dit « dès que possible », ce qui ne veut rien dire. Nous la remplacerons par une date.</a:t>
            </a:r>
            <a:endParaRPr lang="en-US" sz="1250" dirty="0"/>
          </a:p>
        </p:txBody>
      </p:sp>
      <p:sp>
        <p:nvSpPr>
          <p:cNvPr id="39" name="Text 37"/>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Les deux jalons en orange vous concernent tous les deux.</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PILOTAGE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nous attendons, et quand s'inquiéter</a:t>
            </a:r>
            <a:endParaRPr lang="en-US" sz="3300" dirty="0"/>
          </a:p>
        </p:txBody>
      </p:sp>
      <p:sp>
        <p:nvSpPr>
          <p:cNvPr id="4" name="Text 2"/>
          <p:cNvSpPr txBox="1"/>
          <p:nvPr/>
        </p:nvSpPr>
        <p:spPr>
          <a:xfrm>
            <a:off x="594360" y="1810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reçus</a:t>
            </a:r>
            <a:endParaRPr lang="en-US" sz="1250" dirty="0"/>
          </a:p>
        </p:txBody>
      </p:sp>
      <p:sp>
        <p:nvSpPr>
          <p:cNvPr id="5" name="Shape 3"/>
          <p:cNvSpPr/>
          <p:nvPr/>
        </p:nvSpPr>
        <p:spPr>
          <a:xfrm>
            <a:off x="3611880" y="1783080"/>
            <a:ext cx="6400800" cy="329184"/>
          </a:xfrm>
          <a:prstGeom prst="rect">
            <a:avLst/>
          </a:prstGeom>
          <a:solidFill>
            <a:srgbClr val="2E6DA8"/>
          </a:solidFill>
          <a:ln/>
        </p:spPr>
      </p:sp>
      <p:sp>
        <p:nvSpPr>
          <p:cNvPr id="6" name="Text 4"/>
          <p:cNvSpPr txBox="1"/>
          <p:nvPr/>
        </p:nvSpPr>
        <p:spPr>
          <a:xfrm>
            <a:off x="10149840" y="1783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25 à 40</a:t>
            </a:r>
            <a:endParaRPr lang="en-US" sz="1250" dirty="0"/>
          </a:p>
        </p:txBody>
      </p:sp>
      <p:sp>
        <p:nvSpPr>
          <p:cNvPr id="7" name="Text 5"/>
          <p:cNvSpPr txBox="1"/>
          <p:nvPr/>
        </p:nvSpPr>
        <p:spPr>
          <a:xfrm>
            <a:off x="594360" y="22677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au-dessus du seuil de 70</a:t>
            </a:r>
            <a:endParaRPr lang="en-US" sz="1250" dirty="0"/>
          </a:p>
        </p:txBody>
      </p:sp>
      <p:sp>
        <p:nvSpPr>
          <p:cNvPr id="8" name="Shape 6"/>
          <p:cNvSpPr/>
          <p:nvPr/>
        </p:nvSpPr>
        <p:spPr>
          <a:xfrm>
            <a:off x="3611880" y="2240280"/>
            <a:ext cx="3520440" cy="329184"/>
          </a:xfrm>
          <a:prstGeom prst="rect">
            <a:avLst/>
          </a:prstGeom>
          <a:solidFill>
            <a:srgbClr val="2E6DA8"/>
          </a:solidFill>
          <a:ln/>
        </p:spPr>
      </p:sp>
      <p:sp>
        <p:nvSpPr>
          <p:cNvPr id="9" name="Text 7"/>
          <p:cNvSpPr txBox="1"/>
          <p:nvPr/>
        </p:nvSpPr>
        <p:spPr>
          <a:xfrm>
            <a:off x="7269480" y="22402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8 à 12</a:t>
            </a:r>
            <a:endParaRPr lang="en-US" sz="1250" dirty="0"/>
          </a:p>
        </p:txBody>
      </p:sp>
      <p:sp>
        <p:nvSpPr>
          <p:cNvPr id="10" name="Text 8"/>
          <p:cNvSpPr txBox="1"/>
          <p:nvPr/>
        </p:nvSpPr>
        <p:spPr>
          <a:xfrm>
            <a:off x="594360" y="27249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Entretiens téléphoniques</a:t>
            </a:r>
            <a:endParaRPr lang="en-US" sz="1250" dirty="0"/>
          </a:p>
        </p:txBody>
      </p:sp>
      <p:sp>
        <p:nvSpPr>
          <p:cNvPr id="11" name="Shape 9"/>
          <p:cNvSpPr/>
          <p:nvPr/>
        </p:nvSpPr>
        <p:spPr>
          <a:xfrm>
            <a:off x="3611880" y="2697480"/>
            <a:ext cx="3968496" cy="329184"/>
          </a:xfrm>
          <a:prstGeom prst="rect">
            <a:avLst/>
          </a:prstGeom>
          <a:solidFill>
            <a:srgbClr val="2E6DA8"/>
          </a:solidFill>
          <a:ln/>
        </p:spPr>
      </p:sp>
      <p:sp>
        <p:nvSpPr>
          <p:cNvPr id="12" name="Text 10"/>
          <p:cNvSpPr txBox="1"/>
          <p:nvPr/>
        </p:nvSpPr>
        <p:spPr>
          <a:xfrm>
            <a:off x="7717536" y="26974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12 à 18</a:t>
            </a:r>
            <a:endParaRPr lang="en-US" sz="1250" dirty="0"/>
          </a:p>
        </p:txBody>
      </p:sp>
      <p:sp>
        <p:nvSpPr>
          <p:cNvPr id="13" name="Text 11"/>
          <p:cNvSpPr txBox="1"/>
          <p:nvPr/>
        </p:nvSpPr>
        <p:spPr>
          <a:xfrm>
            <a:off x="594360" y="31821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3</a:t>
            </a:r>
            <a:endParaRPr lang="en-US" sz="1250" dirty="0"/>
          </a:p>
        </p:txBody>
      </p:sp>
      <p:sp>
        <p:nvSpPr>
          <p:cNvPr id="14" name="Shape 12"/>
          <p:cNvSpPr/>
          <p:nvPr/>
        </p:nvSpPr>
        <p:spPr>
          <a:xfrm>
            <a:off x="3611880" y="3154680"/>
            <a:ext cx="2176272" cy="329184"/>
          </a:xfrm>
          <a:prstGeom prst="rect">
            <a:avLst/>
          </a:prstGeom>
          <a:solidFill>
            <a:srgbClr val="2E6DA8"/>
          </a:solidFill>
          <a:ln/>
        </p:spPr>
      </p:sp>
      <p:sp>
        <p:nvSpPr>
          <p:cNvPr id="15" name="Text 13"/>
          <p:cNvSpPr txBox="1"/>
          <p:nvPr/>
        </p:nvSpPr>
        <p:spPr>
          <a:xfrm>
            <a:off x="5925312" y="31546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4 à 6</a:t>
            </a:r>
            <a:endParaRPr lang="en-US" sz="1250" dirty="0"/>
          </a:p>
        </p:txBody>
      </p:sp>
      <p:sp>
        <p:nvSpPr>
          <p:cNvPr id="16" name="Text 14"/>
          <p:cNvSpPr txBox="1"/>
          <p:nvPr/>
        </p:nvSpPr>
        <p:spPr>
          <a:xfrm>
            <a:off x="594360" y="36393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4</a:t>
            </a:r>
            <a:endParaRPr lang="en-US" sz="1250" dirty="0"/>
          </a:p>
        </p:txBody>
      </p:sp>
      <p:sp>
        <p:nvSpPr>
          <p:cNvPr id="17" name="Shape 15"/>
          <p:cNvSpPr/>
          <p:nvPr/>
        </p:nvSpPr>
        <p:spPr>
          <a:xfrm>
            <a:off x="3611880" y="3611880"/>
            <a:ext cx="1408176" cy="329184"/>
          </a:xfrm>
          <a:prstGeom prst="rect">
            <a:avLst/>
          </a:prstGeom>
          <a:solidFill>
            <a:srgbClr val="2E6DA8"/>
          </a:solidFill>
          <a:ln/>
        </p:spPr>
      </p:sp>
      <p:sp>
        <p:nvSpPr>
          <p:cNvPr id="18" name="Text 16"/>
          <p:cNvSpPr txBox="1"/>
          <p:nvPr/>
        </p:nvSpPr>
        <p:spPr>
          <a:xfrm>
            <a:off x="5157216" y="36118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 à 3</a:t>
            </a:r>
            <a:endParaRPr lang="en-US" sz="1250" dirty="0"/>
          </a:p>
        </p:txBody>
      </p:sp>
      <p:sp>
        <p:nvSpPr>
          <p:cNvPr id="19" name="Text 17"/>
          <p:cNvSpPr txBox="1"/>
          <p:nvPr/>
        </p:nvSpPr>
        <p:spPr>
          <a:xfrm>
            <a:off x="594360" y="4096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Propositions émises</a:t>
            </a:r>
            <a:endParaRPr lang="en-US" sz="1250" dirty="0"/>
          </a:p>
        </p:txBody>
      </p:sp>
      <p:sp>
        <p:nvSpPr>
          <p:cNvPr id="20" name="Shape 18"/>
          <p:cNvSpPr/>
          <p:nvPr/>
        </p:nvSpPr>
        <p:spPr>
          <a:xfrm>
            <a:off x="3611880" y="4069080"/>
            <a:ext cx="896112" cy="329184"/>
          </a:xfrm>
          <a:prstGeom prst="rect">
            <a:avLst/>
          </a:prstGeom>
          <a:solidFill>
            <a:srgbClr val="2E6DA8"/>
          </a:solidFill>
          <a:ln/>
        </p:spPr>
      </p:sp>
      <p:sp>
        <p:nvSpPr>
          <p:cNvPr id="21" name="Text 19"/>
          <p:cNvSpPr txBox="1"/>
          <p:nvPr/>
        </p:nvSpPr>
        <p:spPr>
          <a:xfrm>
            <a:off x="4645152" y="4069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 à 2</a:t>
            </a:r>
            <a:endParaRPr lang="en-US" sz="1250" dirty="0"/>
          </a:p>
        </p:txBody>
      </p:sp>
      <p:sp>
        <p:nvSpPr>
          <p:cNvPr id="22" name="Shape 20"/>
          <p:cNvSpPr/>
          <p:nvPr/>
        </p:nvSpPr>
        <p:spPr>
          <a:xfrm>
            <a:off x="594360" y="4754880"/>
            <a:ext cx="5318608" cy="1234440"/>
          </a:xfrm>
          <a:prstGeom prst="roundRect">
            <a:avLst>
              <a:gd name="adj" fmla="val 4444"/>
            </a:avLst>
          </a:prstGeom>
          <a:solidFill>
            <a:srgbClr val="FBF1EC"/>
          </a:solidFill>
          <a:ln/>
        </p:spPr>
      </p:sp>
      <p:sp>
        <p:nvSpPr>
          <p:cNvPr id="23" name="Text 21"/>
          <p:cNvSpPr txBox="1"/>
          <p:nvPr/>
        </p:nvSpPr>
        <p:spPr>
          <a:xfrm>
            <a:off x="868680"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4" name="Text 22"/>
          <p:cNvSpPr txBox="1"/>
          <p:nvPr/>
        </p:nvSpPr>
        <p:spPr>
          <a:xfrm>
            <a:off x="868680"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5 CV au-dessus du seuil en semaine 4</a:t>
            </a:r>
            <a:endParaRPr lang="en-US" sz="1300" dirty="0"/>
          </a:p>
        </p:txBody>
      </p:sp>
      <p:sp>
        <p:nvSpPr>
          <p:cNvPr id="25" name="Text 23"/>
          <p:cNvSpPr txBox="1"/>
          <p:nvPr/>
        </p:nvSpPr>
        <p:spPr>
          <a:xfrm>
            <a:off x="868680"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de l'offre, pas de la diffusion. Nous revoyons le statut et la fourchette.</a:t>
            </a:r>
            <a:endParaRPr lang="en-US" sz="1150" dirty="0"/>
          </a:p>
        </p:txBody>
      </p:sp>
      <p:sp>
        <p:nvSpPr>
          <p:cNvPr id="26" name="Shape 24"/>
          <p:cNvSpPr/>
          <p:nvPr/>
        </p:nvSpPr>
        <p:spPr>
          <a:xfrm>
            <a:off x="6278728" y="4754880"/>
            <a:ext cx="5318608" cy="1234440"/>
          </a:xfrm>
          <a:prstGeom prst="roundRect">
            <a:avLst>
              <a:gd name="adj" fmla="val 4444"/>
            </a:avLst>
          </a:prstGeom>
          <a:solidFill>
            <a:srgbClr val="FBF1EC"/>
          </a:solidFill>
          <a:ln/>
        </p:spPr>
      </p:sp>
      <p:sp>
        <p:nvSpPr>
          <p:cNvPr id="27" name="Text 25"/>
          <p:cNvSpPr txBox="1"/>
          <p:nvPr/>
        </p:nvSpPr>
        <p:spPr>
          <a:xfrm>
            <a:off x="6553048"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8" name="Text 26"/>
          <p:cNvSpPr txBox="1"/>
          <p:nvPr/>
        </p:nvSpPr>
        <p:spPr>
          <a:xfrm>
            <a:off x="6553048"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10 % de réponse à l'approche directe</a:t>
            </a:r>
            <a:endParaRPr lang="en-US" sz="1300" dirty="0"/>
          </a:p>
        </p:txBody>
      </p:sp>
      <p:sp>
        <p:nvSpPr>
          <p:cNvPr id="29" name="Text 27"/>
          <p:cNvSpPr txBox="1"/>
          <p:nvPr/>
        </p:nvSpPr>
        <p:spPr>
          <a:xfrm>
            <a:off x="6553048"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du message. Nous le réécrivons avant d'envoyer la suite.</a:t>
            </a:r>
            <a:endParaRPr lang="en-US" sz="1150" dirty="0"/>
          </a:p>
        </p:txBody>
      </p:sp>
      <p:sp>
        <p:nvSpPr>
          <p:cNvPr id="30" name="Text 2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Suivi hebdomadaire par Gregory Levy.</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1188720"/>
            <a:ext cx="11002975" cy="292608"/>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CE QUE NOUS DÉCIDONS AUJOURD'HUI</a:t>
            </a:r>
            <a:endParaRPr lang="en-US" sz="1200" dirty="0"/>
          </a:p>
        </p:txBody>
      </p:sp>
      <p:sp>
        <p:nvSpPr>
          <p:cNvPr id="3" name="Shape 1"/>
          <p:cNvSpPr/>
          <p:nvPr/>
        </p:nvSpPr>
        <p:spPr>
          <a:xfrm>
            <a:off x="594360" y="1737360"/>
            <a:ext cx="11002975" cy="1051560"/>
          </a:xfrm>
          <a:prstGeom prst="roundRect">
            <a:avLst>
              <a:gd name="adj" fmla="val 5217"/>
            </a:avLst>
          </a:prstGeom>
          <a:solidFill>
            <a:srgbClr val="1B2E40"/>
          </a:solidFill>
          <a:ln/>
        </p:spPr>
      </p:sp>
      <p:sp>
        <p:nvSpPr>
          <p:cNvPr id="4" name="Shape 2"/>
          <p:cNvSpPr/>
          <p:nvPr/>
        </p:nvSpPr>
        <p:spPr>
          <a:xfrm>
            <a:off x="914400" y="2039112"/>
            <a:ext cx="457200" cy="457200"/>
          </a:xfrm>
          <a:prstGeom prst="ellipse">
            <a:avLst/>
          </a:prstGeom>
          <a:solidFill>
            <a:srgbClr val="B05F3A"/>
          </a:solidFill>
          <a:ln/>
        </p:spPr>
      </p:sp>
      <p:sp>
        <p:nvSpPr>
          <p:cNvPr id="5" name="Text 3"/>
          <p:cNvSpPr txBox="1"/>
          <p:nvPr/>
        </p:nvSpPr>
        <p:spPr>
          <a:xfrm>
            <a:off x="914400" y="203911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600200" y="193852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Le statut proposé</a:t>
            </a:r>
            <a:endParaRPr lang="en-US" sz="2000" dirty="0"/>
          </a:p>
        </p:txBody>
      </p:sp>
      <p:sp>
        <p:nvSpPr>
          <p:cNvPr id="7" name="Text 5"/>
          <p:cNvSpPr txBox="1"/>
          <p:nvPr/>
        </p:nvSpPr>
        <p:spPr>
          <a:xfrm>
            <a:off x="1600200" y="231343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Salariat seul, ou salariat et collaboration libérale au choix du candidat</a:t>
            </a:r>
            <a:endParaRPr lang="en-US" sz="1300" dirty="0"/>
          </a:p>
        </p:txBody>
      </p:sp>
      <p:sp>
        <p:nvSpPr>
          <p:cNvPr id="8" name="Shape 6"/>
          <p:cNvSpPr/>
          <p:nvPr/>
        </p:nvSpPr>
        <p:spPr>
          <a:xfrm>
            <a:off x="594360" y="2926080"/>
            <a:ext cx="11002975" cy="1051560"/>
          </a:xfrm>
          <a:prstGeom prst="roundRect">
            <a:avLst>
              <a:gd name="adj" fmla="val 5217"/>
            </a:avLst>
          </a:prstGeom>
          <a:solidFill>
            <a:srgbClr val="1B2E40"/>
          </a:solidFill>
          <a:ln/>
        </p:spPr>
      </p:sp>
      <p:sp>
        <p:nvSpPr>
          <p:cNvPr id="9" name="Shape 7"/>
          <p:cNvSpPr/>
          <p:nvPr/>
        </p:nvSpPr>
        <p:spPr>
          <a:xfrm>
            <a:off x="914400" y="3227832"/>
            <a:ext cx="457200" cy="457200"/>
          </a:xfrm>
          <a:prstGeom prst="ellipse">
            <a:avLst/>
          </a:prstGeom>
          <a:solidFill>
            <a:srgbClr val="B05F3A"/>
          </a:solidFill>
          <a:ln/>
        </p:spPr>
      </p:sp>
      <p:sp>
        <p:nvSpPr>
          <p:cNvPr id="10" name="Text 8"/>
          <p:cNvSpPr txBox="1"/>
          <p:nvPr/>
        </p:nvSpPr>
        <p:spPr>
          <a:xfrm>
            <a:off x="914400" y="3227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00200" y="312724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fourchette de rémunération</a:t>
            </a:r>
            <a:endParaRPr lang="en-US" sz="2000" dirty="0"/>
          </a:p>
        </p:txBody>
      </p:sp>
      <p:sp>
        <p:nvSpPr>
          <p:cNvPr id="12" name="Text 10"/>
          <p:cNvSpPr txBox="1"/>
          <p:nvPr/>
        </p:nvSpPr>
        <p:spPr>
          <a:xfrm>
            <a:off x="1600200" y="350215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Le montant que nous affichons dans l'annonce</a:t>
            </a:r>
            <a:endParaRPr lang="en-US" sz="1300" dirty="0"/>
          </a:p>
        </p:txBody>
      </p:sp>
      <p:sp>
        <p:nvSpPr>
          <p:cNvPr id="13" name="Shape 11"/>
          <p:cNvSpPr/>
          <p:nvPr/>
        </p:nvSpPr>
        <p:spPr>
          <a:xfrm>
            <a:off x="594360" y="4114800"/>
            <a:ext cx="11002975" cy="1051560"/>
          </a:xfrm>
          <a:prstGeom prst="roundRect">
            <a:avLst>
              <a:gd name="adj" fmla="val 5217"/>
            </a:avLst>
          </a:prstGeom>
          <a:solidFill>
            <a:srgbClr val="1B2E40"/>
          </a:solidFill>
          <a:ln/>
        </p:spPr>
      </p:sp>
      <p:sp>
        <p:nvSpPr>
          <p:cNvPr id="14" name="Shape 12"/>
          <p:cNvSpPr/>
          <p:nvPr/>
        </p:nvSpPr>
        <p:spPr>
          <a:xfrm>
            <a:off x="914400" y="4416552"/>
            <a:ext cx="457200" cy="457200"/>
          </a:xfrm>
          <a:prstGeom prst="ellipse">
            <a:avLst/>
          </a:prstGeom>
          <a:solidFill>
            <a:srgbClr val="B05F3A"/>
          </a:solidFill>
          <a:ln/>
        </p:spPr>
      </p:sp>
      <p:sp>
        <p:nvSpPr>
          <p:cNvPr id="15" name="Text 13"/>
          <p:cNvSpPr txBox="1"/>
          <p:nvPr/>
        </p:nvSpPr>
        <p:spPr>
          <a:xfrm>
            <a:off x="914400" y="441655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600200" y="431596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Qui écrit le protocole d'association, et pour quelle date</a:t>
            </a:r>
            <a:endParaRPr lang="en-US" sz="2000" dirty="0"/>
          </a:p>
        </p:txBody>
      </p:sp>
      <p:sp>
        <p:nvSpPr>
          <p:cNvPr id="17" name="Text 15"/>
          <p:cNvSpPr txBox="1"/>
          <p:nvPr/>
        </p:nvSpPr>
        <p:spPr>
          <a:xfrm>
            <a:off x="1600200" y="469087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Cinq réponses, deux pages, avant toute diffusion</a:t>
            </a:r>
            <a:endParaRPr lang="en-US" sz="1300" dirty="0"/>
          </a:p>
        </p:txBody>
      </p:sp>
      <p:sp>
        <p:nvSpPr>
          <p:cNvPr id="18" name="Text 16"/>
          <p:cNvSpPr txBox="1"/>
          <p:nvPr/>
        </p:nvSpPr>
        <p:spPr>
          <a:xfrm>
            <a:off x="594360" y="5486400"/>
            <a:ext cx="11002975" cy="640080"/>
          </a:xfrm>
          <a:prstGeom prst="rect">
            <a:avLst/>
          </a:prstGeom>
          <a:noFill/>
          <a:ln/>
        </p:spPr>
        <p:txBody>
          <a:bodyPr wrap="square" lIns="0" tIns="0" rIns="0" bIns="0" rtlCol="0" anchor="ctr"/>
          <a:lstStyle/>
          <a:p>
            <a:pPr indent="0" marL="0">
              <a:lnSpc>
                <a:spcPts val="1900"/>
              </a:lnSpc>
              <a:buNone/>
            </a:pPr>
            <a:r>
              <a:rPr lang="en-US" sz="1300" dirty="0">
                <a:solidFill>
                  <a:srgbClr val="9AA7B4"/>
                </a:solidFill>
                <a:latin typeface="Calibri" pitchFamily="34" charset="0"/>
                <a:ea typeface="Calibri" pitchFamily="34" charset="-122"/>
                <a:cs typeface="Calibri" pitchFamily="34" charset="-120"/>
              </a:rPr>
              <a:t>Tout le reste est écrit et prêt. Le dossier complet compte huit documents : plan, annonce, grille de tri des CV, guide d'entretien, plan de diffusion, concept vidéo, sources.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Pinede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recrutement - Avocat futur associe</dc:title>
  <dc:subject>PptxGenJS Presentation</dc:subject>
  <dc:creator>Gregory Levy</dc:creator>
  <cp:lastModifiedBy>Gregory Levy</cp:lastModifiedBy>
  <cp:revision>1</cp:revision>
  <dcterms:created xsi:type="dcterms:W3CDTF">2026-09-18T09:45:59Z</dcterms:created>
  <dcterms:modified xsi:type="dcterms:W3CDTF">2026-09-18T09:45:59Z</dcterms:modified>
</cp:coreProperties>
</file>